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dcbece14f749a8" /><Relationship Type="http://schemas.openxmlformats.org/officeDocument/2006/relationships/extended-properties" Target="/docProps/app.xml" Id="R747ce861d6734343" /><Relationship Type="http://schemas.openxmlformats.org/officeDocument/2006/relationships/officeDocument" Target="/ppt/presentation.xml" Id="R4f2df2a370534eae" /></Relationships>
</file>

<file path=ppt/presentation.xml><?xml version="1.0" encoding="utf-8"?>
<p:presentation xmlns:p="http://schemas.openxmlformats.org/presentationml/2006/main">
  <p:sldMasterIdLst>
    <p:sldMasterId xmlns:r="http://schemas.openxmlformats.org/officeDocument/2006/relationships" id="2147483648" r:id="Rfe822481b9cf4998"/>
  </p:sldMasterIdLst>
  <p:notesMasterIdLst>
    <p:notesMasterId xmlns:r="http://schemas.openxmlformats.org/officeDocument/2006/relationships" r:id="R4c7d604b93b9405c"/>
  </p:notesMasterIdLst>
  <p:sldIdLst>
    <p:sldId xmlns:r="http://schemas.openxmlformats.org/officeDocument/2006/relationships" id="256" r:id="R6d0cc02eac164039"/>
    <p:sldId xmlns:r="http://schemas.openxmlformats.org/officeDocument/2006/relationships" id="257" r:id="R9d5eefd77e124051"/>
    <p:sldId xmlns:r="http://schemas.openxmlformats.org/officeDocument/2006/relationships" id="258" r:id="Rdfed44e1c9f6490b"/>
    <p:sldId xmlns:r="http://schemas.openxmlformats.org/officeDocument/2006/relationships" id="259" r:id="Re65d0e2bc0d64b3e"/>
    <p:sldId xmlns:r="http://schemas.openxmlformats.org/officeDocument/2006/relationships" id="260" r:id="R737484014eb14ae9"/>
    <p:sldId xmlns:r="http://schemas.openxmlformats.org/officeDocument/2006/relationships" id="261" r:id="Re7b6f4bd0af7483d"/>
    <p:sldId xmlns:r="http://schemas.openxmlformats.org/officeDocument/2006/relationships" id="262" r:id="R87a8ca034c1546b3"/>
    <p:sldId xmlns:r="http://schemas.openxmlformats.org/officeDocument/2006/relationships" id="263" r:id="R7c9e508fec5b4b2e"/>
    <p:sldId xmlns:r="http://schemas.openxmlformats.org/officeDocument/2006/relationships" id="264" r:id="Rbff8d1ab2a7a4f0c"/>
    <p:sldId xmlns:r="http://schemas.openxmlformats.org/officeDocument/2006/relationships" id="265" r:id="Rc514b18c17eb4f22"/>
    <p:sldId xmlns:r="http://schemas.openxmlformats.org/officeDocument/2006/relationships" id="266" r:id="R2457bae02f1b4a9c"/>
    <p:sldId xmlns:r="http://schemas.openxmlformats.org/officeDocument/2006/relationships" id="267" r:id="R06582419b75946bb"/>
    <p:sldId xmlns:r="http://schemas.openxmlformats.org/officeDocument/2006/relationships" id="268" r:id="Rc67eaf3fbc564f11"/>
    <p:sldId xmlns:r="http://schemas.openxmlformats.org/officeDocument/2006/relationships" id="269" r:id="R228d79633b914ad3"/>
    <p:sldId xmlns:r="http://schemas.openxmlformats.org/officeDocument/2006/relationships" id="270" r:id="Re535da6b79be4532"/>
    <p:sldId xmlns:r="http://schemas.openxmlformats.org/officeDocument/2006/relationships" id="271" r:id="Raed6dfc6e59041ce"/>
    <p:sldId xmlns:r="http://schemas.openxmlformats.org/officeDocument/2006/relationships" id="272" r:id="Rc4045a3bfb9e445b"/>
    <p:sldId xmlns:r="http://schemas.openxmlformats.org/officeDocument/2006/relationships" id="273" r:id="R3ce4ec3e9f954b09"/>
    <p:sldId xmlns:r="http://schemas.openxmlformats.org/officeDocument/2006/relationships" id="274" r:id="Rc098622b258944b6"/>
    <p:sldId xmlns:r="http://schemas.openxmlformats.org/officeDocument/2006/relationships" id="275" r:id="R0833c19e2f4f4e7d"/>
    <p:sldId xmlns:r="http://schemas.openxmlformats.org/officeDocument/2006/relationships" id="276" r:id="Re420dd9ed8074bf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9c3910c37114da7" /><Relationship Type="http://schemas.openxmlformats.org/officeDocument/2006/relationships/slideMaster" Target="/ppt/slideMasters/slideMaster1.xml" Id="Rfe822481b9cf4998" /><Relationship Type="http://schemas.openxmlformats.org/officeDocument/2006/relationships/notesMaster" Target="/ppt/notesMasters/notesMaster1.xml" Id="R4c7d604b93b9405c" /><Relationship Type="http://schemas.openxmlformats.org/officeDocument/2006/relationships/presProps" Target="/ppt/presProps.xml" Id="Re2f8809d75c44cd7" /><Relationship Type="http://schemas.openxmlformats.org/officeDocument/2006/relationships/viewProps" Target="/ppt/viewProps.xml" Id="R5c8fa65c55704641" /><Relationship Type="http://schemas.openxmlformats.org/officeDocument/2006/relationships/tableStyles" Target="/ppt/tableStyles.xml" Id="Rc7b0444a3fe14315" /><Relationship Type="http://schemas.openxmlformats.org/officeDocument/2006/relationships/slide" Target="/ppt/slides/slide1.xml" Id="R6d0cc02eac164039" /><Relationship Type="http://schemas.openxmlformats.org/officeDocument/2006/relationships/slide" Target="/ppt/slides/slide2.xml" Id="R9d5eefd77e124051" /><Relationship Type="http://schemas.openxmlformats.org/officeDocument/2006/relationships/slide" Target="/ppt/slides/slide3.xml" Id="Rdfed44e1c9f6490b" /><Relationship Type="http://schemas.openxmlformats.org/officeDocument/2006/relationships/slide" Target="/ppt/slides/slide4.xml" Id="Re65d0e2bc0d64b3e" /><Relationship Type="http://schemas.openxmlformats.org/officeDocument/2006/relationships/slide" Target="/ppt/slides/slide5.xml" Id="R737484014eb14ae9" /><Relationship Type="http://schemas.openxmlformats.org/officeDocument/2006/relationships/slide" Target="/ppt/slides/slide6.xml" Id="Re7b6f4bd0af7483d" /><Relationship Type="http://schemas.openxmlformats.org/officeDocument/2006/relationships/slide" Target="/ppt/slides/slide7.xml" Id="R87a8ca034c1546b3" /><Relationship Type="http://schemas.openxmlformats.org/officeDocument/2006/relationships/slide" Target="/ppt/slides/slide8.xml" Id="R7c9e508fec5b4b2e" /><Relationship Type="http://schemas.openxmlformats.org/officeDocument/2006/relationships/slide" Target="/ppt/slides/slide9.xml" Id="Rbff8d1ab2a7a4f0c" /><Relationship Type="http://schemas.openxmlformats.org/officeDocument/2006/relationships/slide" Target="/ppt/slides/slide10.xml" Id="Rc514b18c17eb4f22" /><Relationship Type="http://schemas.openxmlformats.org/officeDocument/2006/relationships/slide" Target="/ppt/slides/slide11.xml" Id="R2457bae02f1b4a9c" /><Relationship Type="http://schemas.openxmlformats.org/officeDocument/2006/relationships/slide" Target="/ppt/slides/slide12.xml" Id="R06582419b75946bb" /><Relationship Type="http://schemas.openxmlformats.org/officeDocument/2006/relationships/slide" Target="/ppt/slides/slide13.xml" Id="Rc67eaf3fbc564f11" /><Relationship Type="http://schemas.openxmlformats.org/officeDocument/2006/relationships/slide" Target="/ppt/slides/slide14.xml" Id="R228d79633b914ad3" /><Relationship Type="http://schemas.openxmlformats.org/officeDocument/2006/relationships/slide" Target="/ppt/slides/slide15.xml" Id="Re535da6b79be4532" /><Relationship Type="http://schemas.openxmlformats.org/officeDocument/2006/relationships/slide" Target="/ppt/slides/slide16.xml" Id="Raed6dfc6e59041ce" /><Relationship Type="http://schemas.openxmlformats.org/officeDocument/2006/relationships/slide" Target="/ppt/slides/slide17.xml" Id="Rc4045a3bfb9e445b" /><Relationship Type="http://schemas.openxmlformats.org/officeDocument/2006/relationships/slide" Target="/ppt/slides/slide18.xml" Id="R3ce4ec3e9f954b09" /><Relationship Type="http://schemas.openxmlformats.org/officeDocument/2006/relationships/slide" Target="/ppt/slides/slide19.xml" Id="Rc098622b258944b6" /><Relationship Type="http://schemas.openxmlformats.org/officeDocument/2006/relationships/slide" Target="/ppt/slides/slide20.xml" Id="R0833c19e2f4f4e7d" /><Relationship Type="http://schemas.openxmlformats.org/officeDocument/2006/relationships/slide" Target="/ppt/slides/slide21.xml" Id="Re420dd9ed8074b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940e8c33e64f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3606e9f85b4411" /><Relationship Type="http://schemas.openxmlformats.org/officeDocument/2006/relationships/notesMaster" Target="/ppt/notesMasters/notesMaster1.xml" Id="Rfeada3aa78074c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90842c8750450a" /><Relationship Type="http://schemas.openxmlformats.org/officeDocument/2006/relationships/notesMaster" Target="/ppt/notesMasters/notesMaster1.xml" Id="Rcd0dee9fdc9645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6c4bf23fcf4139" /><Relationship Type="http://schemas.openxmlformats.org/officeDocument/2006/relationships/notesMaster" Target="/ppt/notesMasters/notesMaster1.xml" Id="R90aca926236043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a0027eef5d4ea3" /><Relationship Type="http://schemas.openxmlformats.org/officeDocument/2006/relationships/notesMaster" Target="/ppt/notesMasters/notesMaster1.xml" Id="Reb7890e2d7c14a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fe20e5dc064cb2" /><Relationship Type="http://schemas.openxmlformats.org/officeDocument/2006/relationships/notesMaster" Target="/ppt/notesMasters/notesMaster1.xml" Id="R2d36f33df6da4a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d88f0722cd4037" /><Relationship Type="http://schemas.openxmlformats.org/officeDocument/2006/relationships/notesMaster" Target="/ppt/notesMasters/notesMaster1.xml" Id="R68f640174979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706c2c12c94c2b" /><Relationship Type="http://schemas.openxmlformats.org/officeDocument/2006/relationships/notesMaster" Target="/ppt/notesMasters/notesMaster1.xml" Id="R9cd50a58d1b344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68f6748148485d" /><Relationship Type="http://schemas.openxmlformats.org/officeDocument/2006/relationships/notesMaster" Target="/ppt/notesMasters/notesMaster1.xml" Id="Rcea731d5f33d49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1dc62ef6cf4667" /><Relationship Type="http://schemas.openxmlformats.org/officeDocument/2006/relationships/notesMaster" Target="/ppt/notesMasters/notesMaster1.xml" Id="R003d26c9285041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fee655a8f44ac1" /><Relationship Type="http://schemas.openxmlformats.org/officeDocument/2006/relationships/notesMaster" Target="/ppt/notesMasters/notesMaster1.xml" Id="R154ddfd721e04f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0ba771fc084e91" /><Relationship Type="http://schemas.openxmlformats.org/officeDocument/2006/relationships/notesMaster" Target="/ppt/notesMasters/notesMaster1.xml" Id="Rcd39b0fa463d44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ec35deeac5414f" /><Relationship Type="http://schemas.openxmlformats.org/officeDocument/2006/relationships/notesMaster" Target="/ppt/notesMasters/notesMaster1.xml" Id="Rf437398c09ab42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11e60912cd4ea3" /><Relationship Type="http://schemas.openxmlformats.org/officeDocument/2006/relationships/notesMaster" Target="/ppt/notesMasters/notesMaster1.xml" Id="R6d69307bde6f49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b82e01e8394466" /><Relationship Type="http://schemas.openxmlformats.org/officeDocument/2006/relationships/notesMaster" Target="/ppt/notesMasters/notesMaster1.xml" Id="Rc343734118c74b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0acb3c2a244bee" /><Relationship Type="http://schemas.openxmlformats.org/officeDocument/2006/relationships/notesMaster" Target="/ppt/notesMasters/notesMaster1.xml" Id="R01e4a8cc6bd940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12ac5cde774192" /><Relationship Type="http://schemas.openxmlformats.org/officeDocument/2006/relationships/notesMaster" Target="/ppt/notesMasters/notesMaster1.xml" Id="R54ac2396f45a4e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2abe17ed9048ed" /><Relationship Type="http://schemas.openxmlformats.org/officeDocument/2006/relationships/notesMaster" Target="/ppt/notesMasters/notesMaster1.xml" Id="Rccf66bbf5a4b49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6541c0d0654f09" /><Relationship Type="http://schemas.openxmlformats.org/officeDocument/2006/relationships/notesMaster" Target="/ppt/notesMasters/notesMaster1.xml" Id="R5066931f607a45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eb4443f09b4549" /><Relationship Type="http://schemas.openxmlformats.org/officeDocument/2006/relationships/notesMaster" Target="/ppt/notesMasters/notesMaster1.xml" Id="R86512894d04b4f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5dbb4ffedd488b" /><Relationship Type="http://schemas.openxmlformats.org/officeDocument/2006/relationships/notesMaster" Target="/ppt/notesMasters/notesMaster1.xml" Id="Read4b5166bbf4a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556502ffc54f6d" /><Relationship Type="http://schemas.openxmlformats.org/officeDocument/2006/relationships/notesMaster" Target="/ppt/notesMasters/notesMaster1.xml" Id="R07f7928603fc4c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deterministic SDN reference implementation. State that six subtasks are complete and that ST-7, the live control-loop connection, remains next. Avoid describing this as a complete 5G network or a production deployment.</a:t>
            </a:r>
          </a:p>
          <a:p xmlns:a="http://schemas.openxmlformats.org/drawingml/2006/main">
            <a:endParaRPr/>
          </a:p>
          <a:p xmlns:a="http://schemas.openxmlformats.org/drawingml/2006/main">
            <a:r>
              <a:t>Sources: Verified handoff facts; README.md Status; docs/HANDOVER.md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five engineering problems directly. Manual device configuration is difficult to scale, traffic classes need different SLA limits, static paths become invalid as conditions change, configuration does not prove delivery, and open-loop recovery depends on a human operator.</a:t>
            </a:r>
          </a:p>
          <a:p xmlns:a="http://schemas.openxmlformats.org/drawingml/2006/main">
            <a:endParaRPr/>
          </a:p>
          <a:p xmlns:a="http://schemas.openxmlformats.org/drawingml/2006/main">
            <a:r>
              <a:t>Sources: docs/build_complete_project_guide.py, Section 3;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first half of the fourteen-subtask solution. ST-1 through ST-6 are complete. ST-7 has a unit-tested ControlLoop, but live event persistence, publication and rerouting are not connected, so ST-7 remains partial.</a:t>
            </a:r>
          </a:p>
          <a:p xmlns:a="http://schemas.openxmlformats.org/drawingml/2006/main">
            <a:endParaRPr/>
          </a:p>
          <a:p xmlns:a="http://schemas.openxmlformats.org/drawingml/2006/main">
            <a:r>
              <a:t>Sources: README.md Status; docs/HANDOFF_PROMPT.md status table; docs/build_complete_project_guide.py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second half of the solution plan. ST-8 through ST-14 have not started. Together they add admission control, preemption, safe two-phase updates, the operator dashboard, repeatable evaluation and the final project delivery. Across all fourteen subtasks, six are complete, ST-7 is partial and seven are unstarted.</a:t>
            </a:r>
          </a:p>
          <a:p xmlns:a="http://schemas.openxmlformats.org/drawingml/2006/main">
            <a:endParaRPr/>
          </a:p>
          <a:p xmlns:a="http://schemas.openxmlformats.org/drawingml/2006/main">
            <a:r>
              <a:t>Sources: docs/HANDOFF_PROMPT.md status and roadmap; docs/build_complete_project_guide.py Section 22; docs/build_report.py remaining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first six stages operate. The seventh stage has a tested ControlLoop class, but the live telemetry process does not persist or publish its event, so automatic rerouting does not occur.</a:t>
            </a:r>
          </a:p>
          <a:p xmlns:a="http://schemas.openxmlformats.org/drawingml/2006/main">
            <a:endParaRPr/>
          </a:p>
          <a:p xmlns:a="http://schemas.openxmlformats.org/drawingml/2006/main">
            <a:r>
              <a:t>Sources: README.md Status; src/telemetry/runtime.py; src/telemetry/loop.py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both what each technology does and why the project selected it. Python 3.9 preserves compatibility with Ryu's legacy </a:t>
            </a:r>
            <a:r>
              <a:t>eventlet</a:t>
            </a:r>
            <a:r>
              <a:t> chain. Ubuntu in Docker supplies the Linux networking features required by Mininet and Open </a:t>
            </a:r>
            <a:r>
              <a:t>vSwitch</a:t>
            </a:r>
            <a:r>
              <a:t> while keeping the experiment reproducible on the Windows host.</a:t>
            </a:r>
          </a:p>
          <a:p xmlns:a="http://schemas.openxmlformats.org/drawingml/2006/main">
            <a:endParaRPr/>
          </a:p>
          <a:p xmlns:a="http://schemas.openxmlformats.org/drawingml/2006/main">
            <a:r>
              <a:t>Sources: </a:t>
            </a:r>
            <a:r>
              <a:t>Dockerfile</a:t>
            </a:r>
            <a:r>
              <a:t>; requirements.txt; docs/decisions.md ADR-001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northern route as fast and wide, the middle route as moderate, and the southern route as slow. The routes share no switch-to-switch links. Their unequal budgets let the project prove that constraints change the selected route.</a:t>
            </a:r>
          </a:p>
          <a:p xmlns:a="http://schemas.openxmlformats.org/drawingml/2006/main">
            <a:endParaRPr/>
          </a:p>
          <a:p xmlns:a="http://schemas.openxmlformats.org/drawingml/2006/main">
            <a:r>
              <a:t>Sources: topology/topology_spec.py; docs/architecture.md; tests/test_topology.py</a:t>
            </a:r>
          </a:p>
          <a:p xmlns:a="http://schemas.openxmlformats.org/drawingml/2006/main">
            <a:br/>
            <a:br/>
            <a:r>
              <a:t>Verified architecture count: one Ryu controller (c0) controls the seven Open vSwitch instances in the live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main pipeline from input to detection. M2 admission is intentionally absent because it has not been implemented. The dashed return path represents ST-7: the event should trigger a new path computation, but the live runtime does not publish it.</a:t>
            </a:r>
          </a:p>
          <a:p xmlns:a="http://schemas.openxmlformats.org/drawingml/2006/main">
            <a:endParaRPr/>
          </a:p>
          <a:p xmlns:a="http://schemas.openxmlformats.org/drawingml/2006/main">
            <a:r>
              <a:t>Sources: README.md architecture; src/telemetry/runtime.py; src/telemetry/loop.py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intent line by line. The tenant is a service label, not a protocol. /32 identifies one exact IPv4 host. The match identifies packets, the guarantee states the requested SLA, and the final fields state the requested violation policy.</a:t>
            </a:r>
          </a:p>
          <a:p xmlns:a="http://schemas.openxmlformats.org/drawingml/2006/main">
            <a:r>
              <a:t/>
            </a:r>
            <a:endParaRPr/>
          </a:p>
          <a:p xmlns:a="http://schemas.openxmlformats.org/drawingml/2006/main">
            <a:r>
              <a:t>Verified source: intents/s1_urllc_baseline.yaml, read with Windows Command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HTTP 201 response. The API validates and persists the accepted intent, invokes path computation and returns the northern route with a 6 ms estimate and 100 Mbps bottleneck. Pending means API acceptance precedes live installation.</a:t>
            </a:r>
          </a:p>
          <a:p xmlns:a="http://schemas.openxmlformats.org/drawingml/2006/main">
            <a:r>
              <a:t/>
            </a:r>
            <a:endParaRPr/>
          </a:p>
          <a:p xmlns:a="http://schemas.openxmlformats.org/drawingml/2006/main">
            <a:r>
              <a:t>Verified source: real FastAPI POST /intent output from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field max_jitter_ms demonstrates the frozen grammar. Jitter is measured as telemetry, but it is not accepted as an intent constraint. There is no LLM or machine-learning decision in this path.</a:t>
            </a:r>
          </a:p>
          <a:p xmlns:a="http://schemas.openxmlformats.org/drawingml/2006/main">
            <a:r>
              <a:t/>
            </a:r>
            <a:endParaRPr/>
          </a:p>
          <a:p xmlns:a="http://schemas.openxmlformats.org/drawingml/2006/main">
            <a:r>
              <a:t>Verified sources: src/intent_manager/schema.json, src/intent_manager/validator.py and the real HTTP 422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the worked example. The demo shows both successful deterministic selection and explainable refusal. Static loss does not prune a path because the topology model has no predicted loss budget.</a:t>
            </a:r>
          </a:p>
          <a:p xmlns:a="http://schemas.openxmlformats.org/drawingml/2006/main">
            <a:r>
              <a:t/>
            </a:r>
            <a:endParaRPr/>
          </a:p>
          <a:p xmlns:a="http://schemas.openxmlformats.org/drawingml/2006/main">
            <a:r>
              <a:t>Verified sources: src/pathing/yen_ksp.py, src/pathing/prune.py, src/pathing/compute.py and the current Windows Command Prompt run of python demo_st4.py.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routing from rate configuration. Rules decide where matching packets leave each switch. The queue sets the configured rate. The cookie is an OpenFlow identifier, not a browser cookie. The controller generates forward and reverse rules.</a:t>
            </a:r>
          </a:p>
          <a:p xmlns:a="http://schemas.openxmlformats.org/drawingml/2006/main">
            <a:endParaRPr/>
          </a:p>
          <a:p xmlns:a="http://schemas.openxmlformats.org/drawingml/2006/main">
            <a:r>
              <a:t>Sources: src/enforcement/flowmod.py; src/enforcement/queues.py; src/enforcement/controller.py; tests/test_enforcement.py</a:t>
            </a:r>
          </a:p>
          <a:p xmlns:a="http://schemas.openxmlformats.org/drawingml/2006/main">
            <a:br/>
            <a:br/>
            <a:r>
              <a:t>Important limitation: the live run verifies that the HTB queue exists, not that matching packets are assigned to it. src/enforcement currently has no SET_QUEUE action, so sustained 20 Mbps delivery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verbatim evidence from the saved Scenario S1 log dated 24 September 2026. It proves API acceptance, flow installation, queue existence, the northern route and five persisted telemetry rows on a Docker, Mininet, Open vSwitch and Ryu datapath. It does not prove SET_QUEUE binding or sustained 20 Mbps delivery.</a:t>
            </a:r>
          </a:p>
          <a:p xmlns:a="http://schemas.openxmlformats.org/drawingml/2006/main">
            <a:r>
              <a:t/>
            </a:r>
            <a:endParaRPr/>
          </a:p>
          <a:p xmlns:a="http://schemas.openxmlformats.org/drawingml/2006/main">
            <a:r>
              <a:t>Verified source: experiments/results/s1_run.log. The current Docker Desktop instance was unavailable during this audit, so the historical log is dated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sample lacks jitter and throughput because both require a previous sample. Delay ranges from 7.197 to 7.643 ms, loss is zero and the recorded traffic is only probe load. Five measurement rows but zero event rows directly expose the ST-7 integration defect.</a:t>
            </a:r>
          </a:p>
          <a:p xmlns:a="http://schemas.openxmlformats.org/drawingml/2006/main">
            <a:r>
              <a:t/>
            </a:r>
            <a:endParaRPr/>
          </a:p>
          <a:p xmlns:a="http://schemas.openxmlformats.org/drawingml/2006/main">
            <a:r>
              <a:t>Verified source: experiments/results/state.db queried during this audit; database file dated 24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queue was configured and verified, but the scenario generated only probe traffic. Counter-based throughput therefore remained near zero. The next measurement should use iperf3 to create sustained traffic before judging delivered bandwidth.</a:t>
            </a:r>
          </a:p>
          <a:p xmlns:a="http://schemas.openxmlformats.org/drawingml/2006/main">
            <a:endParaRPr/>
          </a:p>
          <a:p xmlns:a="http://schemas.openxmlformats.org/drawingml/2006/main">
            <a:r>
              <a:t>Sources: src/telemetry/runtime.py; screenshot out_db.png; verified handoff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248 is a software-test count. Most tests use fakes and monkeypatching so they run without root, Ryu or Mininet. The live S1 scenario is a separate and smaller category of evidence.</a:t>
            </a:r>
          </a:p>
          <a:p xmlns:a="http://schemas.openxmlformats.org/drawingml/2006/main">
            <a:r>
              <a:t/>
            </a:r>
            <a:endParaRPr/>
          </a:p>
          <a:p xmlns:a="http://schemas.openxmlformats.org/drawingml/2006/main">
            <a:r>
              <a:t>Verified source: current Windows Command Prompt runs on 28 September 2026: 248 passed, 2 warnings in 4.05 seconds; Ruff exit code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translate 43 percent into time remaining. The later evaluation tasks require repeated experiments and cannot be compressed into a single run. ST-7 has meaningful code and 25 tests, but it is not complete without live event propagation and rerouting.</a:t>
            </a:r>
          </a:p>
          <a:p xmlns:a="http://schemas.openxmlformats.org/drawingml/2006/main">
            <a:endParaRPr/>
          </a:p>
          <a:p xmlns:a="http://schemas.openxmlformats.org/drawingml/2006/main">
            <a:r>
              <a:t>Sources: README.md Status; docs/HANDOVER.md; source placeholders; tests/test_control_loop.py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unfinished issue. The runtime receives the event from the detector and prints its name. It does not save it, publish it or construct the control loop. The zero event rows provide direct evidence.</a:t>
            </a:r>
          </a:p>
          <a:p xmlns:a="http://schemas.openxmlformats.org/drawingml/2006/main">
            <a:endParaRPr/>
          </a:p>
          <a:p xmlns:a="http://schemas.openxmlformats.org/drawingml/2006/main">
            <a:r>
              <a:t>Sources: src/telemetry/runtime.py; src/common/db.py; src/common/events.py; src/telemetry/loop.py; screenshot out_db.png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 reflects dependency and schedule risk. Event propagation unlocks live rerouting. Evaluation must begin early because ten repetitions across four baselines consume elapsed time. The dashboard adds presentation value but does not unlock the control loop.</a:t>
            </a:r>
          </a:p>
          <a:p xmlns:a="http://schemas.openxmlformats.org/drawingml/2006/main">
            <a:endParaRPr/>
          </a:p>
          <a:p xmlns:a="http://schemas.openxmlformats.org/drawingml/2006/main">
            <a:r>
              <a:t>Sources: Verified handoff roadmap; experiments/run_all.sh; project subtask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software-only path first because it is fast and deterministic. Then run the live container scenario. Finish with the database counts so the demonstration shows both the achievement and the precise remaining defect.</a:t>
            </a:r>
          </a:p>
          <a:p xmlns:a="http://schemas.openxmlformats.org/drawingml/2006/main">
            <a:endParaRPr/>
          </a:p>
          <a:p xmlns:a="http://schemas.openxmlformats.org/drawingml/2006/main">
            <a:r>
              <a:t>Sources: demo_st4.py; experiments/scenarios/s1_single_intent.sh; experiments/results/state.db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1572740edf42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5cf2743d2f41ca" /><Relationship Type="http://schemas.openxmlformats.org/officeDocument/2006/relationships/slideLayout" Target="/ppt/slideLayouts/slideLayout1.xml" Id="R97b0cde6b08f40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b0cde6b08f40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05e7052729427d" /><Relationship Type="http://schemas.openxmlformats.org/officeDocument/2006/relationships/notesSlide" Target="/ppt/notesSlides/notesSlide1.xml" Id="Re7d08a55873c4c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4844410aa14f73" /><Relationship Type="http://schemas.openxmlformats.org/officeDocument/2006/relationships/notesSlide" Target="/ppt/notesSlides/notesSlide2.xml" Id="Raae56fe49e414e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9c352005fb4371" /><Relationship Type="http://schemas.openxmlformats.org/officeDocument/2006/relationships/notesSlide" Target="/ppt/notesSlides/notesSlide3.xml" Id="Raf0a940054bc43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88f0992d7a421c" /><Relationship Type="http://schemas.openxmlformats.org/officeDocument/2006/relationships/notesSlide" Target="/ppt/notesSlides/notesSlide4.xml" Id="R1e94a4768d8f44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0c402545ea45e6" /><Relationship Type="http://schemas.openxmlformats.org/officeDocument/2006/relationships/notesSlide" Target="/ppt/notesSlides/notesSlide5.xml" Id="R768903ec700647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a65ed9031746ca" /><Relationship Type="http://schemas.openxmlformats.org/officeDocument/2006/relationships/notesSlide" Target="/ppt/notesSlides/notesSlide6.xml" Id="R0a2150fedd774f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2795556590491e" /><Relationship Type="http://schemas.openxmlformats.org/officeDocument/2006/relationships/notesSlide" Target="/ppt/notesSlides/notesSlide7.xml" Id="Ra4b19efedd7e47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65958c47634c32" /><Relationship Type="http://schemas.openxmlformats.org/officeDocument/2006/relationships/notesSlide" Target="/ppt/notesSlides/notesSlide8.xml" Id="Rba154685786d4f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59a214a4404225" /><Relationship Type="http://schemas.openxmlformats.org/officeDocument/2006/relationships/image" Target="/ppt/media/image.png" Id="R23deb12869ed4b66" /><Relationship Type="http://schemas.openxmlformats.org/officeDocument/2006/relationships/notesSlide" Target="/ppt/notesSlides/notesSlide9.xml" Id="Ra2a2a395374041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9f6318a3c149ae" /><Relationship Type="http://schemas.openxmlformats.org/officeDocument/2006/relationships/image" Target="/ppt/media/image2.png" Id="R6ec699e690584ff2" /><Relationship Type="http://schemas.openxmlformats.org/officeDocument/2006/relationships/notesSlide" Target="/ppt/notesSlides/notesSlide10.xml" Id="Rb08bd1c811c948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ee0dbe90dd491c" /><Relationship Type="http://schemas.openxmlformats.org/officeDocument/2006/relationships/image" Target="/ppt/media/image3.png" Id="Rb57c6eb24ba14527" /><Relationship Type="http://schemas.openxmlformats.org/officeDocument/2006/relationships/notesSlide" Target="/ppt/notesSlides/notesSlide11.xml" Id="Rb6a2ab1ccd1142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2dbc6845554676" /><Relationship Type="http://schemas.openxmlformats.org/officeDocument/2006/relationships/image" Target="/ppt/media/image4.png" Id="R85bbeff32f3e4dcf" /><Relationship Type="http://schemas.openxmlformats.org/officeDocument/2006/relationships/notesSlide" Target="/ppt/notesSlides/notesSlide12.xml" Id="Rfe34eb21353a41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cc0d44a9c614dd1" /><Relationship Type="http://schemas.openxmlformats.org/officeDocument/2006/relationships/notesSlide" Target="/ppt/notesSlides/notesSlide13.xml" Id="R80e28be81c7541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e4c3b3916e4388" /><Relationship Type="http://schemas.openxmlformats.org/officeDocument/2006/relationships/image" Target="/ppt/media/image5.png" Id="Ra0a439e86a844ea6" /><Relationship Type="http://schemas.openxmlformats.org/officeDocument/2006/relationships/notesSlide" Target="/ppt/notesSlides/notesSlide14.xml" Id="R7de7ad7b9bde4e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624b8c112e4d51" /><Relationship Type="http://schemas.openxmlformats.org/officeDocument/2006/relationships/image" Target="/ppt/media/image6.png" Id="R58d3c70555214fbd" /><Relationship Type="http://schemas.openxmlformats.org/officeDocument/2006/relationships/notesSlide" Target="/ppt/notesSlides/notesSlide15.xml" Id="Rf308b35c165d48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aeb83c4fbe4b14" /><Relationship Type="http://schemas.openxmlformats.org/officeDocument/2006/relationships/notesSlide" Target="/ppt/notesSlides/notesSlide16.xml" Id="Rc35e9c84970344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a25cf0120de4033" /><Relationship Type="http://schemas.openxmlformats.org/officeDocument/2006/relationships/image" Target="/ppt/media/image7.png" Id="R340cf85ecb4147f8" /><Relationship Type="http://schemas.openxmlformats.org/officeDocument/2006/relationships/notesSlide" Target="/ppt/notesSlides/notesSlide17.xml" Id="R77ee7ef6f55e40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16551576404b40" /><Relationship Type="http://schemas.openxmlformats.org/officeDocument/2006/relationships/notesSlide" Target="/ppt/notesSlides/notesSlide18.xml" Id="R72e76d37e8254f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905aa95e7094be6" /><Relationship Type="http://schemas.openxmlformats.org/officeDocument/2006/relationships/notesSlide" Target="/ppt/notesSlides/notesSlide19.xml" Id="Re21d3fe98ea0481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5d178953cb4dc3" /><Relationship Type="http://schemas.openxmlformats.org/officeDocument/2006/relationships/notesSlide" Target="/ppt/notesSlides/notesSlide20.xml" Id="R3c6f39d8cac8435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dc1667fb64f4338" /><Relationship Type="http://schemas.openxmlformats.org/officeDocument/2006/relationships/notesSlide" Target="/ppt/notesSlides/notesSlide21.xml" Id="R1a25c538976547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2B72F37F-E615-48C0-88B4-CE16014DD97D}"/>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1C729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6FFFAEE-FA0E-458C-A75F-F6B660A56CCA}"/>
              </a:ext>
            </a:extLst>
          </p:cNvPr>
          <p:cNvSpPr>
            <a:spLocks xmlns:a="http://schemas.openxmlformats.org/drawingml/2006/main" noGrp="1"/>
          </p:cNvSpPr>
          <p:nvPr/>
        </p:nvSpPr>
        <p:spPr>
          <a:xfrm xmlns:a="http://schemas.openxmlformats.org/drawingml/2006/main">
            <a:off x="247650" y="0"/>
            <a:ext cx="3333750" cy="6858000"/>
          </a:xfrm>
          <a:prstGeom xmlns:a="http://schemas.openxmlformats.org/drawingml/2006/main" prst="rect">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FBA26BB2-2789-4825-8964-683F96E274A4}"/>
              </a:ext>
            </a:extLst>
          </p:cNvPr>
          <p:cNvSpPr>
            <a:spLocks xmlns:a="http://schemas.openxmlformats.org/drawingml/2006/main" noGrp="1"/>
          </p:cNvSpPr>
          <p:nvPr/>
        </p:nvSpPr>
        <p:spPr>
          <a:xfrm xmlns:a="http://schemas.openxmlformats.org/drawingml/2006/main">
            <a:off x="666750" y="7048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TEAM 16</a:t>
            </a:r>
          </a:p>
        </p:txBody>
      </p:sp>
      <p:sp>
        <p:nvSpPr>
          <p:cNvPr id="4" name="Rectangle 3">
            <a:extLst xmlns:a="http://schemas.openxmlformats.org/drawingml/2006/main">
              <a:ext uri="{FF2B5EF4-FFF2-40B4-BE49-F238E27FC236}">
                <a16:creationId xmlns:a16="http://schemas.microsoft.com/office/drawing/2014/main" id="{4D9024C4-D9FD-4F70-9A3E-1DA696B701D9}"/>
              </a:ext>
            </a:extLst>
          </p:cNvPr>
          <p:cNvSpPr>
            <a:spLocks xmlns:a="http://schemas.openxmlformats.org/drawingml/2006/main" noGrp="1"/>
          </p:cNvSpPr>
          <p:nvPr/>
        </p:nvSpPr>
        <p:spPr>
          <a:xfrm xmlns:a="http://schemas.openxmlformats.org/drawingml/2006/main">
            <a:off x="666750" y="125730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Intent-Based SDN</a:t>
            </a:r>
          </a:p>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for 5G SLA Enforcement</a:t>
            </a:r>
          </a:p>
        </p:txBody>
      </p:sp>
      <p:sp>
        <p:nvSpPr>
          <p:cNvPr id="5" name="Rectangle 4">
            <a:extLst xmlns:a="http://schemas.openxmlformats.org/drawingml/2006/main">
              <a:ext uri="{FF2B5EF4-FFF2-40B4-BE49-F238E27FC236}">
                <a16:creationId xmlns:a16="http://schemas.microsoft.com/office/drawing/2014/main" id="{D0FD27F8-8E44-4952-99C1-F5A607306A04}"/>
              </a:ext>
            </a:extLst>
          </p:cNvPr>
          <p:cNvSpPr>
            <a:spLocks xmlns:a="http://schemas.openxmlformats.org/drawingml/2006/main" noGrp="1"/>
          </p:cNvSpPr>
          <p:nvPr/>
        </p:nvSpPr>
        <p:spPr>
          <a:xfrm xmlns:a="http://schemas.openxmlformats.org/drawingml/2006/main">
            <a:off x="666750" y="2876550"/>
            <a:ext cx="971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Declarative network service assurance on a virtual transport network</a:t>
            </a:r>
          </a:p>
        </p:txBody>
      </p:sp>
      <p:sp>
        <p:nvSpPr>
          <p:cNvPr id="6" name="Rectangle 5">
            <a:extLst xmlns:a="http://schemas.openxmlformats.org/drawingml/2006/main">
              <a:ext uri="{FF2B5EF4-FFF2-40B4-BE49-F238E27FC236}">
                <a16:creationId xmlns:a16="http://schemas.microsoft.com/office/drawing/2014/main" id="{A257CFE2-D77E-40C2-8108-79CD0636F955}"/>
              </a:ext>
            </a:extLst>
          </p:cNvPr>
          <p:cNvSpPr>
            <a:spLocks xmlns:a="http://schemas.openxmlformats.org/drawingml/2006/main" noGrp="1"/>
          </p:cNvSpPr>
          <p:nvPr/>
        </p:nvSpPr>
        <p:spPr>
          <a:xfrm xmlns:a="http://schemas.openxmlformats.org/drawingml/2006/main">
            <a:off x="666750" y="3790950"/>
            <a:ext cx="1057275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8617B54D-BC92-43C1-8831-209087C35868}"/>
              </a:ext>
            </a:extLst>
          </p:cNvPr>
          <p:cNvSpPr>
            <a:spLocks xmlns:a="http://schemas.openxmlformats.org/drawingml/2006/main" noGrp="1"/>
          </p:cNvSpPr>
          <p:nvPr/>
        </p:nvSpPr>
        <p:spPr>
          <a:xfrm xmlns:a="http://schemas.openxmlformats.org/drawingml/2006/main">
            <a:off x="666750" y="40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065A82"/>
                </a:solidFill>
                <a:latin typeface="Calibri"/>
                <a:ea typeface="Calibri"/>
                <a:cs typeface="Calibri"/>
              </a:defRPr>
            </a:pPr>
            <a:r>
              <a:rPr b="1">
                <a:solidFill>
                  <a:srgbClr val="065A82"/>
                </a:solidFill>
                <a:latin typeface="Calibri"/>
                <a:ea typeface="Calibri"/>
                <a:cs typeface="Calibri"/>
              </a:rPr>
              <a:t>ST-1 to ST-6 complete</a:t>
            </a:r>
          </a:p>
        </p:txBody>
      </p:sp>
      <p:sp>
        <p:nvSpPr>
          <p:cNvPr id="8" name="Rectangle 7">
            <a:extLst xmlns:a="http://schemas.openxmlformats.org/drawingml/2006/main">
              <a:ext uri="{FF2B5EF4-FFF2-40B4-BE49-F238E27FC236}">
                <a16:creationId xmlns:a16="http://schemas.microsoft.com/office/drawing/2014/main" id="{053B5280-25C2-4DCA-808F-E545FA16EE5C}"/>
              </a:ext>
            </a:extLst>
          </p:cNvPr>
          <p:cNvSpPr>
            <a:spLocks xmlns:a="http://schemas.openxmlformats.org/drawingml/2006/main" noGrp="1"/>
          </p:cNvSpPr>
          <p:nvPr/>
        </p:nvSpPr>
        <p:spPr>
          <a:xfrm xmlns:a="http://schemas.openxmlformats.org/drawingml/2006/main">
            <a:off x="4095750" y="40957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065A82"/>
                </a:solidFill>
                <a:latin typeface="Calibri"/>
                <a:ea typeface="Calibri"/>
                <a:cs typeface="Calibri"/>
              </a:defRPr>
            </a:pPr>
            <a:r>
              <a:rPr b="1">
                <a:solidFill>
                  <a:srgbClr val="065A82"/>
                </a:solidFill>
                <a:latin typeface="Calibri"/>
                <a:ea typeface="Calibri"/>
                <a:cs typeface="Calibri"/>
              </a:rPr>
              <a:t>6 of 14 subtasks</a:t>
            </a:r>
          </a:p>
        </p:txBody>
      </p:sp>
      <p:sp>
        <p:nvSpPr>
          <p:cNvPr id="9" name="Rectangle 8">
            <a:extLst xmlns:a="http://schemas.openxmlformats.org/drawingml/2006/main">
              <a:ext uri="{FF2B5EF4-FFF2-40B4-BE49-F238E27FC236}">
                <a16:creationId xmlns:a16="http://schemas.microsoft.com/office/drawing/2014/main" id="{DD2C74AC-FA83-40EF-80DE-1F11E9980D6E}"/>
              </a:ext>
            </a:extLst>
          </p:cNvPr>
          <p:cNvSpPr>
            <a:spLocks xmlns:a="http://schemas.openxmlformats.org/drawingml/2006/main" noGrp="1"/>
          </p:cNvSpPr>
          <p:nvPr/>
        </p:nvSpPr>
        <p:spPr>
          <a:xfrm xmlns:a="http://schemas.openxmlformats.org/drawingml/2006/main">
            <a:off x="6953250" y="4095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ST-7 next</a:t>
            </a:r>
          </a:p>
        </p:txBody>
      </p:sp>
      <p:sp>
        <p:nvSpPr>
          <p:cNvPr id="10" name="Rectangle 9">
            <a:extLst xmlns:a="http://schemas.openxmlformats.org/drawingml/2006/main">
              <a:ext uri="{FF2B5EF4-FFF2-40B4-BE49-F238E27FC236}">
                <a16:creationId xmlns:a16="http://schemas.microsoft.com/office/drawing/2014/main" id="{6C9B7CA5-D67D-44B0-B0A3-74DED4B54ADE}"/>
              </a:ext>
            </a:extLst>
          </p:cNvPr>
          <p:cNvSpPr>
            <a:spLocks xmlns:a="http://schemas.openxmlformats.org/drawingml/2006/main" noGrp="1"/>
          </p:cNvSpPr>
          <p:nvPr/>
        </p:nvSpPr>
        <p:spPr>
          <a:xfrm xmlns:a="http://schemas.openxmlformats.org/drawingml/2006/main">
            <a:off x="666750" y="57531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lnSpcReduction="10000"/>
          </a:bodyPr>
          <a:lstStyle xmlns:a="http://schemas.openxmlformats.org/drawingml/2006/main"/>
          <a:p xmlns:a="http://schemas.openxmlformats.org/drawingml/2006/main">
            <a:pPr>
              <a:buNone/>
              <a:defRPr b="0">
                <a:solidFill>
                  <a:srgbClr val="667281"/>
                </a:solidFill>
                <a:latin typeface="Calibri"/>
                <a:ea typeface="Calibri"/>
                <a:cs typeface="Calibri"/>
              </a:defRPr>
            </a:pPr>
            <a:endParaRPr b="0">
              <a:solidFill>
                <a:srgbClr val="667281"/>
              </a:solidFill>
              <a:latin typeface="Calibri"/>
              <a:ea typeface="Calibri"/>
              <a:cs typeface="Calibri"/>
            </a:endParaRPr>
          </a:p>
        </p:txBody>
      </p:sp>
      <p:sp>
        <p:nvSpPr>
          <p:cNvPr id="11" name="Rectangle 10">
            <a:extLst xmlns:a="http://schemas.openxmlformats.org/drawingml/2006/main">
              <a:ext uri="{FF2B5EF4-FFF2-40B4-BE49-F238E27FC236}">
                <a16:creationId xmlns:a16="http://schemas.microsoft.com/office/drawing/2014/main" id="{189073E6-D7D2-4EBC-A71F-0CD5FFD09E25}"/>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EB472FDD-6B31-49C7-8ACA-E3D04EBFBF79}"/>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611" lnSpcReduction="10000"/>
          </a:bodyPr>
          <a:lstStyle xmlns:a="http://schemas.openxmlformats.org/drawingml/2006/main"/>
          <a:p xmlns:a="http://schemas.openxmlformats.org/drawingml/2006/main">
            <a:pPr>
              <a:buNone/>
              <a:defRPr b="0">
                <a:solidFill>
                  <a:srgbClr val="667281"/>
                </a:solidFill>
                <a:latin typeface="Calibri"/>
                <a:ea typeface="Calibri"/>
                <a:cs typeface="Calibri"/>
              </a:defRPr>
            </a:pPr>
            <a:endParaRPr b="0">
              <a:solidFill>
                <a:srgbClr val="667281"/>
              </a:solidFill>
              <a:latin typeface="Calibri"/>
              <a:ea typeface="Calibri"/>
              <a:cs typeface="Calibri"/>
            </a:endParaRPr>
          </a:p>
        </p:txBody>
      </p:sp>
      <p:sp>
        <p:nvSpPr>
          <p:cNvPr id="13" name="Rectangle 12">
            <a:extLst xmlns:a="http://schemas.openxmlformats.org/drawingml/2006/main">
              <a:ext uri="{FF2B5EF4-FFF2-40B4-BE49-F238E27FC236}">
                <a16:creationId xmlns:a16="http://schemas.microsoft.com/office/drawing/2014/main" id="{5CA02343-BF9E-45A5-BC5E-A59EBC6A1465}"/>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01</a:t>
            </a:r>
          </a:p>
        </p:txBody>
      </p:sp>
    </p:spTree>
    <p:extLst>
      <p:ext uri="{BB962C8B-B14F-4D97-AF65-F5344CB8AC3E}">
        <p14:creationId xmlns:p14="http://schemas.microsoft.com/office/powerpoint/2010/main" val="1808227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6211565-B298-46DD-8330-87D86231ACB5}"/>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MOTIVATION</a:t>
            </a:r>
          </a:p>
        </p:txBody>
      </p:sp>
      <p:sp>
        <p:nvSpPr>
          <p:cNvPr id="2" name="Rectangle 1">
            <a:extLst xmlns:a="http://schemas.openxmlformats.org/drawingml/2006/main">
              <a:ext uri="{FF2B5EF4-FFF2-40B4-BE49-F238E27FC236}">
                <a16:creationId xmlns:a16="http://schemas.microsoft.com/office/drawing/2014/main" id="{0BCCC2F3-3ACA-4FB6-B10F-F5C953A055BF}"/>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Problem Statement</a:t>
            </a:r>
          </a:p>
        </p:txBody>
      </p:sp>
      <p:sp>
        <p:nvSpPr>
          <p:cNvPr id="3" name="Rectangle 2">
            <a:extLst xmlns:a="http://schemas.openxmlformats.org/drawingml/2006/main">
              <a:ext uri="{FF2B5EF4-FFF2-40B4-BE49-F238E27FC236}">
                <a16:creationId xmlns:a16="http://schemas.microsoft.com/office/drawing/2014/main" id="{72769E16-3C1A-4750-8A77-17E1EC4FF480}"/>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Limitations of device-level, open-loop network control</a:t>
            </a:r>
          </a:p>
        </p:txBody>
      </p:sp>
      <p:sp>
        <p:nvSpPr>
          <p:cNvPr id="4" name="Rectangle 3">
            <a:extLst xmlns:a="http://schemas.openxmlformats.org/drawingml/2006/main">
              <a:ext uri="{FF2B5EF4-FFF2-40B4-BE49-F238E27FC236}">
                <a16:creationId xmlns:a16="http://schemas.microsoft.com/office/drawing/2014/main" id="{F24ABC47-BDDD-4D05-82C7-70734C3B856D}"/>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AF4C0FB-4B14-4BF1-8426-67DB1E996E40}"/>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83CEDB1-AAC2-4D80-94F6-B39E076CCF4E}"/>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6D031874-8FB3-4533-9DDC-C35BDED63197}"/>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02</a:t>
            </a:r>
          </a:p>
        </p:txBody>
      </p:sp>
      <p:sp>
        <p:nvSpPr>
          <p:cNvPr id="8" name="Rectangle 7">
            <a:extLst xmlns:a="http://schemas.openxmlformats.org/drawingml/2006/main">
              <a:ext uri="{FF2B5EF4-FFF2-40B4-BE49-F238E27FC236}">
                <a16:creationId xmlns:a16="http://schemas.microsoft.com/office/drawing/2014/main" id="{551F2400-C93E-46D5-9A70-E22BAB9C423A}"/>
              </a:ext>
            </a:extLst>
          </p:cNvPr>
          <p:cNvSpPr>
            <a:spLocks xmlns:a="http://schemas.openxmlformats.org/drawingml/2006/main" noGrp="1"/>
          </p:cNvSpPr>
          <p:nvPr/>
        </p:nvSpPr>
        <p:spPr>
          <a:xfrm xmlns:a="http://schemas.openxmlformats.org/drawingml/2006/main">
            <a:off x="723900" y="1866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01</a:t>
            </a:r>
          </a:p>
        </p:txBody>
      </p:sp>
      <p:sp>
        <p:nvSpPr>
          <p:cNvPr id="9" name="Straight Connector 8">
            <a:extLst xmlns:a="http://schemas.openxmlformats.org/drawingml/2006/main">
              <a:ext uri="{FF2B5EF4-FFF2-40B4-BE49-F238E27FC236}">
                <a16:creationId xmlns:a16="http://schemas.microsoft.com/office/drawing/2014/main" id="{AB1B2181-6543-40FB-836F-F4A2A425D042}"/>
              </a:ext>
            </a:extLst>
          </p:cNvPr>
          <p:cNvSpPr>
            <a:spLocks xmlns:a="http://schemas.openxmlformats.org/drawingml/2006/main" noGrp="1"/>
          </p:cNvSpPr>
          <p:nvPr/>
        </p:nvSpPr>
        <p:spPr>
          <a:xfrm xmlns:a="http://schemas.openxmlformats.org/drawingml/2006/main">
            <a:off x="1438275" y="1847850"/>
            <a:ext cx="0" cy="495300"/>
          </a:xfrm>
          <a:prstGeom xmlns:a="http://schemas.openxmlformats.org/drawingml/2006/main" prst="line">
            <a:avLst/>
          </a:prstGeom>
          <a:noFill xmlns:a="http://schemas.openxmlformats.org/drawingml/2006/main"/>
          <a:ln xmlns:a="http://schemas.openxmlformats.org/drawingml/2006/main" w="19050">
            <a:solidFill>
              <a:srgbClr val="1C7293"/>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E0DC1A0-204D-4DAA-8E34-BBE252DDBFB5}"/>
              </a:ext>
            </a:extLst>
          </p:cNvPr>
          <p:cNvSpPr>
            <a:spLocks xmlns:a="http://schemas.openxmlformats.org/drawingml/2006/main" noGrp="1"/>
          </p:cNvSpPr>
          <p:nvPr/>
        </p:nvSpPr>
        <p:spPr>
          <a:xfrm xmlns:a="http://schemas.openxmlformats.org/drawingml/2006/main">
            <a:off x="1752600" y="1809750"/>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Manual configuration</a:t>
            </a:r>
          </a:p>
        </p:txBody>
      </p:sp>
      <p:sp>
        <p:nvSpPr>
          <p:cNvPr id="11" name="Rectangle 10">
            <a:extLst xmlns:a="http://schemas.openxmlformats.org/drawingml/2006/main">
              <a:ext uri="{FF2B5EF4-FFF2-40B4-BE49-F238E27FC236}">
                <a16:creationId xmlns:a16="http://schemas.microsoft.com/office/drawing/2014/main" id="{19CCC8D2-991D-4DEB-8DE6-18B6E1B9FED3}"/>
              </a:ext>
            </a:extLst>
          </p:cNvPr>
          <p:cNvSpPr>
            <a:spLocks xmlns:a="http://schemas.openxmlformats.org/drawingml/2006/main" noGrp="1"/>
          </p:cNvSpPr>
          <p:nvPr/>
        </p:nvSpPr>
        <p:spPr>
          <a:xfrm xmlns:a="http://schemas.openxmlformats.org/drawingml/2006/main">
            <a:off x="4533900" y="1809750"/>
            <a:ext cx="672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Engineers must map ports and install compatible flow rules on every switch along a path.</a:t>
            </a:r>
          </a:p>
        </p:txBody>
      </p:sp>
      <p:sp>
        <p:nvSpPr>
          <p:cNvPr id="12" name="Straight Connector 11">
            <a:extLst xmlns:a="http://schemas.openxmlformats.org/drawingml/2006/main">
              <a:ext uri="{FF2B5EF4-FFF2-40B4-BE49-F238E27FC236}">
                <a16:creationId xmlns:a16="http://schemas.microsoft.com/office/drawing/2014/main" id="{BEAE27DE-9283-468D-B36C-CC82DFD9C769}"/>
              </a:ext>
            </a:extLst>
          </p:cNvPr>
          <p:cNvSpPr>
            <a:spLocks xmlns:a="http://schemas.openxmlformats.org/drawingml/2006/main" noGrp="1"/>
          </p:cNvSpPr>
          <p:nvPr/>
        </p:nvSpPr>
        <p:spPr>
          <a:xfrm xmlns:a="http://schemas.openxmlformats.org/drawingml/2006/main">
            <a:off x="1752600" y="2447925"/>
            <a:ext cx="950595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A0796F7B-629E-4AB5-9F81-D4EB952B8BC8}"/>
              </a:ext>
            </a:extLst>
          </p:cNvPr>
          <p:cNvSpPr>
            <a:spLocks xmlns:a="http://schemas.openxmlformats.org/drawingml/2006/main" noGrp="1"/>
          </p:cNvSpPr>
          <p:nvPr/>
        </p:nvSpPr>
        <p:spPr>
          <a:xfrm xmlns:a="http://schemas.openxmlformats.org/drawingml/2006/main">
            <a:off x="723900" y="268605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02</a:t>
            </a:r>
          </a:p>
        </p:txBody>
      </p:sp>
      <p:sp>
        <p:nvSpPr>
          <p:cNvPr id="14" name="Straight Connector 13">
            <a:extLst xmlns:a="http://schemas.openxmlformats.org/drawingml/2006/main">
              <a:ext uri="{FF2B5EF4-FFF2-40B4-BE49-F238E27FC236}">
                <a16:creationId xmlns:a16="http://schemas.microsoft.com/office/drawing/2014/main" id="{B8783E6B-ED76-48A2-ADD3-2661649FE464}"/>
              </a:ext>
            </a:extLst>
          </p:cNvPr>
          <p:cNvSpPr>
            <a:spLocks xmlns:a="http://schemas.openxmlformats.org/drawingml/2006/main" noGrp="1"/>
          </p:cNvSpPr>
          <p:nvPr/>
        </p:nvSpPr>
        <p:spPr>
          <a:xfrm xmlns:a="http://schemas.openxmlformats.org/drawingml/2006/main">
            <a:off x="1438275" y="2667000"/>
            <a:ext cx="0" cy="495300"/>
          </a:xfrm>
          <a:prstGeom xmlns:a="http://schemas.openxmlformats.org/drawingml/2006/main" prst="line">
            <a:avLst/>
          </a:prstGeom>
          <a:noFill xmlns:a="http://schemas.openxmlformats.org/drawingml/2006/main"/>
          <a:ln xmlns:a="http://schemas.openxmlformats.org/drawingml/2006/main" w="19050">
            <a:solidFill>
              <a:srgbClr val="1C7293"/>
            </a:solid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97E1AF7F-C05E-491A-BA24-500D1C3D93FA}"/>
              </a:ext>
            </a:extLst>
          </p:cNvPr>
          <p:cNvSpPr>
            <a:spLocks xmlns:a="http://schemas.openxmlformats.org/drawingml/2006/main" noGrp="1"/>
          </p:cNvSpPr>
          <p:nvPr/>
        </p:nvSpPr>
        <p:spPr>
          <a:xfrm xmlns:a="http://schemas.openxmlformats.org/drawingml/2006/main">
            <a:off x="1752600" y="2628900"/>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Different SLA requirements</a:t>
            </a:r>
          </a:p>
        </p:txBody>
      </p:sp>
      <p:sp>
        <p:nvSpPr>
          <p:cNvPr id="16" name="Rectangle 15">
            <a:extLst xmlns:a="http://schemas.openxmlformats.org/drawingml/2006/main">
              <a:ext uri="{FF2B5EF4-FFF2-40B4-BE49-F238E27FC236}">
                <a16:creationId xmlns:a16="http://schemas.microsoft.com/office/drawing/2014/main" id="{5BA1171B-50A4-424D-807F-4B4631A7684F}"/>
              </a:ext>
            </a:extLst>
          </p:cNvPr>
          <p:cNvSpPr>
            <a:spLocks xmlns:a="http://schemas.openxmlformats.org/drawingml/2006/main" noGrp="1"/>
          </p:cNvSpPr>
          <p:nvPr/>
        </p:nvSpPr>
        <p:spPr>
          <a:xfrm xmlns:a="http://schemas.openxmlformats.org/drawingml/2006/main">
            <a:off x="4533900" y="2628900"/>
            <a:ext cx="672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40"/>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Applications require different bandwidth, latency and packet-loss limits.</a:t>
            </a:r>
          </a:p>
        </p:txBody>
      </p:sp>
      <p:sp>
        <p:nvSpPr>
          <p:cNvPr id="17" name="Straight Connector 16">
            <a:extLst xmlns:a="http://schemas.openxmlformats.org/drawingml/2006/main">
              <a:ext uri="{FF2B5EF4-FFF2-40B4-BE49-F238E27FC236}">
                <a16:creationId xmlns:a16="http://schemas.microsoft.com/office/drawing/2014/main" id="{E8F3D6B0-62C7-47F3-A4E2-46CDB3EB52E0}"/>
              </a:ext>
            </a:extLst>
          </p:cNvPr>
          <p:cNvSpPr>
            <a:spLocks xmlns:a="http://schemas.openxmlformats.org/drawingml/2006/main" noGrp="1"/>
          </p:cNvSpPr>
          <p:nvPr/>
        </p:nvSpPr>
        <p:spPr>
          <a:xfrm xmlns:a="http://schemas.openxmlformats.org/drawingml/2006/main">
            <a:off x="1752600" y="3267075"/>
            <a:ext cx="950595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63C503CD-E136-449F-9884-86FC8B917D10}"/>
              </a:ext>
            </a:extLst>
          </p:cNvPr>
          <p:cNvSpPr>
            <a:spLocks xmlns:a="http://schemas.openxmlformats.org/drawingml/2006/main" noGrp="1"/>
          </p:cNvSpPr>
          <p:nvPr/>
        </p:nvSpPr>
        <p:spPr>
          <a:xfrm xmlns:a="http://schemas.openxmlformats.org/drawingml/2006/main">
            <a:off x="723900" y="35052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03</a:t>
            </a:r>
          </a:p>
        </p:txBody>
      </p:sp>
      <p:sp>
        <p:nvSpPr>
          <p:cNvPr id="19" name="Straight Connector 18">
            <a:extLst xmlns:a="http://schemas.openxmlformats.org/drawingml/2006/main">
              <a:ext uri="{FF2B5EF4-FFF2-40B4-BE49-F238E27FC236}">
                <a16:creationId xmlns:a16="http://schemas.microsoft.com/office/drawing/2014/main" id="{82512041-E760-49FB-A087-62FE51EDF2F3}"/>
              </a:ext>
            </a:extLst>
          </p:cNvPr>
          <p:cNvSpPr>
            <a:spLocks xmlns:a="http://schemas.openxmlformats.org/drawingml/2006/main" noGrp="1"/>
          </p:cNvSpPr>
          <p:nvPr/>
        </p:nvSpPr>
        <p:spPr>
          <a:xfrm xmlns:a="http://schemas.openxmlformats.org/drawingml/2006/main">
            <a:off x="1438275" y="3486150"/>
            <a:ext cx="0" cy="495300"/>
          </a:xfrm>
          <a:prstGeom xmlns:a="http://schemas.openxmlformats.org/drawingml/2006/main" prst="line">
            <a:avLst/>
          </a:prstGeom>
          <a:noFill xmlns:a="http://schemas.openxmlformats.org/drawingml/2006/main"/>
          <a:ln xmlns:a="http://schemas.openxmlformats.org/drawingml/2006/main" w="19050">
            <a:solidFill>
              <a:srgbClr val="1C7293"/>
            </a:solid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E0221649-C45B-4E19-A0A3-2289E7D23215}"/>
              </a:ext>
            </a:extLst>
          </p:cNvPr>
          <p:cNvSpPr>
            <a:spLocks xmlns:a="http://schemas.openxmlformats.org/drawingml/2006/main" noGrp="1"/>
          </p:cNvSpPr>
          <p:nvPr/>
        </p:nvSpPr>
        <p:spPr>
          <a:xfrm xmlns:a="http://schemas.openxmlformats.org/drawingml/2006/main">
            <a:off x="1752600" y="3448050"/>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Static path selection</a:t>
            </a:r>
          </a:p>
        </p:txBody>
      </p:sp>
      <p:sp>
        <p:nvSpPr>
          <p:cNvPr id="21" name="Rectangle 20">
            <a:extLst xmlns:a="http://schemas.openxmlformats.org/drawingml/2006/main">
              <a:ext uri="{FF2B5EF4-FFF2-40B4-BE49-F238E27FC236}">
                <a16:creationId xmlns:a16="http://schemas.microsoft.com/office/drawing/2014/main" id="{5CD7E212-FFDF-4043-8261-0E6FB699E52D}"/>
              </a:ext>
            </a:extLst>
          </p:cNvPr>
          <p:cNvSpPr>
            <a:spLocks xmlns:a="http://schemas.openxmlformats.org/drawingml/2006/main" noGrp="1"/>
          </p:cNvSpPr>
          <p:nvPr/>
        </p:nvSpPr>
        <p:spPr>
          <a:xfrm xmlns:a="http://schemas.openxmlformats.org/drawingml/2006/main">
            <a:off x="4533900" y="3448050"/>
            <a:ext cx="672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Fixed routes cannot respond when congestion or link failures invalidate the selected path.</a:t>
            </a:r>
          </a:p>
        </p:txBody>
      </p:sp>
      <p:sp>
        <p:nvSpPr>
          <p:cNvPr id="22" name="Straight Connector 21">
            <a:extLst xmlns:a="http://schemas.openxmlformats.org/drawingml/2006/main">
              <a:ext uri="{FF2B5EF4-FFF2-40B4-BE49-F238E27FC236}">
                <a16:creationId xmlns:a16="http://schemas.microsoft.com/office/drawing/2014/main" id="{3D692CD1-864A-4FF4-9C33-68F8943D93C1}"/>
              </a:ext>
            </a:extLst>
          </p:cNvPr>
          <p:cNvSpPr>
            <a:spLocks xmlns:a="http://schemas.openxmlformats.org/drawingml/2006/main" noGrp="1"/>
          </p:cNvSpPr>
          <p:nvPr/>
        </p:nvSpPr>
        <p:spPr>
          <a:xfrm xmlns:a="http://schemas.openxmlformats.org/drawingml/2006/main">
            <a:off x="1752600" y="4086225"/>
            <a:ext cx="950595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E1F57CE2-D709-40F2-88C0-AD19B2A68296}"/>
              </a:ext>
            </a:extLst>
          </p:cNvPr>
          <p:cNvSpPr>
            <a:spLocks xmlns:a="http://schemas.openxmlformats.org/drawingml/2006/main" noGrp="1"/>
          </p:cNvSpPr>
          <p:nvPr/>
        </p:nvSpPr>
        <p:spPr>
          <a:xfrm xmlns:a="http://schemas.openxmlformats.org/drawingml/2006/main">
            <a:off x="723900" y="432435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04</a:t>
            </a:r>
          </a:p>
        </p:txBody>
      </p:sp>
      <p:sp>
        <p:nvSpPr>
          <p:cNvPr id="24" name="Straight Connector 23">
            <a:extLst xmlns:a="http://schemas.openxmlformats.org/drawingml/2006/main">
              <a:ext uri="{FF2B5EF4-FFF2-40B4-BE49-F238E27FC236}">
                <a16:creationId xmlns:a16="http://schemas.microsoft.com/office/drawing/2014/main" id="{CCB2838A-E27F-4859-8408-AD194D8C064B}"/>
              </a:ext>
            </a:extLst>
          </p:cNvPr>
          <p:cNvSpPr>
            <a:spLocks xmlns:a="http://schemas.openxmlformats.org/drawingml/2006/main" noGrp="1"/>
          </p:cNvSpPr>
          <p:nvPr/>
        </p:nvSpPr>
        <p:spPr>
          <a:xfrm xmlns:a="http://schemas.openxmlformats.org/drawingml/2006/main">
            <a:off x="1438275" y="4305300"/>
            <a:ext cx="0" cy="495300"/>
          </a:xfrm>
          <a:prstGeom xmlns:a="http://schemas.openxmlformats.org/drawingml/2006/main" prst="line">
            <a:avLst/>
          </a:prstGeom>
          <a:noFill xmlns:a="http://schemas.openxmlformats.org/drawingml/2006/main"/>
          <a:ln xmlns:a="http://schemas.openxmlformats.org/drawingml/2006/main" w="19050">
            <a:solidFill>
              <a:srgbClr val="1C7293"/>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1FD70D01-E39D-4BDD-8CE0-B4322BA2B936}"/>
              </a:ext>
            </a:extLst>
          </p:cNvPr>
          <p:cNvSpPr>
            <a:spLocks xmlns:a="http://schemas.openxmlformats.org/drawingml/2006/main" noGrp="1"/>
          </p:cNvSpPr>
          <p:nvPr/>
        </p:nvSpPr>
        <p:spPr>
          <a:xfrm xmlns:a="http://schemas.openxmlformats.org/drawingml/2006/main">
            <a:off x="1752600" y="4267200"/>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No delivery assurance</a:t>
            </a:r>
          </a:p>
        </p:txBody>
      </p:sp>
      <p:sp>
        <p:nvSpPr>
          <p:cNvPr id="26" name="Rectangle 25">
            <a:extLst xmlns:a="http://schemas.openxmlformats.org/drawingml/2006/main">
              <a:ext uri="{FF2B5EF4-FFF2-40B4-BE49-F238E27FC236}">
                <a16:creationId xmlns:a16="http://schemas.microsoft.com/office/drawing/2014/main" id="{16250B23-366B-4296-B168-D5991DC9EF89}"/>
              </a:ext>
            </a:extLst>
          </p:cNvPr>
          <p:cNvSpPr>
            <a:spLocks xmlns:a="http://schemas.openxmlformats.org/drawingml/2006/main" noGrp="1"/>
          </p:cNvSpPr>
          <p:nvPr/>
        </p:nvSpPr>
        <p:spPr>
          <a:xfrm xmlns:a="http://schemas.openxmlformats.org/drawingml/2006/main">
            <a:off x="4533900" y="4267200"/>
            <a:ext cx="672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Installed rules confirm configuration, but they do not prove that the SLA is being delivered.</a:t>
            </a:r>
          </a:p>
        </p:txBody>
      </p:sp>
      <p:sp>
        <p:nvSpPr>
          <p:cNvPr id="27" name="Straight Connector 26">
            <a:extLst xmlns:a="http://schemas.openxmlformats.org/drawingml/2006/main">
              <a:ext uri="{FF2B5EF4-FFF2-40B4-BE49-F238E27FC236}">
                <a16:creationId xmlns:a16="http://schemas.microsoft.com/office/drawing/2014/main" id="{98236304-6A4D-4C7F-A43E-13FBF6A45BB9}"/>
              </a:ext>
            </a:extLst>
          </p:cNvPr>
          <p:cNvSpPr>
            <a:spLocks xmlns:a="http://schemas.openxmlformats.org/drawingml/2006/main" noGrp="1"/>
          </p:cNvSpPr>
          <p:nvPr/>
        </p:nvSpPr>
        <p:spPr>
          <a:xfrm xmlns:a="http://schemas.openxmlformats.org/drawingml/2006/main">
            <a:off x="1752600" y="4905375"/>
            <a:ext cx="950595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28" name="Rectangle 27">
            <a:extLst xmlns:a="http://schemas.openxmlformats.org/drawingml/2006/main">
              <a:ext uri="{FF2B5EF4-FFF2-40B4-BE49-F238E27FC236}">
                <a16:creationId xmlns:a16="http://schemas.microsoft.com/office/drawing/2014/main" id="{5EBB3ED7-E450-4927-A4FD-2017D361D4EF}"/>
              </a:ext>
            </a:extLst>
          </p:cNvPr>
          <p:cNvSpPr>
            <a:spLocks xmlns:a="http://schemas.openxmlformats.org/drawingml/2006/main" noGrp="1"/>
          </p:cNvSpPr>
          <p:nvPr/>
        </p:nvSpPr>
        <p:spPr>
          <a:xfrm xmlns:a="http://schemas.openxmlformats.org/drawingml/2006/main">
            <a:off x="723900" y="51435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05</a:t>
            </a:r>
          </a:p>
        </p:txBody>
      </p:sp>
      <p:sp>
        <p:nvSpPr>
          <p:cNvPr id="29" name="Straight Connector 28">
            <a:extLst xmlns:a="http://schemas.openxmlformats.org/drawingml/2006/main">
              <a:ext uri="{FF2B5EF4-FFF2-40B4-BE49-F238E27FC236}">
                <a16:creationId xmlns:a16="http://schemas.microsoft.com/office/drawing/2014/main" id="{A11ED64B-6C7A-422E-B427-825D7CFC756C}"/>
              </a:ext>
            </a:extLst>
          </p:cNvPr>
          <p:cNvSpPr>
            <a:spLocks xmlns:a="http://schemas.openxmlformats.org/drawingml/2006/main" noGrp="1"/>
          </p:cNvSpPr>
          <p:nvPr/>
        </p:nvSpPr>
        <p:spPr>
          <a:xfrm xmlns:a="http://schemas.openxmlformats.org/drawingml/2006/main">
            <a:off x="1438275" y="5124450"/>
            <a:ext cx="0" cy="495300"/>
          </a:xfrm>
          <a:prstGeom xmlns:a="http://schemas.openxmlformats.org/drawingml/2006/main" prst="line">
            <a:avLst/>
          </a:prstGeom>
          <a:noFill xmlns:a="http://schemas.openxmlformats.org/drawingml/2006/main"/>
          <a:ln xmlns:a="http://schemas.openxmlformats.org/drawingml/2006/main" w="19050">
            <a:solidFill>
              <a:srgbClr val="C1440E"/>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0FDD3824-C0E4-4A4A-9ABF-06DCB8944E1F}"/>
              </a:ext>
            </a:extLst>
          </p:cNvPr>
          <p:cNvSpPr>
            <a:spLocks xmlns:a="http://schemas.openxmlformats.org/drawingml/2006/main" noGrp="1"/>
          </p:cNvSpPr>
          <p:nvPr/>
        </p:nvSpPr>
        <p:spPr>
          <a:xfrm xmlns:a="http://schemas.openxmlformats.org/drawingml/2006/main">
            <a:off x="1752600" y="5086350"/>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Slow fault recovery</a:t>
            </a:r>
          </a:p>
        </p:txBody>
      </p:sp>
      <p:sp>
        <p:nvSpPr>
          <p:cNvPr id="31" name="Rectangle 30">
            <a:extLst xmlns:a="http://schemas.openxmlformats.org/drawingml/2006/main">
              <a:ext uri="{FF2B5EF4-FFF2-40B4-BE49-F238E27FC236}">
                <a16:creationId xmlns:a16="http://schemas.microsoft.com/office/drawing/2014/main" id="{46E05043-F614-4161-8163-B3F7440ACCBB}"/>
              </a:ext>
            </a:extLst>
          </p:cNvPr>
          <p:cNvSpPr>
            <a:spLocks xmlns:a="http://schemas.openxmlformats.org/drawingml/2006/main" noGrp="1"/>
          </p:cNvSpPr>
          <p:nvPr/>
        </p:nvSpPr>
        <p:spPr>
          <a:xfrm xmlns:a="http://schemas.openxmlformats.org/drawingml/2006/main">
            <a:off x="4533900" y="5086350"/>
            <a:ext cx="672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Open-loop networks depend on human monitoring and manual rerouting after an SLA violation.</a:t>
            </a:r>
          </a:p>
        </p:txBody>
      </p:sp>
    </p:spTree>
    <p:extLst>
      <p:ext uri="{BB962C8B-B14F-4D97-AF65-F5344CB8AC3E}">
        <p14:creationId xmlns:p14="http://schemas.microsoft.com/office/powerpoint/2010/main" val="8541101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Rectangle 43">
            <a:extLst xmlns:a="http://schemas.openxmlformats.org/drawingml/2006/main">
              <a:ext uri="{FF2B5EF4-FFF2-40B4-BE49-F238E27FC236}">
                <a16:creationId xmlns:a16="http://schemas.microsoft.com/office/drawing/2014/main" id="{7F553A19-B618-4449-A2E1-0917BA367E0C}"/>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SOLUTION 1 OF 2</a:t>
            </a:r>
          </a:p>
        </p:txBody>
      </p:sp>
      <p:sp>
        <p:nvSpPr>
          <p:cNvPr id="2" name="Rectangle 1">
            <a:extLst xmlns:a="http://schemas.openxmlformats.org/drawingml/2006/main">
              <a:ext uri="{FF2B5EF4-FFF2-40B4-BE49-F238E27FC236}">
                <a16:creationId xmlns:a16="http://schemas.microsoft.com/office/drawing/2014/main" id="{052AA2D2-A5BC-480B-8D45-38D50BC3595B}"/>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Solution</a:t>
            </a:r>
          </a:p>
        </p:txBody>
      </p:sp>
      <p:sp>
        <p:nvSpPr>
          <p:cNvPr id="3" name="Rectangle 2">
            <a:extLst xmlns:a="http://schemas.openxmlformats.org/drawingml/2006/main">
              <a:ext uri="{FF2B5EF4-FFF2-40B4-BE49-F238E27FC236}">
                <a16:creationId xmlns:a16="http://schemas.microsoft.com/office/drawing/2014/main" id="{45238E16-EE85-416F-9C39-E4DEBDE7C99E}"/>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ST-1 to ST-7 establish and connect the intent-based control pipeline</a:t>
            </a:r>
          </a:p>
        </p:txBody>
      </p:sp>
      <p:sp>
        <p:nvSpPr>
          <p:cNvPr id="4" name="Rectangle 3">
            <a:extLst xmlns:a="http://schemas.openxmlformats.org/drawingml/2006/main">
              <a:ext uri="{FF2B5EF4-FFF2-40B4-BE49-F238E27FC236}">
                <a16:creationId xmlns:a16="http://schemas.microsoft.com/office/drawing/2014/main" id="{82374E8E-F5E2-40D7-949A-EA2BA01DE84F}"/>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6E4C7935-13E6-4D63-89B6-0611CC662F96}"/>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7C5DEA4-8C47-4463-BDC7-C7741F9E3CAF}"/>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66D15547-BBF7-4B1B-965D-66EE1AF63D8A}"/>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03</a:t>
            </a:r>
          </a:p>
        </p:txBody>
      </p:sp>
      <p:sp>
        <p:nvSpPr>
          <p:cNvPr id="8" name="Rectangle 7">
            <a:extLst xmlns:a="http://schemas.openxmlformats.org/drawingml/2006/main">
              <a:ext uri="{FF2B5EF4-FFF2-40B4-BE49-F238E27FC236}">
                <a16:creationId xmlns:a16="http://schemas.microsoft.com/office/drawing/2014/main" id="{BBCCEC46-698A-40CB-AAB4-20C371BBB046}"/>
              </a:ext>
            </a:extLst>
          </p:cNvPr>
          <p:cNvSpPr>
            <a:spLocks xmlns:a="http://schemas.openxmlformats.org/drawingml/2006/main" noGrp="1"/>
          </p:cNvSpPr>
          <p:nvPr/>
        </p:nvSpPr>
        <p:spPr>
          <a:xfrm xmlns:a="http://schemas.openxmlformats.org/drawingml/2006/main">
            <a:off x="7848600" y="1695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  6 complete</a:t>
            </a:r>
          </a:p>
        </p:txBody>
      </p:sp>
      <p:sp>
        <p:nvSpPr>
          <p:cNvPr id="9" name="Rectangle 8">
            <a:extLst xmlns:a="http://schemas.openxmlformats.org/drawingml/2006/main">
              <a:ext uri="{FF2B5EF4-FFF2-40B4-BE49-F238E27FC236}">
                <a16:creationId xmlns:a16="http://schemas.microsoft.com/office/drawing/2014/main" id="{A33A3905-1440-41D4-BC73-EA900DF551DF}"/>
              </a:ext>
            </a:extLst>
          </p:cNvPr>
          <p:cNvSpPr>
            <a:spLocks xmlns:a="http://schemas.openxmlformats.org/drawingml/2006/main" noGrp="1"/>
          </p:cNvSpPr>
          <p:nvPr/>
        </p:nvSpPr>
        <p:spPr>
          <a:xfrm xmlns:a="http://schemas.openxmlformats.org/drawingml/2006/main">
            <a:off x="9525000" y="1695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  1 partial</a:t>
            </a:r>
          </a:p>
        </p:txBody>
      </p:sp>
      <p:sp>
        <p:nvSpPr>
          <p:cNvPr id="10" name="Rectangle 9">
            <a:extLst xmlns:a="http://schemas.openxmlformats.org/drawingml/2006/main">
              <a:ext uri="{FF2B5EF4-FFF2-40B4-BE49-F238E27FC236}">
                <a16:creationId xmlns:a16="http://schemas.microsoft.com/office/drawing/2014/main" id="{450B4E50-F1AA-441C-84C0-946E40FB1BD1}"/>
              </a:ext>
            </a:extLst>
          </p:cNvPr>
          <p:cNvSpPr>
            <a:spLocks xmlns:a="http://schemas.openxmlformats.org/drawingml/2006/main" noGrp="1"/>
          </p:cNvSpPr>
          <p:nvPr/>
        </p:nvSpPr>
        <p:spPr>
          <a:xfrm xmlns:a="http://schemas.openxmlformats.org/drawingml/2006/main">
            <a:off x="666750" y="210502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a:t>
            </a:r>
          </a:p>
        </p:txBody>
      </p:sp>
      <p:sp>
        <p:nvSpPr>
          <p:cNvPr id="11" name="Rectangle 10">
            <a:extLst xmlns:a="http://schemas.openxmlformats.org/drawingml/2006/main">
              <a:ext uri="{FF2B5EF4-FFF2-40B4-BE49-F238E27FC236}">
                <a16:creationId xmlns:a16="http://schemas.microsoft.com/office/drawing/2014/main" id="{BD13FEE2-6D7B-428D-94E3-7164605C008D}"/>
              </a:ext>
            </a:extLst>
          </p:cNvPr>
          <p:cNvSpPr>
            <a:spLocks xmlns:a="http://schemas.openxmlformats.org/drawingml/2006/main" noGrp="1"/>
          </p:cNvSpPr>
          <p:nvPr/>
        </p:nvSpPr>
        <p:spPr>
          <a:xfrm xmlns:a="http://schemas.openxmlformats.org/drawingml/2006/main">
            <a:off x="1123950" y="2114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ST-1</a:t>
            </a:r>
          </a:p>
        </p:txBody>
      </p:sp>
      <p:sp>
        <p:nvSpPr>
          <p:cNvPr id="12" name="Rectangle 11">
            <a:extLst xmlns:a="http://schemas.openxmlformats.org/drawingml/2006/main">
              <a:ext uri="{FF2B5EF4-FFF2-40B4-BE49-F238E27FC236}">
                <a16:creationId xmlns:a16="http://schemas.microsoft.com/office/drawing/2014/main" id="{8911817B-10C8-495A-A2B5-F07EEB34E84B}"/>
              </a:ext>
            </a:extLst>
          </p:cNvPr>
          <p:cNvSpPr>
            <a:spLocks xmlns:a="http://schemas.openxmlformats.org/drawingml/2006/main" noGrp="1"/>
          </p:cNvSpPr>
          <p:nvPr/>
        </p:nvSpPr>
        <p:spPr>
          <a:xfrm xmlns:a="http://schemas.openxmlformats.org/drawingml/2006/main">
            <a:off x="207645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Foundation</a:t>
            </a:r>
          </a:p>
        </p:txBody>
      </p:sp>
      <p:sp>
        <p:nvSpPr>
          <p:cNvPr id="13" name="Rectangle 12">
            <a:extLst xmlns:a="http://schemas.openxmlformats.org/drawingml/2006/main">
              <a:ext uri="{FF2B5EF4-FFF2-40B4-BE49-F238E27FC236}">
                <a16:creationId xmlns:a16="http://schemas.microsoft.com/office/drawing/2014/main" id="{D9368EA6-4A2B-45A2-AB61-22596E4737C8}"/>
              </a:ext>
            </a:extLst>
          </p:cNvPr>
          <p:cNvSpPr>
            <a:spLocks xmlns:a="http://schemas.openxmlformats.org/drawingml/2006/main" noGrp="1"/>
          </p:cNvSpPr>
          <p:nvPr/>
        </p:nvSpPr>
        <p:spPr>
          <a:xfrm xmlns:a="http://schemas.openxmlformats.org/drawingml/2006/main">
            <a:off x="4762500" y="211455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16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Pin the Docker stack, freeze the intent schema and validate submitted intents.</a:t>
            </a:r>
          </a:p>
        </p:txBody>
      </p:sp>
      <p:sp>
        <p:nvSpPr>
          <p:cNvPr id="14" name="Straight Connector 13">
            <a:extLst xmlns:a="http://schemas.openxmlformats.org/drawingml/2006/main">
              <a:ext uri="{FF2B5EF4-FFF2-40B4-BE49-F238E27FC236}">
                <a16:creationId xmlns:a16="http://schemas.microsoft.com/office/drawing/2014/main" id="{6DDB2C0D-3D73-4A47-B9EC-7B20A0159613}"/>
              </a:ext>
            </a:extLst>
          </p:cNvPr>
          <p:cNvSpPr>
            <a:spLocks xmlns:a="http://schemas.openxmlformats.org/drawingml/2006/main" noGrp="1"/>
          </p:cNvSpPr>
          <p:nvPr/>
        </p:nvSpPr>
        <p:spPr>
          <a:xfrm xmlns:a="http://schemas.openxmlformats.org/drawingml/2006/main">
            <a:off x="2076450" y="2533650"/>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E2BFE9BC-01CC-4813-B37E-91254418B2FF}"/>
              </a:ext>
            </a:extLst>
          </p:cNvPr>
          <p:cNvSpPr>
            <a:spLocks xmlns:a="http://schemas.openxmlformats.org/drawingml/2006/main" noGrp="1"/>
          </p:cNvSpPr>
          <p:nvPr/>
        </p:nvSpPr>
        <p:spPr>
          <a:xfrm xmlns:a="http://schemas.openxmlformats.org/drawingml/2006/main">
            <a:off x="666750" y="26670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a:t>
            </a:r>
          </a:p>
        </p:txBody>
      </p:sp>
      <p:sp>
        <p:nvSpPr>
          <p:cNvPr id="16" name="Rectangle 15">
            <a:extLst xmlns:a="http://schemas.openxmlformats.org/drawingml/2006/main">
              <a:ext uri="{FF2B5EF4-FFF2-40B4-BE49-F238E27FC236}">
                <a16:creationId xmlns:a16="http://schemas.microsoft.com/office/drawing/2014/main" id="{619E5EF4-24A8-4D8C-9CDB-7551173B0496}"/>
              </a:ext>
            </a:extLst>
          </p:cNvPr>
          <p:cNvSpPr>
            <a:spLocks xmlns:a="http://schemas.openxmlformats.org/drawingml/2006/main" noGrp="1"/>
          </p:cNvSpPr>
          <p:nvPr/>
        </p:nvSpPr>
        <p:spPr>
          <a:xfrm xmlns:a="http://schemas.openxmlformats.org/drawingml/2006/main">
            <a:off x="1123950" y="2676525"/>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ST-2</a:t>
            </a:r>
          </a:p>
        </p:txBody>
      </p:sp>
      <p:sp>
        <p:nvSpPr>
          <p:cNvPr id="17" name="Rectangle 16">
            <a:extLst xmlns:a="http://schemas.openxmlformats.org/drawingml/2006/main">
              <a:ext uri="{FF2B5EF4-FFF2-40B4-BE49-F238E27FC236}">
                <a16:creationId xmlns:a16="http://schemas.microsoft.com/office/drawing/2014/main" id="{D414CCEA-C5EC-4CC7-9D09-6E37F411FCB2}"/>
              </a:ext>
            </a:extLst>
          </p:cNvPr>
          <p:cNvSpPr>
            <a:spLocks xmlns:a="http://schemas.openxmlformats.org/drawingml/2006/main" noGrp="1"/>
          </p:cNvSpPr>
          <p:nvPr/>
        </p:nvSpPr>
        <p:spPr>
          <a:xfrm xmlns:a="http://schemas.openxmlformats.org/drawingml/2006/main">
            <a:off x="2076450" y="267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Network model</a:t>
            </a:r>
          </a:p>
        </p:txBody>
      </p:sp>
      <p:sp>
        <p:nvSpPr>
          <p:cNvPr id="18" name="Rectangle 17">
            <a:extLst xmlns:a="http://schemas.openxmlformats.org/drawingml/2006/main">
              <a:ext uri="{FF2B5EF4-FFF2-40B4-BE49-F238E27FC236}">
                <a16:creationId xmlns:a16="http://schemas.microsoft.com/office/drawing/2014/main" id="{8A588D7F-A71B-4099-A7E6-5D9EF9A3BBCE}"/>
              </a:ext>
            </a:extLst>
          </p:cNvPr>
          <p:cNvSpPr>
            <a:spLocks xmlns:a="http://schemas.openxmlformats.org/drawingml/2006/main" noGrp="1"/>
          </p:cNvSpPr>
          <p:nvPr/>
        </p:nvSpPr>
        <p:spPr>
          <a:xfrm xmlns:a="http://schemas.openxmlformats.org/drawingml/2006/main">
            <a:off x="4762500" y="2676525"/>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240"/>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Build the seven-switch Mininet topology, three routes and baseline tests.</a:t>
            </a:r>
          </a:p>
        </p:txBody>
      </p:sp>
      <p:sp>
        <p:nvSpPr>
          <p:cNvPr id="19" name="Straight Connector 18">
            <a:extLst xmlns:a="http://schemas.openxmlformats.org/drawingml/2006/main">
              <a:ext uri="{FF2B5EF4-FFF2-40B4-BE49-F238E27FC236}">
                <a16:creationId xmlns:a16="http://schemas.microsoft.com/office/drawing/2014/main" id="{0A95500D-D7E6-44AC-A67E-467F1B69166B}"/>
              </a:ext>
            </a:extLst>
          </p:cNvPr>
          <p:cNvSpPr>
            <a:spLocks xmlns:a="http://schemas.openxmlformats.org/drawingml/2006/main" noGrp="1"/>
          </p:cNvSpPr>
          <p:nvPr/>
        </p:nvSpPr>
        <p:spPr>
          <a:xfrm xmlns:a="http://schemas.openxmlformats.org/drawingml/2006/main">
            <a:off x="2076450" y="3095625"/>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55786888-0D60-4468-A967-B34614C44895}"/>
              </a:ext>
            </a:extLst>
          </p:cNvPr>
          <p:cNvSpPr>
            <a:spLocks xmlns:a="http://schemas.openxmlformats.org/drawingml/2006/main" noGrp="1"/>
          </p:cNvSpPr>
          <p:nvPr/>
        </p:nvSpPr>
        <p:spPr>
          <a:xfrm xmlns:a="http://schemas.openxmlformats.org/drawingml/2006/main">
            <a:off x="666750" y="322897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a:t>
            </a:r>
          </a:p>
        </p:txBody>
      </p:sp>
      <p:sp>
        <p:nvSpPr>
          <p:cNvPr id="21" name="Rectangle 20">
            <a:extLst xmlns:a="http://schemas.openxmlformats.org/drawingml/2006/main">
              <a:ext uri="{FF2B5EF4-FFF2-40B4-BE49-F238E27FC236}">
                <a16:creationId xmlns:a16="http://schemas.microsoft.com/office/drawing/2014/main" id="{0A76AD9D-2AFD-4980-9068-CE2041400280}"/>
              </a:ext>
            </a:extLst>
          </p:cNvPr>
          <p:cNvSpPr>
            <a:spLocks xmlns:a="http://schemas.openxmlformats.org/drawingml/2006/main" noGrp="1"/>
          </p:cNvSpPr>
          <p:nvPr/>
        </p:nvSpPr>
        <p:spPr>
          <a:xfrm xmlns:a="http://schemas.openxmlformats.org/drawingml/2006/main">
            <a:off x="1123950" y="323850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ST-3</a:t>
            </a:r>
          </a:p>
        </p:txBody>
      </p:sp>
      <p:sp>
        <p:nvSpPr>
          <p:cNvPr id="22" name="Rectangle 21">
            <a:extLst xmlns:a="http://schemas.openxmlformats.org/drawingml/2006/main">
              <a:ext uri="{FF2B5EF4-FFF2-40B4-BE49-F238E27FC236}">
                <a16:creationId xmlns:a16="http://schemas.microsoft.com/office/drawing/2014/main" id="{F5D9522A-5171-4033-A5B1-5B4EA599C13B}"/>
              </a:ext>
            </a:extLst>
          </p:cNvPr>
          <p:cNvSpPr>
            <a:spLocks xmlns:a="http://schemas.openxmlformats.org/drawingml/2006/main" noGrp="1"/>
          </p:cNvSpPr>
          <p:nvPr/>
        </p:nvSpPr>
        <p:spPr>
          <a:xfrm xmlns:a="http://schemas.openxmlformats.org/drawingml/2006/main">
            <a:off x="2076450" y="3238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Shared interfaces</a:t>
            </a:r>
          </a:p>
        </p:txBody>
      </p:sp>
      <p:sp>
        <p:nvSpPr>
          <p:cNvPr id="23" name="Rectangle 22">
            <a:extLst xmlns:a="http://schemas.openxmlformats.org/drawingml/2006/main">
              <a:ext uri="{FF2B5EF4-FFF2-40B4-BE49-F238E27FC236}">
                <a16:creationId xmlns:a16="http://schemas.microsoft.com/office/drawing/2014/main" id="{0C741A37-095B-4B5C-B2DB-BAE8D4DFB7DE}"/>
              </a:ext>
            </a:extLst>
          </p:cNvPr>
          <p:cNvSpPr>
            <a:spLocks xmlns:a="http://schemas.openxmlformats.org/drawingml/2006/main" noGrp="1"/>
          </p:cNvSpPr>
          <p:nvPr/>
        </p:nvSpPr>
        <p:spPr>
          <a:xfrm xmlns:a="http://schemas.openxmlformats.org/drawingml/2006/main">
            <a:off x="4762500" y="323850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52"/>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Define common models, the event bus, SQLite persistence and audit records.</a:t>
            </a:r>
          </a:p>
        </p:txBody>
      </p:sp>
      <p:sp>
        <p:nvSpPr>
          <p:cNvPr id="24" name="Straight Connector 23">
            <a:extLst xmlns:a="http://schemas.openxmlformats.org/drawingml/2006/main">
              <a:ext uri="{FF2B5EF4-FFF2-40B4-BE49-F238E27FC236}">
                <a16:creationId xmlns:a16="http://schemas.microsoft.com/office/drawing/2014/main" id="{35C1D152-F366-4BF3-AB48-53CECBABCF4F}"/>
              </a:ext>
            </a:extLst>
          </p:cNvPr>
          <p:cNvSpPr>
            <a:spLocks xmlns:a="http://schemas.openxmlformats.org/drawingml/2006/main" noGrp="1"/>
          </p:cNvSpPr>
          <p:nvPr/>
        </p:nvSpPr>
        <p:spPr>
          <a:xfrm xmlns:a="http://schemas.openxmlformats.org/drawingml/2006/main">
            <a:off x="2076450" y="3657600"/>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2E8BA7F1-7880-4F68-A5B2-2CF8D5B6BFF7}"/>
              </a:ext>
            </a:extLst>
          </p:cNvPr>
          <p:cNvSpPr>
            <a:spLocks xmlns:a="http://schemas.openxmlformats.org/drawingml/2006/main" noGrp="1"/>
          </p:cNvSpPr>
          <p:nvPr/>
        </p:nvSpPr>
        <p:spPr>
          <a:xfrm xmlns:a="http://schemas.openxmlformats.org/drawingml/2006/main">
            <a:off x="666750" y="379095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a:t>
            </a:r>
          </a:p>
        </p:txBody>
      </p:sp>
      <p:sp>
        <p:nvSpPr>
          <p:cNvPr id="26" name="Rectangle 25">
            <a:extLst xmlns:a="http://schemas.openxmlformats.org/drawingml/2006/main">
              <a:ext uri="{FF2B5EF4-FFF2-40B4-BE49-F238E27FC236}">
                <a16:creationId xmlns:a16="http://schemas.microsoft.com/office/drawing/2014/main" id="{95795C37-96A0-4936-9FDC-820CD15FDACD}"/>
              </a:ext>
            </a:extLst>
          </p:cNvPr>
          <p:cNvSpPr>
            <a:spLocks xmlns:a="http://schemas.openxmlformats.org/drawingml/2006/main" noGrp="1"/>
          </p:cNvSpPr>
          <p:nvPr/>
        </p:nvSpPr>
        <p:spPr>
          <a:xfrm xmlns:a="http://schemas.openxmlformats.org/drawingml/2006/main">
            <a:off x="1123950" y="3800475"/>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ST-4</a:t>
            </a:r>
          </a:p>
        </p:txBody>
      </p:sp>
      <p:sp>
        <p:nvSpPr>
          <p:cNvPr id="27" name="Rectangle 26">
            <a:extLst xmlns:a="http://schemas.openxmlformats.org/drawingml/2006/main">
              <a:ext uri="{FF2B5EF4-FFF2-40B4-BE49-F238E27FC236}">
                <a16:creationId xmlns:a16="http://schemas.microsoft.com/office/drawing/2014/main" id="{A4B45E37-4129-4946-9D7A-3C71136B4194}"/>
              </a:ext>
            </a:extLst>
          </p:cNvPr>
          <p:cNvSpPr>
            <a:spLocks xmlns:a="http://schemas.openxmlformats.org/drawingml/2006/main" noGrp="1"/>
          </p:cNvSpPr>
          <p:nvPr/>
        </p:nvSpPr>
        <p:spPr>
          <a:xfrm xmlns:a="http://schemas.openxmlformats.org/drawingml/2006/main">
            <a:off x="2076450" y="38004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Intent processing</a:t>
            </a:r>
          </a:p>
        </p:txBody>
      </p:sp>
      <p:sp>
        <p:nvSpPr>
          <p:cNvPr id="28" name="Rectangle 27">
            <a:extLst xmlns:a="http://schemas.openxmlformats.org/drawingml/2006/main">
              <a:ext uri="{FF2B5EF4-FFF2-40B4-BE49-F238E27FC236}">
                <a16:creationId xmlns:a16="http://schemas.microsoft.com/office/drawing/2014/main" id="{930730B8-7786-42DC-A50C-25D6CE040B62}"/>
              </a:ext>
            </a:extLst>
          </p:cNvPr>
          <p:cNvSpPr>
            <a:spLocks xmlns:a="http://schemas.openxmlformats.org/drawingml/2006/main" noGrp="1"/>
          </p:cNvSpPr>
          <p:nvPr/>
        </p:nvSpPr>
        <p:spPr>
          <a:xfrm xmlns:a="http://schemas.openxmlformats.org/drawingml/2006/main">
            <a:off x="4762500" y="3800475"/>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96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Expose the REST API and select feasible paths with deterministic pruning.</a:t>
            </a:r>
          </a:p>
        </p:txBody>
      </p:sp>
      <p:sp>
        <p:nvSpPr>
          <p:cNvPr id="29" name="Straight Connector 28">
            <a:extLst xmlns:a="http://schemas.openxmlformats.org/drawingml/2006/main">
              <a:ext uri="{FF2B5EF4-FFF2-40B4-BE49-F238E27FC236}">
                <a16:creationId xmlns:a16="http://schemas.microsoft.com/office/drawing/2014/main" id="{370E78D2-D45F-4D54-B4EE-B8BD8AEFB44E}"/>
              </a:ext>
            </a:extLst>
          </p:cNvPr>
          <p:cNvSpPr>
            <a:spLocks xmlns:a="http://schemas.openxmlformats.org/drawingml/2006/main" noGrp="1"/>
          </p:cNvSpPr>
          <p:nvPr/>
        </p:nvSpPr>
        <p:spPr>
          <a:xfrm xmlns:a="http://schemas.openxmlformats.org/drawingml/2006/main">
            <a:off x="2076450" y="4219575"/>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6F02786E-47B3-4D0F-A491-AFB91987C019}"/>
              </a:ext>
            </a:extLst>
          </p:cNvPr>
          <p:cNvSpPr>
            <a:spLocks xmlns:a="http://schemas.openxmlformats.org/drawingml/2006/main" noGrp="1"/>
          </p:cNvSpPr>
          <p:nvPr/>
        </p:nvSpPr>
        <p:spPr>
          <a:xfrm xmlns:a="http://schemas.openxmlformats.org/drawingml/2006/main">
            <a:off x="666750" y="435292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a:t>
            </a:r>
          </a:p>
        </p:txBody>
      </p:sp>
      <p:sp>
        <p:nvSpPr>
          <p:cNvPr id="31" name="Rectangle 30">
            <a:extLst xmlns:a="http://schemas.openxmlformats.org/drawingml/2006/main">
              <a:ext uri="{FF2B5EF4-FFF2-40B4-BE49-F238E27FC236}">
                <a16:creationId xmlns:a16="http://schemas.microsoft.com/office/drawing/2014/main" id="{6EF396F5-CC6E-4AA3-A94E-7255A6D3E56E}"/>
              </a:ext>
            </a:extLst>
          </p:cNvPr>
          <p:cNvSpPr>
            <a:spLocks xmlns:a="http://schemas.openxmlformats.org/drawingml/2006/main" noGrp="1"/>
          </p:cNvSpPr>
          <p:nvPr/>
        </p:nvSpPr>
        <p:spPr>
          <a:xfrm xmlns:a="http://schemas.openxmlformats.org/drawingml/2006/main">
            <a:off x="1123950" y="43624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ST-5</a:t>
            </a:r>
          </a:p>
        </p:txBody>
      </p:sp>
      <p:sp>
        <p:nvSpPr>
          <p:cNvPr id="32" name="Rectangle 31">
            <a:extLst xmlns:a="http://schemas.openxmlformats.org/drawingml/2006/main">
              <a:ext uri="{FF2B5EF4-FFF2-40B4-BE49-F238E27FC236}">
                <a16:creationId xmlns:a16="http://schemas.microsoft.com/office/drawing/2014/main" id="{338A026C-76E9-44CE-BC9E-2FAC752AD79A}"/>
              </a:ext>
            </a:extLst>
          </p:cNvPr>
          <p:cNvSpPr>
            <a:spLocks xmlns:a="http://schemas.openxmlformats.org/drawingml/2006/main" noGrp="1"/>
          </p:cNvSpPr>
          <p:nvPr/>
        </p:nvSpPr>
        <p:spPr>
          <a:xfrm xmlns:a="http://schemas.openxmlformats.org/drawingml/2006/main">
            <a:off x="2076450" y="4362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Enforcement</a:t>
            </a:r>
          </a:p>
        </p:txBody>
      </p:sp>
      <p:sp>
        <p:nvSpPr>
          <p:cNvPr id="33" name="Rectangle 32">
            <a:extLst xmlns:a="http://schemas.openxmlformats.org/drawingml/2006/main">
              <a:ext uri="{FF2B5EF4-FFF2-40B4-BE49-F238E27FC236}">
                <a16:creationId xmlns:a16="http://schemas.microsoft.com/office/drawing/2014/main" id="{5B1BB800-8866-4F82-807F-C2CBB164E372}"/>
              </a:ext>
            </a:extLst>
          </p:cNvPr>
          <p:cNvSpPr>
            <a:spLocks xmlns:a="http://schemas.openxmlformats.org/drawingml/2006/main" noGrp="1"/>
          </p:cNvSpPr>
          <p:nvPr/>
        </p:nvSpPr>
        <p:spPr>
          <a:xfrm xmlns:a="http://schemas.openxmlformats.org/drawingml/2006/main">
            <a:off x="4762500" y="436245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Install OpenFlow 1.3 rules and configure OVS HTB bandwidth queues.</a:t>
            </a:r>
          </a:p>
        </p:txBody>
      </p:sp>
      <p:sp>
        <p:nvSpPr>
          <p:cNvPr id="34" name="Straight Connector 33">
            <a:extLst xmlns:a="http://schemas.openxmlformats.org/drawingml/2006/main">
              <a:ext uri="{FF2B5EF4-FFF2-40B4-BE49-F238E27FC236}">
                <a16:creationId xmlns:a16="http://schemas.microsoft.com/office/drawing/2014/main" id="{DFDD2CE0-C4A9-4057-9229-F375B865DD14}"/>
              </a:ext>
            </a:extLst>
          </p:cNvPr>
          <p:cNvSpPr>
            <a:spLocks xmlns:a="http://schemas.openxmlformats.org/drawingml/2006/main" noGrp="1"/>
          </p:cNvSpPr>
          <p:nvPr/>
        </p:nvSpPr>
        <p:spPr>
          <a:xfrm xmlns:a="http://schemas.openxmlformats.org/drawingml/2006/main">
            <a:off x="2076450" y="4781550"/>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28EE7453-1F02-4CC2-A94C-2BFFD0D9AB0D}"/>
              </a:ext>
            </a:extLst>
          </p:cNvPr>
          <p:cNvSpPr>
            <a:spLocks xmlns:a="http://schemas.openxmlformats.org/drawingml/2006/main" noGrp="1"/>
          </p:cNvSpPr>
          <p:nvPr/>
        </p:nvSpPr>
        <p:spPr>
          <a:xfrm xmlns:a="http://schemas.openxmlformats.org/drawingml/2006/main">
            <a:off x="666750" y="49149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a:t>
            </a:r>
          </a:p>
        </p:txBody>
      </p:sp>
      <p:sp>
        <p:nvSpPr>
          <p:cNvPr id="36" name="Rectangle 35">
            <a:extLst xmlns:a="http://schemas.openxmlformats.org/drawingml/2006/main">
              <a:ext uri="{FF2B5EF4-FFF2-40B4-BE49-F238E27FC236}">
                <a16:creationId xmlns:a16="http://schemas.microsoft.com/office/drawing/2014/main" id="{24BF7E51-BEB8-40DC-8B0D-DE5E8FE300C1}"/>
              </a:ext>
            </a:extLst>
          </p:cNvPr>
          <p:cNvSpPr>
            <a:spLocks xmlns:a="http://schemas.openxmlformats.org/drawingml/2006/main" noGrp="1"/>
          </p:cNvSpPr>
          <p:nvPr/>
        </p:nvSpPr>
        <p:spPr>
          <a:xfrm xmlns:a="http://schemas.openxmlformats.org/drawingml/2006/main">
            <a:off x="1123950" y="4924425"/>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ST-6</a:t>
            </a:r>
          </a:p>
        </p:txBody>
      </p:sp>
      <p:sp>
        <p:nvSpPr>
          <p:cNvPr id="37" name="Rectangle 36">
            <a:extLst xmlns:a="http://schemas.openxmlformats.org/drawingml/2006/main">
              <a:ext uri="{FF2B5EF4-FFF2-40B4-BE49-F238E27FC236}">
                <a16:creationId xmlns:a16="http://schemas.microsoft.com/office/drawing/2014/main" id="{2F27A37F-04F5-4681-8CC7-0CF7E0810989}"/>
              </a:ext>
            </a:extLst>
          </p:cNvPr>
          <p:cNvSpPr>
            <a:spLocks xmlns:a="http://schemas.openxmlformats.org/drawingml/2006/main" noGrp="1"/>
          </p:cNvSpPr>
          <p:nvPr/>
        </p:nvSpPr>
        <p:spPr>
          <a:xfrm xmlns:a="http://schemas.openxmlformats.org/drawingml/2006/main">
            <a:off x="2076450" y="49244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Telemetry</a:t>
            </a:r>
          </a:p>
        </p:txBody>
      </p:sp>
      <p:sp>
        <p:nvSpPr>
          <p:cNvPr id="38" name="Rectangle 37">
            <a:extLst xmlns:a="http://schemas.openxmlformats.org/drawingml/2006/main">
              <a:ext uri="{FF2B5EF4-FFF2-40B4-BE49-F238E27FC236}">
                <a16:creationId xmlns:a16="http://schemas.microsoft.com/office/drawing/2014/main" id="{DAF970C1-1673-4776-B4FF-27BAB0F8F852}"/>
              </a:ext>
            </a:extLst>
          </p:cNvPr>
          <p:cNvSpPr>
            <a:spLocks xmlns:a="http://schemas.openxmlformats.org/drawingml/2006/main" noGrp="1"/>
          </p:cNvSpPr>
          <p:nvPr/>
        </p:nvSpPr>
        <p:spPr>
          <a:xfrm xmlns:a="http://schemas.openxmlformats.org/drawingml/2006/main">
            <a:off x="4762500" y="4924425"/>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48"/>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Collect probes and counters, persist samples and detect stable SLA violations.</a:t>
            </a:r>
          </a:p>
        </p:txBody>
      </p:sp>
      <p:sp>
        <p:nvSpPr>
          <p:cNvPr id="39" name="Straight Connector 38">
            <a:extLst xmlns:a="http://schemas.openxmlformats.org/drawingml/2006/main">
              <a:ext uri="{FF2B5EF4-FFF2-40B4-BE49-F238E27FC236}">
                <a16:creationId xmlns:a16="http://schemas.microsoft.com/office/drawing/2014/main" id="{17D331AC-B4B4-45EF-9686-7FD988CEEAAA}"/>
              </a:ext>
            </a:extLst>
          </p:cNvPr>
          <p:cNvSpPr>
            <a:spLocks xmlns:a="http://schemas.openxmlformats.org/drawingml/2006/main" noGrp="1"/>
          </p:cNvSpPr>
          <p:nvPr/>
        </p:nvSpPr>
        <p:spPr>
          <a:xfrm xmlns:a="http://schemas.openxmlformats.org/drawingml/2006/main">
            <a:off x="2076450" y="5343525"/>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B2569C72-1EA5-416E-83B4-6A3729E68B6E}"/>
              </a:ext>
            </a:extLst>
          </p:cNvPr>
          <p:cNvSpPr>
            <a:spLocks xmlns:a="http://schemas.openxmlformats.org/drawingml/2006/main" noGrp="1"/>
          </p:cNvSpPr>
          <p:nvPr/>
        </p:nvSpPr>
        <p:spPr>
          <a:xfrm xmlns:a="http://schemas.openxmlformats.org/drawingml/2006/main">
            <a:off x="666750" y="547687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41" name="Rectangle 40">
            <a:extLst xmlns:a="http://schemas.openxmlformats.org/drawingml/2006/main">
              <a:ext uri="{FF2B5EF4-FFF2-40B4-BE49-F238E27FC236}">
                <a16:creationId xmlns:a16="http://schemas.microsoft.com/office/drawing/2014/main" id="{38EB4BFA-92EF-4BEE-B5D9-01F171CD7A54}"/>
              </a:ext>
            </a:extLst>
          </p:cNvPr>
          <p:cNvSpPr>
            <a:spLocks xmlns:a="http://schemas.openxmlformats.org/drawingml/2006/main" noGrp="1"/>
          </p:cNvSpPr>
          <p:nvPr/>
        </p:nvSpPr>
        <p:spPr>
          <a:xfrm xmlns:a="http://schemas.openxmlformats.org/drawingml/2006/main">
            <a:off x="1123950" y="548640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ST-7</a:t>
            </a:r>
          </a:p>
        </p:txBody>
      </p:sp>
      <p:sp>
        <p:nvSpPr>
          <p:cNvPr id="42" name="Rectangle 41">
            <a:extLst xmlns:a="http://schemas.openxmlformats.org/drawingml/2006/main">
              <a:ext uri="{FF2B5EF4-FFF2-40B4-BE49-F238E27FC236}">
                <a16:creationId xmlns:a16="http://schemas.microsoft.com/office/drawing/2014/main" id="{EFF3FE98-C23B-4A62-8CF6-87ADBC220FE1}"/>
              </a:ext>
            </a:extLst>
          </p:cNvPr>
          <p:cNvSpPr>
            <a:spLocks xmlns:a="http://schemas.openxmlformats.org/drawingml/2006/main" noGrp="1"/>
          </p:cNvSpPr>
          <p:nvPr/>
        </p:nvSpPr>
        <p:spPr>
          <a:xfrm xmlns:a="http://schemas.openxmlformats.org/drawingml/2006/main">
            <a:off x="2076450" y="54864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Closed-loop recovery</a:t>
            </a:r>
          </a:p>
        </p:txBody>
      </p:sp>
      <p:sp>
        <p:nvSpPr>
          <p:cNvPr id="43" name="Rectangle 42">
            <a:extLst xmlns:a="http://schemas.openxmlformats.org/drawingml/2006/main">
              <a:ext uri="{FF2B5EF4-FFF2-40B4-BE49-F238E27FC236}">
                <a16:creationId xmlns:a16="http://schemas.microsoft.com/office/drawing/2014/main" id="{6D51FED4-8A1C-416A-8236-1E2FC506A148}"/>
              </a:ext>
            </a:extLst>
          </p:cNvPr>
          <p:cNvSpPr>
            <a:spLocks xmlns:a="http://schemas.openxmlformats.org/drawingml/2006/main" noGrp="1"/>
          </p:cNvSpPr>
          <p:nvPr/>
        </p:nvSpPr>
        <p:spPr>
          <a:xfrm xmlns:a="http://schemas.openxmlformats.org/drawingml/2006/main">
            <a:off x="4762500" y="548640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Connect violation events to path </a:t>
            </a:r>
            <a:r>
              <a:rPr b="0">
                <a:solidFill>
                  <a:srgbClr val="172333"/>
                </a:solidFill>
                <a:latin typeface="Calibri"/>
                <a:ea typeface="Calibri"/>
                <a:cs typeface="Calibri"/>
              </a:rPr>
              <a:t>recomputation</a:t>
            </a:r>
            <a:r>
              <a:rPr b="0">
                <a:solidFill>
                  <a:srgbClr val="172333"/>
                </a:solidFill>
                <a:latin typeface="Calibri"/>
                <a:ea typeface="Calibri"/>
                <a:cs typeface="Calibri"/>
              </a:rPr>
              <a:t> and live rerouting.</a:t>
            </a:r>
          </a:p>
        </p:txBody>
      </p:sp>
    </p:spTree>
    <p:extLst>
      <p:ext uri="{BB962C8B-B14F-4D97-AF65-F5344CB8AC3E}">
        <p14:creationId xmlns:p14="http://schemas.microsoft.com/office/powerpoint/2010/main" val="17020627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Rectangle 43">
            <a:extLst xmlns:a="http://schemas.openxmlformats.org/drawingml/2006/main">
              <a:ext uri="{FF2B5EF4-FFF2-40B4-BE49-F238E27FC236}">
                <a16:creationId xmlns:a16="http://schemas.microsoft.com/office/drawing/2014/main" id="{4CE0607A-9D2A-4B95-9004-7E5A9B015297}"/>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SOLUTION 2 OF 2</a:t>
            </a:r>
          </a:p>
        </p:txBody>
      </p:sp>
      <p:sp>
        <p:nvSpPr>
          <p:cNvPr id="2" name="Rectangle 1">
            <a:extLst xmlns:a="http://schemas.openxmlformats.org/drawingml/2006/main">
              <a:ext uri="{FF2B5EF4-FFF2-40B4-BE49-F238E27FC236}">
                <a16:creationId xmlns:a16="http://schemas.microsoft.com/office/drawing/2014/main" id="{6F0E2685-5CD4-4139-BF67-6E2339266B1B}"/>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Solution</a:t>
            </a:r>
          </a:p>
        </p:txBody>
      </p:sp>
      <p:sp>
        <p:nvSpPr>
          <p:cNvPr id="3" name="Rectangle 2">
            <a:extLst xmlns:a="http://schemas.openxmlformats.org/drawingml/2006/main">
              <a:ext uri="{FF2B5EF4-FFF2-40B4-BE49-F238E27FC236}">
                <a16:creationId xmlns:a16="http://schemas.microsoft.com/office/drawing/2014/main" id="{E88E0184-D20A-4D04-8DFF-140B26680282}"/>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ST-8 to ST-14 complete resource control, safe updates, evaluation and delivery</a:t>
            </a:r>
          </a:p>
        </p:txBody>
      </p:sp>
      <p:sp>
        <p:nvSpPr>
          <p:cNvPr id="4" name="Rectangle 3">
            <a:extLst xmlns:a="http://schemas.openxmlformats.org/drawingml/2006/main">
              <a:ext uri="{FF2B5EF4-FFF2-40B4-BE49-F238E27FC236}">
                <a16:creationId xmlns:a16="http://schemas.microsoft.com/office/drawing/2014/main" id="{01C84C95-A643-4501-BF3C-165D52DBBF74}"/>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5725C8B9-555D-4BEF-9831-A34A6A9A9A03}"/>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4AA0AAA0-3363-48DF-93E7-240FD2CF8C23}"/>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034C821A-7033-427A-A5EA-CBFF14472BB8}"/>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04</a:t>
            </a:r>
          </a:p>
        </p:txBody>
      </p:sp>
      <p:sp>
        <p:nvSpPr>
          <p:cNvPr id="8" name="Rectangle 7">
            <a:extLst xmlns:a="http://schemas.openxmlformats.org/drawingml/2006/main">
              <a:ext uri="{FF2B5EF4-FFF2-40B4-BE49-F238E27FC236}">
                <a16:creationId xmlns:a16="http://schemas.microsoft.com/office/drawing/2014/main" id="{E8F8BFF3-B389-4CAF-AE6A-70FF1435A889}"/>
              </a:ext>
            </a:extLst>
          </p:cNvPr>
          <p:cNvSpPr>
            <a:spLocks xmlns:a="http://schemas.openxmlformats.org/drawingml/2006/main" noGrp="1"/>
          </p:cNvSpPr>
          <p:nvPr/>
        </p:nvSpPr>
        <p:spPr>
          <a:xfrm xmlns:a="http://schemas.openxmlformats.org/drawingml/2006/main">
            <a:off x="7696200" y="1695450"/>
            <a:ext cx="1676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6 of 14 complete</a:t>
            </a:r>
          </a:p>
        </p:txBody>
      </p:sp>
      <p:sp>
        <p:nvSpPr>
          <p:cNvPr id="9" name="Rectangle 8">
            <a:extLst xmlns:a="http://schemas.openxmlformats.org/drawingml/2006/main">
              <a:ext uri="{FF2B5EF4-FFF2-40B4-BE49-F238E27FC236}">
                <a16:creationId xmlns:a16="http://schemas.microsoft.com/office/drawing/2014/main" id="{5CF3E2CE-B807-4CD7-8FA5-DE37741E3686}"/>
              </a:ext>
            </a:extLst>
          </p:cNvPr>
          <p:cNvSpPr>
            <a:spLocks xmlns:a="http://schemas.openxmlformats.org/drawingml/2006/main" noGrp="1"/>
          </p:cNvSpPr>
          <p:nvPr/>
        </p:nvSpPr>
        <p:spPr>
          <a:xfrm xmlns:a="http://schemas.openxmlformats.org/drawingml/2006/main">
            <a:off x="9467850" y="1695450"/>
            <a:ext cx="1676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8 unfinished</a:t>
            </a:r>
          </a:p>
        </p:txBody>
      </p:sp>
      <p:sp>
        <p:nvSpPr>
          <p:cNvPr id="10" name="Rectangle 9">
            <a:extLst xmlns:a="http://schemas.openxmlformats.org/drawingml/2006/main">
              <a:ext uri="{FF2B5EF4-FFF2-40B4-BE49-F238E27FC236}">
                <a16:creationId xmlns:a16="http://schemas.microsoft.com/office/drawing/2014/main" id="{18F4E565-5316-4D26-9B56-8F74665CC098}"/>
              </a:ext>
            </a:extLst>
          </p:cNvPr>
          <p:cNvSpPr>
            <a:spLocks xmlns:a="http://schemas.openxmlformats.org/drawingml/2006/main" noGrp="1"/>
          </p:cNvSpPr>
          <p:nvPr/>
        </p:nvSpPr>
        <p:spPr>
          <a:xfrm xmlns:a="http://schemas.openxmlformats.org/drawingml/2006/main">
            <a:off x="666750" y="210502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11" name="Rectangle 10">
            <a:extLst xmlns:a="http://schemas.openxmlformats.org/drawingml/2006/main">
              <a:ext uri="{FF2B5EF4-FFF2-40B4-BE49-F238E27FC236}">
                <a16:creationId xmlns:a16="http://schemas.microsoft.com/office/drawing/2014/main" id="{9AA4CAA2-AC6F-4AE2-98DC-685DAE848021}"/>
              </a:ext>
            </a:extLst>
          </p:cNvPr>
          <p:cNvSpPr>
            <a:spLocks xmlns:a="http://schemas.openxmlformats.org/drawingml/2006/main" noGrp="1"/>
          </p:cNvSpPr>
          <p:nvPr/>
        </p:nvSpPr>
        <p:spPr>
          <a:xfrm xmlns:a="http://schemas.openxmlformats.org/drawingml/2006/main">
            <a:off x="1123950" y="21145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ST-8</a:t>
            </a:r>
          </a:p>
        </p:txBody>
      </p:sp>
      <p:sp>
        <p:nvSpPr>
          <p:cNvPr id="12" name="Rectangle 11">
            <a:extLst xmlns:a="http://schemas.openxmlformats.org/drawingml/2006/main">
              <a:ext uri="{FF2B5EF4-FFF2-40B4-BE49-F238E27FC236}">
                <a16:creationId xmlns:a16="http://schemas.microsoft.com/office/drawing/2014/main" id="{F512E629-7A26-4345-B321-ECC03A529359}"/>
              </a:ext>
            </a:extLst>
          </p:cNvPr>
          <p:cNvSpPr>
            <a:spLocks xmlns:a="http://schemas.openxmlformats.org/drawingml/2006/main" noGrp="1"/>
          </p:cNvSpPr>
          <p:nvPr/>
        </p:nvSpPr>
        <p:spPr>
          <a:xfrm xmlns:a="http://schemas.openxmlformats.org/drawingml/2006/main">
            <a:off x="207645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Admission control</a:t>
            </a:r>
          </a:p>
        </p:txBody>
      </p:sp>
      <p:sp>
        <p:nvSpPr>
          <p:cNvPr id="13" name="Rectangle 12">
            <a:extLst xmlns:a="http://schemas.openxmlformats.org/drawingml/2006/main">
              <a:ext uri="{FF2B5EF4-FFF2-40B4-BE49-F238E27FC236}">
                <a16:creationId xmlns:a16="http://schemas.microsoft.com/office/drawing/2014/main" id="{4FB19AF1-2FFF-40F3-B2B1-87DB0C020895}"/>
              </a:ext>
            </a:extLst>
          </p:cNvPr>
          <p:cNvSpPr>
            <a:spLocks xmlns:a="http://schemas.openxmlformats.org/drawingml/2006/main" noGrp="1"/>
          </p:cNvSpPr>
          <p:nvPr/>
        </p:nvSpPr>
        <p:spPr>
          <a:xfrm xmlns:a="http://schemas.openxmlformats.org/drawingml/2006/main">
            <a:off x="4762500" y="211455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Check residual capacity before accepting a new SLA.</a:t>
            </a:r>
          </a:p>
        </p:txBody>
      </p:sp>
      <p:sp>
        <p:nvSpPr>
          <p:cNvPr id="14" name="Straight Connector 13">
            <a:extLst xmlns:a="http://schemas.openxmlformats.org/drawingml/2006/main">
              <a:ext uri="{FF2B5EF4-FFF2-40B4-BE49-F238E27FC236}">
                <a16:creationId xmlns:a16="http://schemas.microsoft.com/office/drawing/2014/main" id="{7BF7154D-03ED-4E46-BAD9-DFE3EB893D37}"/>
              </a:ext>
            </a:extLst>
          </p:cNvPr>
          <p:cNvSpPr>
            <a:spLocks xmlns:a="http://schemas.openxmlformats.org/drawingml/2006/main" noGrp="1"/>
          </p:cNvSpPr>
          <p:nvPr/>
        </p:nvSpPr>
        <p:spPr>
          <a:xfrm xmlns:a="http://schemas.openxmlformats.org/drawingml/2006/main">
            <a:off x="2076450" y="2533650"/>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8F9A4922-D48A-49BB-8C54-49DBF1BFC635}"/>
              </a:ext>
            </a:extLst>
          </p:cNvPr>
          <p:cNvSpPr>
            <a:spLocks xmlns:a="http://schemas.openxmlformats.org/drawingml/2006/main" noGrp="1"/>
          </p:cNvSpPr>
          <p:nvPr/>
        </p:nvSpPr>
        <p:spPr>
          <a:xfrm xmlns:a="http://schemas.openxmlformats.org/drawingml/2006/main">
            <a:off x="666750" y="26670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16" name="Rectangle 15">
            <a:extLst xmlns:a="http://schemas.openxmlformats.org/drawingml/2006/main">
              <a:ext uri="{FF2B5EF4-FFF2-40B4-BE49-F238E27FC236}">
                <a16:creationId xmlns:a16="http://schemas.microsoft.com/office/drawing/2014/main" id="{D9E7156D-3C2D-4BBF-824F-AF0C5F08F22A}"/>
              </a:ext>
            </a:extLst>
          </p:cNvPr>
          <p:cNvSpPr>
            <a:spLocks xmlns:a="http://schemas.openxmlformats.org/drawingml/2006/main" noGrp="1"/>
          </p:cNvSpPr>
          <p:nvPr/>
        </p:nvSpPr>
        <p:spPr>
          <a:xfrm xmlns:a="http://schemas.openxmlformats.org/drawingml/2006/main">
            <a:off x="1123950" y="2676525"/>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ST-9</a:t>
            </a:r>
          </a:p>
        </p:txBody>
      </p:sp>
      <p:sp>
        <p:nvSpPr>
          <p:cNvPr id="17" name="Rectangle 16">
            <a:extLst xmlns:a="http://schemas.openxmlformats.org/drawingml/2006/main">
              <a:ext uri="{FF2B5EF4-FFF2-40B4-BE49-F238E27FC236}">
                <a16:creationId xmlns:a16="http://schemas.microsoft.com/office/drawing/2014/main" id="{ED17ABD7-3535-4FFC-ACA0-329C2742A0F8}"/>
              </a:ext>
            </a:extLst>
          </p:cNvPr>
          <p:cNvSpPr>
            <a:spLocks xmlns:a="http://schemas.openxmlformats.org/drawingml/2006/main" noGrp="1"/>
          </p:cNvSpPr>
          <p:nvPr/>
        </p:nvSpPr>
        <p:spPr>
          <a:xfrm xmlns:a="http://schemas.openxmlformats.org/drawingml/2006/main">
            <a:off x="2076450" y="267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Preemption and tuning</a:t>
            </a:r>
          </a:p>
        </p:txBody>
      </p:sp>
      <p:sp>
        <p:nvSpPr>
          <p:cNvPr id="18" name="Rectangle 17">
            <a:extLst xmlns:a="http://schemas.openxmlformats.org/drawingml/2006/main">
              <a:ext uri="{FF2B5EF4-FFF2-40B4-BE49-F238E27FC236}">
                <a16:creationId xmlns:a16="http://schemas.microsoft.com/office/drawing/2014/main" id="{765326D9-0243-4A38-992F-6F093CF44D70}"/>
              </a:ext>
            </a:extLst>
          </p:cNvPr>
          <p:cNvSpPr>
            <a:spLocks xmlns:a="http://schemas.openxmlformats.org/drawingml/2006/main" noGrp="1"/>
          </p:cNvSpPr>
          <p:nvPr/>
        </p:nvSpPr>
        <p:spPr>
          <a:xfrm xmlns:a="http://schemas.openxmlformats.org/drawingml/2006/main">
            <a:off x="4762500" y="2676525"/>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98"/>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Prioritize critical intents and evaluate damping against route oscillation.</a:t>
            </a:r>
          </a:p>
        </p:txBody>
      </p:sp>
      <p:sp>
        <p:nvSpPr>
          <p:cNvPr id="19" name="Straight Connector 18">
            <a:extLst xmlns:a="http://schemas.openxmlformats.org/drawingml/2006/main">
              <a:ext uri="{FF2B5EF4-FFF2-40B4-BE49-F238E27FC236}">
                <a16:creationId xmlns:a16="http://schemas.microsoft.com/office/drawing/2014/main" id="{FC5D7FC5-558E-4017-8426-E601778E0AE1}"/>
              </a:ext>
            </a:extLst>
          </p:cNvPr>
          <p:cNvSpPr>
            <a:spLocks xmlns:a="http://schemas.openxmlformats.org/drawingml/2006/main" noGrp="1"/>
          </p:cNvSpPr>
          <p:nvPr/>
        </p:nvSpPr>
        <p:spPr>
          <a:xfrm xmlns:a="http://schemas.openxmlformats.org/drawingml/2006/main">
            <a:off x="2076450" y="3095625"/>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DA3798F8-A4AD-4744-9464-39A58FD0D9C7}"/>
              </a:ext>
            </a:extLst>
          </p:cNvPr>
          <p:cNvSpPr>
            <a:spLocks xmlns:a="http://schemas.openxmlformats.org/drawingml/2006/main" noGrp="1"/>
          </p:cNvSpPr>
          <p:nvPr/>
        </p:nvSpPr>
        <p:spPr>
          <a:xfrm xmlns:a="http://schemas.openxmlformats.org/drawingml/2006/main">
            <a:off x="666750" y="322897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21" name="Rectangle 20">
            <a:extLst xmlns:a="http://schemas.openxmlformats.org/drawingml/2006/main">
              <a:ext uri="{FF2B5EF4-FFF2-40B4-BE49-F238E27FC236}">
                <a16:creationId xmlns:a16="http://schemas.microsoft.com/office/drawing/2014/main" id="{ABA6FC6F-EE45-4633-9CFD-1217A26CB584}"/>
              </a:ext>
            </a:extLst>
          </p:cNvPr>
          <p:cNvSpPr>
            <a:spLocks xmlns:a="http://schemas.openxmlformats.org/drawingml/2006/main" noGrp="1"/>
          </p:cNvSpPr>
          <p:nvPr/>
        </p:nvSpPr>
        <p:spPr>
          <a:xfrm xmlns:a="http://schemas.openxmlformats.org/drawingml/2006/main">
            <a:off x="1123950" y="323850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ST-10</a:t>
            </a:r>
          </a:p>
        </p:txBody>
      </p:sp>
      <p:sp>
        <p:nvSpPr>
          <p:cNvPr id="22" name="Rectangle 21">
            <a:extLst xmlns:a="http://schemas.openxmlformats.org/drawingml/2006/main">
              <a:ext uri="{FF2B5EF4-FFF2-40B4-BE49-F238E27FC236}">
                <a16:creationId xmlns:a16="http://schemas.microsoft.com/office/drawing/2014/main" id="{101E9952-C95F-4DE5-A463-31E0396376D4}"/>
              </a:ext>
            </a:extLst>
          </p:cNvPr>
          <p:cNvSpPr>
            <a:spLocks xmlns:a="http://schemas.openxmlformats.org/drawingml/2006/main" noGrp="1"/>
          </p:cNvSpPr>
          <p:nvPr/>
        </p:nvSpPr>
        <p:spPr>
          <a:xfrm xmlns:a="http://schemas.openxmlformats.org/drawingml/2006/main">
            <a:off x="2076450" y="3238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Two-phase updates</a:t>
            </a:r>
          </a:p>
        </p:txBody>
      </p:sp>
      <p:sp>
        <p:nvSpPr>
          <p:cNvPr id="23" name="Rectangle 22">
            <a:extLst xmlns:a="http://schemas.openxmlformats.org/drawingml/2006/main">
              <a:ext uri="{FF2B5EF4-FFF2-40B4-BE49-F238E27FC236}">
                <a16:creationId xmlns:a16="http://schemas.microsoft.com/office/drawing/2014/main" id="{1C982908-8C24-4E05-8360-65512BB25D7D}"/>
              </a:ext>
            </a:extLst>
          </p:cNvPr>
          <p:cNvSpPr>
            <a:spLocks xmlns:a="http://schemas.openxmlformats.org/drawingml/2006/main" noGrp="1"/>
          </p:cNvSpPr>
          <p:nvPr/>
        </p:nvSpPr>
        <p:spPr>
          <a:xfrm xmlns:a="http://schemas.openxmlformats.org/drawingml/2006/main">
            <a:off x="4762500" y="323850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Install a new path safely before removing the previous forwarding rules.</a:t>
            </a:r>
          </a:p>
        </p:txBody>
      </p:sp>
      <p:sp>
        <p:nvSpPr>
          <p:cNvPr id="24" name="Straight Connector 23">
            <a:extLst xmlns:a="http://schemas.openxmlformats.org/drawingml/2006/main">
              <a:ext uri="{FF2B5EF4-FFF2-40B4-BE49-F238E27FC236}">
                <a16:creationId xmlns:a16="http://schemas.microsoft.com/office/drawing/2014/main" id="{FB62C359-25F7-4AAF-918B-09E9B9752B5E}"/>
              </a:ext>
            </a:extLst>
          </p:cNvPr>
          <p:cNvSpPr>
            <a:spLocks xmlns:a="http://schemas.openxmlformats.org/drawingml/2006/main" noGrp="1"/>
          </p:cNvSpPr>
          <p:nvPr/>
        </p:nvSpPr>
        <p:spPr>
          <a:xfrm xmlns:a="http://schemas.openxmlformats.org/drawingml/2006/main">
            <a:off x="2076450" y="3657600"/>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D56A5BAB-8D5C-49DB-9BC4-16DE26951B46}"/>
              </a:ext>
            </a:extLst>
          </p:cNvPr>
          <p:cNvSpPr>
            <a:spLocks xmlns:a="http://schemas.openxmlformats.org/drawingml/2006/main" noGrp="1"/>
          </p:cNvSpPr>
          <p:nvPr/>
        </p:nvSpPr>
        <p:spPr>
          <a:xfrm xmlns:a="http://schemas.openxmlformats.org/drawingml/2006/main">
            <a:off x="666750" y="379095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26" name="Rectangle 25">
            <a:extLst xmlns:a="http://schemas.openxmlformats.org/drawingml/2006/main">
              <a:ext uri="{FF2B5EF4-FFF2-40B4-BE49-F238E27FC236}">
                <a16:creationId xmlns:a16="http://schemas.microsoft.com/office/drawing/2014/main" id="{3B0E8E8A-3579-406A-9518-575ABDE66BFD}"/>
              </a:ext>
            </a:extLst>
          </p:cNvPr>
          <p:cNvSpPr>
            <a:spLocks xmlns:a="http://schemas.openxmlformats.org/drawingml/2006/main" noGrp="1"/>
          </p:cNvSpPr>
          <p:nvPr/>
        </p:nvSpPr>
        <p:spPr>
          <a:xfrm xmlns:a="http://schemas.openxmlformats.org/drawingml/2006/main">
            <a:off x="1123950" y="3800475"/>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ST-11</a:t>
            </a:r>
          </a:p>
        </p:txBody>
      </p:sp>
      <p:sp>
        <p:nvSpPr>
          <p:cNvPr id="27" name="Rectangle 26">
            <a:extLst xmlns:a="http://schemas.openxmlformats.org/drawingml/2006/main">
              <a:ext uri="{FF2B5EF4-FFF2-40B4-BE49-F238E27FC236}">
                <a16:creationId xmlns:a16="http://schemas.microsoft.com/office/drawing/2014/main" id="{0ED858E1-2D3E-4196-BC3A-57961AF20E66}"/>
              </a:ext>
            </a:extLst>
          </p:cNvPr>
          <p:cNvSpPr>
            <a:spLocks xmlns:a="http://schemas.openxmlformats.org/drawingml/2006/main" noGrp="1"/>
          </p:cNvSpPr>
          <p:nvPr/>
        </p:nvSpPr>
        <p:spPr>
          <a:xfrm xmlns:a="http://schemas.openxmlformats.org/drawingml/2006/main">
            <a:off x="2076450" y="38004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Dashboard and audit</a:t>
            </a:r>
          </a:p>
        </p:txBody>
      </p:sp>
      <p:sp>
        <p:nvSpPr>
          <p:cNvPr id="28" name="Rectangle 27">
            <a:extLst xmlns:a="http://schemas.openxmlformats.org/drawingml/2006/main">
              <a:ext uri="{FF2B5EF4-FFF2-40B4-BE49-F238E27FC236}">
                <a16:creationId xmlns:a16="http://schemas.microsoft.com/office/drawing/2014/main" id="{75789EC4-A043-4F3B-A7C1-295B5695DBCE}"/>
              </a:ext>
            </a:extLst>
          </p:cNvPr>
          <p:cNvSpPr>
            <a:spLocks xmlns:a="http://schemas.openxmlformats.org/drawingml/2006/main" noGrp="1"/>
          </p:cNvSpPr>
          <p:nvPr/>
        </p:nvSpPr>
        <p:spPr>
          <a:xfrm xmlns:a="http://schemas.openxmlformats.org/drawingml/2006/main">
            <a:off x="4762500" y="3800475"/>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Show topology state, SLA status and the causal event history.</a:t>
            </a:r>
          </a:p>
        </p:txBody>
      </p:sp>
      <p:sp>
        <p:nvSpPr>
          <p:cNvPr id="29" name="Straight Connector 28">
            <a:extLst xmlns:a="http://schemas.openxmlformats.org/drawingml/2006/main">
              <a:ext uri="{FF2B5EF4-FFF2-40B4-BE49-F238E27FC236}">
                <a16:creationId xmlns:a16="http://schemas.microsoft.com/office/drawing/2014/main" id="{B5C83A19-ADC9-4DA1-8FB6-5E0175625283}"/>
              </a:ext>
            </a:extLst>
          </p:cNvPr>
          <p:cNvSpPr>
            <a:spLocks xmlns:a="http://schemas.openxmlformats.org/drawingml/2006/main" noGrp="1"/>
          </p:cNvSpPr>
          <p:nvPr/>
        </p:nvSpPr>
        <p:spPr>
          <a:xfrm xmlns:a="http://schemas.openxmlformats.org/drawingml/2006/main">
            <a:off x="2076450" y="4219575"/>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A16412E9-5E5E-430D-A521-EAB8475EC545}"/>
              </a:ext>
            </a:extLst>
          </p:cNvPr>
          <p:cNvSpPr>
            <a:spLocks xmlns:a="http://schemas.openxmlformats.org/drawingml/2006/main" noGrp="1"/>
          </p:cNvSpPr>
          <p:nvPr/>
        </p:nvSpPr>
        <p:spPr>
          <a:xfrm xmlns:a="http://schemas.openxmlformats.org/drawingml/2006/main">
            <a:off x="666750" y="435292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31" name="Rectangle 30">
            <a:extLst xmlns:a="http://schemas.openxmlformats.org/drawingml/2006/main">
              <a:ext uri="{FF2B5EF4-FFF2-40B4-BE49-F238E27FC236}">
                <a16:creationId xmlns:a16="http://schemas.microsoft.com/office/drawing/2014/main" id="{034A97A3-3323-4C60-8F14-8451B570309D}"/>
              </a:ext>
            </a:extLst>
          </p:cNvPr>
          <p:cNvSpPr>
            <a:spLocks xmlns:a="http://schemas.openxmlformats.org/drawingml/2006/main" noGrp="1"/>
          </p:cNvSpPr>
          <p:nvPr/>
        </p:nvSpPr>
        <p:spPr>
          <a:xfrm xmlns:a="http://schemas.openxmlformats.org/drawingml/2006/main">
            <a:off x="1123950" y="436245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ST-12</a:t>
            </a:r>
          </a:p>
        </p:txBody>
      </p:sp>
      <p:sp>
        <p:nvSpPr>
          <p:cNvPr id="32" name="Rectangle 31">
            <a:extLst xmlns:a="http://schemas.openxmlformats.org/drawingml/2006/main">
              <a:ext uri="{FF2B5EF4-FFF2-40B4-BE49-F238E27FC236}">
                <a16:creationId xmlns:a16="http://schemas.microsoft.com/office/drawing/2014/main" id="{C96A98F5-16C8-4056-9C68-51A652E9D2A0}"/>
              </a:ext>
            </a:extLst>
          </p:cNvPr>
          <p:cNvSpPr>
            <a:spLocks xmlns:a="http://schemas.openxmlformats.org/drawingml/2006/main" noGrp="1"/>
          </p:cNvSpPr>
          <p:nvPr/>
        </p:nvSpPr>
        <p:spPr>
          <a:xfrm xmlns:a="http://schemas.openxmlformats.org/drawingml/2006/main">
            <a:off x="2076450" y="4362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Evaluation phase one</a:t>
            </a:r>
          </a:p>
        </p:txBody>
      </p:sp>
      <p:sp>
        <p:nvSpPr>
          <p:cNvPr id="33" name="Rectangle 32">
            <a:extLst xmlns:a="http://schemas.openxmlformats.org/drawingml/2006/main">
              <a:ext uri="{FF2B5EF4-FFF2-40B4-BE49-F238E27FC236}">
                <a16:creationId xmlns:a16="http://schemas.microsoft.com/office/drawing/2014/main" id="{4AA62383-263E-4F35-A5E4-3DADD47C8032}"/>
              </a:ext>
            </a:extLst>
          </p:cNvPr>
          <p:cNvSpPr>
            <a:spLocks xmlns:a="http://schemas.openxmlformats.org/drawingml/2006/main" noGrp="1"/>
          </p:cNvSpPr>
          <p:nvPr/>
        </p:nvSpPr>
        <p:spPr>
          <a:xfrm xmlns:a="http://schemas.openxmlformats.org/drawingml/2006/main">
            <a:off x="4762500" y="436245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52"/>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Run repeated baseline experiments and capture comparable measurements.</a:t>
            </a:r>
          </a:p>
        </p:txBody>
      </p:sp>
      <p:sp>
        <p:nvSpPr>
          <p:cNvPr id="34" name="Straight Connector 33">
            <a:extLst xmlns:a="http://schemas.openxmlformats.org/drawingml/2006/main">
              <a:ext uri="{FF2B5EF4-FFF2-40B4-BE49-F238E27FC236}">
                <a16:creationId xmlns:a16="http://schemas.microsoft.com/office/drawing/2014/main" id="{88FF61AD-84E8-4516-82BD-D64931E47D20}"/>
              </a:ext>
            </a:extLst>
          </p:cNvPr>
          <p:cNvSpPr>
            <a:spLocks xmlns:a="http://schemas.openxmlformats.org/drawingml/2006/main" noGrp="1"/>
          </p:cNvSpPr>
          <p:nvPr/>
        </p:nvSpPr>
        <p:spPr>
          <a:xfrm xmlns:a="http://schemas.openxmlformats.org/drawingml/2006/main">
            <a:off x="2076450" y="4781550"/>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2F221F07-E8A8-4B23-80D6-47F01C8CAA8C}"/>
              </a:ext>
            </a:extLst>
          </p:cNvPr>
          <p:cNvSpPr>
            <a:spLocks xmlns:a="http://schemas.openxmlformats.org/drawingml/2006/main" noGrp="1"/>
          </p:cNvSpPr>
          <p:nvPr/>
        </p:nvSpPr>
        <p:spPr>
          <a:xfrm xmlns:a="http://schemas.openxmlformats.org/drawingml/2006/main">
            <a:off x="666750" y="49149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36" name="Rectangle 35">
            <a:extLst xmlns:a="http://schemas.openxmlformats.org/drawingml/2006/main">
              <a:ext uri="{FF2B5EF4-FFF2-40B4-BE49-F238E27FC236}">
                <a16:creationId xmlns:a16="http://schemas.microsoft.com/office/drawing/2014/main" id="{91405CA3-D1DE-4E4E-8967-130B8FD8CEE5}"/>
              </a:ext>
            </a:extLst>
          </p:cNvPr>
          <p:cNvSpPr>
            <a:spLocks xmlns:a="http://schemas.openxmlformats.org/drawingml/2006/main" noGrp="1"/>
          </p:cNvSpPr>
          <p:nvPr/>
        </p:nvSpPr>
        <p:spPr>
          <a:xfrm xmlns:a="http://schemas.openxmlformats.org/drawingml/2006/main">
            <a:off x="1123950" y="4924425"/>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ST-13</a:t>
            </a:r>
          </a:p>
        </p:txBody>
      </p:sp>
      <p:sp>
        <p:nvSpPr>
          <p:cNvPr id="37" name="Rectangle 36">
            <a:extLst xmlns:a="http://schemas.openxmlformats.org/drawingml/2006/main">
              <a:ext uri="{FF2B5EF4-FFF2-40B4-BE49-F238E27FC236}">
                <a16:creationId xmlns:a16="http://schemas.microsoft.com/office/drawing/2014/main" id="{F50F0F56-5A03-4F26-B65E-EB3ACA7D1A58}"/>
              </a:ext>
            </a:extLst>
          </p:cNvPr>
          <p:cNvSpPr>
            <a:spLocks xmlns:a="http://schemas.openxmlformats.org/drawingml/2006/main" noGrp="1"/>
          </p:cNvSpPr>
          <p:nvPr/>
        </p:nvSpPr>
        <p:spPr>
          <a:xfrm xmlns:a="http://schemas.openxmlformats.org/drawingml/2006/main">
            <a:off x="2076450" y="49244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Evaluation phase two</a:t>
            </a:r>
          </a:p>
        </p:txBody>
      </p:sp>
      <p:sp>
        <p:nvSpPr>
          <p:cNvPr id="38" name="Rectangle 37">
            <a:extLst xmlns:a="http://schemas.openxmlformats.org/drawingml/2006/main">
              <a:ext uri="{FF2B5EF4-FFF2-40B4-BE49-F238E27FC236}">
                <a16:creationId xmlns:a16="http://schemas.microsoft.com/office/drawing/2014/main" id="{F6F438BD-E252-4D52-9D18-11C633D67BB3}"/>
              </a:ext>
            </a:extLst>
          </p:cNvPr>
          <p:cNvSpPr>
            <a:spLocks xmlns:a="http://schemas.openxmlformats.org/drawingml/2006/main" noGrp="1"/>
          </p:cNvSpPr>
          <p:nvPr/>
        </p:nvSpPr>
        <p:spPr>
          <a:xfrm xmlns:a="http://schemas.openxmlformats.org/drawingml/2006/main">
            <a:off x="4762500" y="4924425"/>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44"/>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Calculate confidence intervals and generate the final evaluation figures.</a:t>
            </a:r>
          </a:p>
        </p:txBody>
      </p:sp>
      <p:sp>
        <p:nvSpPr>
          <p:cNvPr id="39" name="Straight Connector 38">
            <a:extLst xmlns:a="http://schemas.openxmlformats.org/drawingml/2006/main">
              <a:ext uri="{FF2B5EF4-FFF2-40B4-BE49-F238E27FC236}">
                <a16:creationId xmlns:a16="http://schemas.microsoft.com/office/drawing/2014/main" id="{774284E1-FC81-4292-8F5E-00299B379283}"/>
              </a:ext>
            </a:extLst>
          </p:cNvPr>
          <p:cNvSpPr>
            <a:spLocks xmlns:a="http://schemas.openxmlformats.org/drawingml/2006/main" noGrp="1"/>
          </p:cNvSpPr>
          <p:nvPr/>
        </p:nvSpPr>
        <p:spPr>
          <a:xfrm xmlns:a="http://schemas.openxmlformats.org/drawingml/2006/main">
            <a:off x="2076450" y="5343525"/>
            <a:ext cx="9296400" cy="0"/>
          </a:xfrm>
          <a:prstGeom xmlns:a="http://schemas.openxmlformats.org/drawingml/2006/main" prst="line">
            <a:avLst/>
          </a:prstGeom>
          <a:noFill xmlns:a="http://schemas.openxmlformats.org/drawingml/2006/main"/>
          <a:ln xmlns:a="http://schemas.openxmlformats.org/drawingml/2006/main" w="9525">
            <a:solidFill>
              <a:srgbClr val="D6E0E6"/>
            </a:solidFill>
          </a:ln>
        </p:spPr>
        <p:txBody>
          <a:bodyPr xmlns:a="http://schemas.openxmlformats.org/drawingml/2006/main"/>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7DD4AF82-33DF-4A3A-AD61-58891136C948}"/>
              </a:ext>
            </a:extLst>
          </p:cNvPr>
          <p:cNvSpPr>
            <a:spLocks xmlns:a="http://schemas.openxmlformats.org/drawingml/2006/main" noGrp="1"/>
          </p:cNvSpPr>
          <p:nvPr/>
        </p:nvSpPr>
        <p:spPr>
          <a:xfrm xmlns:a="http://schemas.openxmlformats.org/drawingml/2006/main">
            <a:off x="666750" y="547687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a:t>
            </a:r>
          </a:p>
        </p:txBody>
      </p:sp>
      <p:sp>
        <p:nvSpPr>
          <p:cNvPr id="41" name="Rectangle 40">
            <a:extLst xmlns:a="http://schemas.openxmlformats.org/drawingml/2006/main">
              <a:ext uri="{FF2B5EF4-FFF2-40B4-BE49-F238E27FC236}">
                <a16:creationId xmlns:a16="http://schemas.microsoft.com/office/drawing/2014/main" id="{1F1BE2E5-CCBF-4271-99E1-5E716D9ED0F8}"/>
              </a:ext>
            </a:extLst>
          </p:cNvPr>
          <p:cNvSpPr>
            <a:spLocks xmlns:a="http://schemas.openxmlformats.org/drawingml/2006/main" noGrp="1"/>
          </p:cNvSpPr>
          <p:nvPr/>
        </p:nvSpPr>
        <p:spPr>
          <a:xfrm xmlns:a="http://schemas.openxmlformats.org/drawingml/2006/main">
            <a:off x="1123950" y="5486400"/>
            <a:ext cx="70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ST-14</a:t>
            </a:r>
          </a:p>
        </p:txBody>
      </p:sp>
      <p:sp>
        <p:nvSpPr>
          <p:cNvPr id="42" name="Rectangle 41">
            <a:extLst xmlns:a="http://schemas.openxmlformats.org/drawingml/2006/main">
              <a:ext uri="{FF2B5EF4-FFF2-40B4-BE49-F238E27FC236}">
                <a16:creationId xmlns:a16="http://schemas.microsoft.com/office/drawing/2014/main" id="{B9747836-F9BB-4F71-AE0C-07D677187643}"/>
              </a:ext>
            </a:extLst>
          </p:cNvPr>
          <p:cNvSpPr>
            <a:spLocks xmlns:a="http://schemas.openxmlformats.org/drawingml/2006/main" noGrp="1"/>
          </p:cNvSpPr>
          <p:nvPr/>
        </p:nvSpPr>
        <p:spPr>
          <a:xfrm xmlns:a="http://schemas.openxmlformats.org/drawingml/2006/main">
            <a:off x="2076450" y="54864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Final delivery</a:t>
            </a:r>
          </a:p>
        </p:txBody>
      </p:sp>
      <p:sp>
        <p:nvSpPr>
          <p:cNvPr id="43" name="Rectangle 42">
            <a:extLst xmlns:a="http://schemas.openxmlformats.org/drawingml/2006/main">
              <a:ext uri="{FF2B5EF4-FFF2-40B4-BE49-F238E27FC236}">
                <a16:creationId xmlns:a16="http://schemas.microsoft.com/office/drawing/2014/main" id="{3D88942F-EE2A-4D43-B4C7-040F5C933A92}"/>
              </a:ext>
            </a:extLst>
          </p:cNvPr>
          <p:cNvSpPr>
            <a:spLocks xmlns:a="http://schemas.openxmlformats.org/drawingml/2006/main" noGrp="1"/>
          </p:cNvSpPr>
          <p:nvPr/>
        </p:nvSpPr>
        <p:spPr>
          <a:xfrm xmlns:a="http://schemas.openxmlformats.org/drawingml/2006/main">
            <a:off x="4762500" y="5486400"/>
            <a:ext cx="6610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Complete the report, demonstration and submission package.</a:t>
            </a:r>
          </a:p>
        </p:txBody>
      </p:sp>
    </p:spTree>
    <p:extLst>
      <p:ext uri="{BB962C8B-B14F-4D97-AF65-F5344CB8AC3E}">
        <p14:creationId xmlns:p14="http://schemas.microsoft.com/office/powerpoint/2010/main" val="1788194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Rectangle 44">
            <a:extLst xmlns:a="http://schemas.openxmlformats.org/drawingml/2006/main">
              <a:ext uri="{FF2B5EF4-FFF2-40B4-BE49-F238E27FC236}">
                <a16:creationId xmlns:a16="http://schemas.microsoft.com/office/drawing/2014/main" id="{59F1451E-8CAA-42E9-B609-EDD4DA96E7CC}"/>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APPROACH</a:t>
            </a:r>
          </a:p>
        </p:txBody>
      </p:sp>
      <p:sp>
        <p:nvSpPr>
          <p:cNvPr id="2" name="Rectangle 1">
            <a:extLst xmlns:a="http://schemas.openxmlformats.org/drawingml/2006/main">
              <a:ext uri="{FF2B5EF4-FFF2-40B4-BE49-F238E27FC236}">
                <a16:creationId xmlns:a16="http://schemas.microsoft.com/office/drawing/2014/main" id="{965A1CFA-A594-4ADC-B72E-B5D97FAEBC13}"/>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Declarative intent-based networking</a:t>
            </a:r>
          </a:p>
        </p:txBody>
      </p:sp>
      <p:sp>
        <p:nvSpPr>
          <p:cNvPr id="3" name="Rectangle 2">
            <a:extLst xmlns:a="http://schemas.openxmlformats.org/drawingml/2006/main">
              <a:ext uri="{FF2B5EF4-FFF2-40B4-BE49-F238E27FC236}">
                <a16:creationId xmlns:a16="http://schemas.microsoft.com/office/drawing/2014/main" id="{D6BFABFC-B06A-4939-99BF-3612DF9FCFA9}"/>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Six implemented stages compile and verify a service promise; automatic correction remains next</a:t>
            </a:r>
          </a:p>
        </p:txBody>
      </p:sp>
      <p:sp>
        <p:nvSpPr>
          <p:cNvPr id="4" name="Rectangle 3">
            <a:extLst xmlns:a="http://schemas.openxmlformats.org/drawingml/2006/main">
              <a:ext uri="{FF2B5EF4-FFF2-40B4-BE49-F238E27FC236}">
                <a16:creationId xmlns:a16="http://schemas.microsoft.com/office/drawing/2014/main" id="{06D9727E-1BC2-4DA5-9EEA-1AB5320D43FA}"/>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A032E22-FBEF-4E89-8983-487C1DFDCA67}"/>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391BB5C-6854-49D0-A97B-4B0445B43DF6}"/>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964AB3CA-9162-4259-A6D0-A2B7E1A60D26}"/>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05</a:t>
            </a:r>
          </a:p>
        </p:txBody>
      </p:sp>
      <p:sp>
        <p:nvSpPr>
          <p:cNvPr id="8" name="Rectangle: Rounded Corners 7">
            <a:extLst xmlns:a="http://schemas.openxmlformats.org/drawingml/2006/main">
              <a:ext uri="{FF2B5EF4-FFF2-40B4-BE49-F238E27FC236}">
                <a16:creationId xmlns:a16="http://schemas.microsoft.com/office/drawing/2014/main" id="{2A1A50DC-1CA0-4061-ABDB-6CE88483E0BD}"/>
              </a:ext>
            </a:extLst>
          </p:cNvPr>
          <p:cNvSpPr>
            <a:spLocks xmlns:a="http://schemas.openxmlformats.org/drawingml/2006/main" noGrp="1"/>
          </p:cNvSpPr>
          <p:nvPr/>
        </p:nvSpPr>
        <p:spPr>
          <a:xfrm xmlns:a="http://schemas.openxmlformats.org/drawingml/2006/main">
            <a:off x="514350" y="2324100"/>
            <a:ext cx="1409700" cy="1695450"/>
          </a:xfrm>
          <a:prstGeom xmlns:a="http://schemas.openxmlformats.org/drawingml/2006/main" prst="roundRect">
            <a:avLst>
              <a:gd name="adj" fmla="val 9459"/>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55A8987F-B89A-4DF3-86A3-CF680EE9DFDF}"/>
              </a:ext>
            </a:extLst>
          </p:cNvPr>
          <p:cNvSpPr>
            <a:spLocks xmlns:a="http://schemas.openxmlformats.org/drawingml/2006/main" noGrp="1"/>
          </p:cNvSpPr>
          <p:nvPr/>
        </p:nvSpPr>
        <p:spPr>
          <a:xfrm xmlns:a="http://schemas.openxmlformats.org/drawingml/2006/main">
            <a:off x="66675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1</a:t>
            </a:r>
          </a:p>
        </p:txBody>
      </p:sp>
      <p:sp>
        <p:nvSpPr>
          <p:cNvPr id="10" name="Rectangle 9">
            <a:extLst xmlns:a="http://schemas.openxmlformats.org/drawingml/2006/main">
              <a:ext uri="{FF2B5EF4-FFF2-40B4-BE49-F238E27FC236}">
                <a16:creationId xmlns:a16="http://schemas.microsoft.com/office/drawing/2014/main" id="{AE829C86-80A3-4F5D-B928-261EAC6FA358}"/>
              </a:ext>
            </a:extLst>
          </p:cNvPr>
          <p:cNvSpPr>
            <a:spLocks xmlns:a="http://schemas.openxmlformats.org/drawingml/2006/main" noGrp="1"/>
          </p:cNvSpPr>
          <p:nvPr/>
        </p:nvSpPr>
        <p:spPr>
          <a:xfrm xmlns:a="http://schemas.openxmlformats.org/drawingml/2006/main">
            <a:off x="66675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Intent</a:t>
            </a:r>
          </a:p>
        </p:txBody>
      </p:sp>
      <p:sp>
        <p:nvSpPr>
          <p:cNvPr id="11" name="Rectangle 10">
            <a:extLst xmlns:a="http://schemas.openxmlformats.org/drawingml/2006/main">
              <a:ext uri="{FF2B5EF4-FFF2-40B4-BE49-F238E27FC236}">
                <a16:creationId xmlns:a16="http://schemas.microsoft.com/office/drawing/2014/main" id="{BB9BF466-52A8-4FD2-80C3-676A1892D4FD}"/>
              </a:ext>
            </a:extLst>
          </p:cNvPr>
          <p:cNvSpPr>
            <a:spLocks xmlns:a="http://schemas.openxmlformats.org/drawingml/2006/main" noGrp="1"/>
          </p:cNvSpPr>
          <p:nvPr/>
        </p:nvSpPr>
        <p:spPr>
          <a:xfrm xmlns:a="http://schemas.openxmlformats.org/drawingml/2006/main">
            <a:off x="66675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406"/>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YAML promise</a:t>
            </a:r>
          </a:p>
        </p:txBody>
      </p:sp>
      <p:sp>
        <p:nvSpPr>
          <p:cNvPr id="12" name="Rectangle 11">
            <a:extLst xmlns:a="http://schemas.openxmlformats.org/drawingml/2006/main">
              <a:ext uri="{FF2B5EF4-FFF2-40B4-BE49-F238E27FC236}">
                <a16:creationId xmlns:a16="http://schemas.microsoft.com/office/drawing/2014/main" id="{14C0579C-A052-4014-9B38-BBB466AAEEA2}"/>
              </a:ext>
            </a:extLst>
          </p:cNvPr>
          <p:cNvSpPr>
            <a:spLocks xmlns:a="http://schemas.openxmlformats.org/drawingml/2006/main" noGrp="1"/>
          </p:cNvSpPr>
          <p:nvPr/>
        </p:nvSpPr>
        <p:spPr>
          <a:xfrm xmlns:a="http://schemas.openxmlformats.org/drawingml/2006/main">
            <a:off x="1943100" y="29241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435"/>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13" name="Rectangle: Rounded Corners 12">
            <a:extLst xmlns:a="http://schemas.openxmlformats.org/drawingml/2006/main">
              <a:ext uri="{FF2B5EF4-FFF2-40B4-BE49-F238E27FC236}">
                <a16:creationId xmlns:a16="http://schemas.microsoft.com/office/drawing/2014/main" id="{F7EA0F06-C8E9-4C79-90C4-DD89303930A8}"/>
              </a:ext>
            </a:extLst>
          </p:cNvPr>
          <p:cNvSpPr>
            <a:spLocks xmlns:a="http://schemas.openxmlformats.org/drawingml/2006/main" noGrp="1"/>
          </p:cNvSpPr>
          <p:nvPr/>
        </p:nvSpPr>
        <p:spPr>
          <a:xfrm xmlns:a="http://schemas.openxmlformats.org/drawingml/2006/main">
            <a:off x="2171700" y="2324100"/>
            <a:ext cx="1409700" cy="1695450"/>
          </a:xfrm>
          <a:prstGeom xmlns:a="http://schemas.openxmlformats.org/drawingml/2006/main" prst="roundRect">
            <a:avLst>
              <a:gd name="adj" fmla="val 9459"/>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EEAE1A28-A078-4492-AF44-4B86EFED31C0}"/>
              </a:ext>
            </a:extLst>
          </p:cNvPr>
          <p:cNvSpPr>
            <a:spLocks xmlns:a="http://schemas.openxmlformats.org/drawingml/2006/main" noGrp="1"/>
          </p:cNvSpPr>
          <p:nvPr/>
        </p:nvSpPr>
        <p:spPr>
          <a:xfrm xmlns:a="http://schemas.openxmlformats.org/drawingml/2006/main">
            <a:off x="232410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2</a:t>
            </a:r>
          </a:p>
        </p:txBody>
      </p:sp>
      <p:sp>
        <p:nvSpPr>
          <p:cNvPr id="15" name="Rectangle 14">
            <a:extLst xmlns:a="http://schemas.openxmlformats.org/drawingml/2006/main">
              <a:ext uri="{FF2B5EF4-FFF2-40B4-BE49-F238E27FC236}">
                <a16:creationId xmlns:a16="http://schemas.microsoft.com/office/drawing/2014/main" id="{524A9CBC-90BB-418F-90B1-78E6C1B81D24}"/>
              </a:ext>
            </a:extLst>
          </p:cNvPr>
          <p:cNvSpPr>
            <a:spLocks xmlns:a="http://schemas.openxmlformats.org/drawingml/2006/main" noGrp="1"/>
          </p:cNvSpPr>
          <p:nvPr/>
        </p:nvSpPr>
        <p:spPr>
          <a:xfrm xmlns:a="http://schemas.openxmlformats.org/drawingml/2006/main">
            <a:off x="232410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Validate</a:t>
            </a:r>
          </a:p>
        </p:txBody>
      </p:sp>
      <p:sp>
        <p:nvSpPr>
          <p:cNvPr id="16" name="Rectangle 15">
            <a:extLst xmlns:a="http://schemas.openxmlformats.org/drawingml/2006/main">
              <a:ext uri="{FF2B5EF4-FFF2-40B4-BE49-F238E27FC236}">
                <a16:creationId xmlns:a16="http://schemas.microsoft.com/office/drawing/2014/main" id="{516D14B8-34C4-48F2-9657-DAB4D64B4415}"/>
              </a:ext>
            </a:extLst>
          </p:cNvPr>
          <p:cNvSpPr>
            <a:spLocks xmlns:a="http://schemas.openxmlformats.org/drawingml/2006/main" noGrp="1"/>
          </p:cNvSpPr>
          <p:nvPr/>
        </p:nvSpPr>
        <p:spPr>
          <a:xfrm xmlns:a="http://schemas.openxmlformats.org/drawingml/2006/main">
            <a:off x="232410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5977"/>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Schema + rules</a:t>
            </a:r>
          </a:p>
        </p:txBody>
      </p:sp>
      <p:sp>
        <p:nvSpPr>
          <p:cNvPr id="17" name="Rectangle 16">
            <a:extLst xmlns:a="http://schemas.openxmlformats.org/drawingml/2006/main">
              <a:ext uri="{FF2B5EF4-FFF2-40B4-BE49-F238E27FC236}">
                <a16:creationId xmlns:a16="http://schemas.microsoft.com/office/drawing/2014/main" id="{74AFCF10-7285-44C8-AF20-D41D9DFBB2A8}"/>
              </a:ext>
            </a:extLst>
          </p:cNvPr>
          <p:cNvSpPr>
            <a:spLocks xmlns:a="http://schemas.openxmlformats.org/drawingml/2006/main" noGrp="1"/>
          </p:cNvSpPr>
          <p:nvPr/>
        </p:nvSpPr>
        <p:spPr>
          <a:xfrm xmlns:a="http://schemas.openxmlformats.org/drawingml/2006/main">
            <a:off x="3600450" y="29241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435"/>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18" name="Rectangle: Rounded Corners 17">
            <a:extLst xmlns:a="http://schemas.openxmlformats.org/drawingml/2006/main">
              <a:ext uri="{FF2B5EF4-FFF2-40B4-BE49-F238E27FC236}">
                <a16:creationId xmlns:a16="http://schemas.microsoft.com/office/drawing/2014/main" id="{F6107ABC-48E7-467F-80CC-3556BDE8E1E2}"/>
              </a:ext>
            </a:extLst>
          </p:cNvPr>
          <p:cNvSpPr>
            <a:spLocks xmlns:a="http://schemas.openxmlformats.org/drawingml/2006/main" noGrp="1"/>
          </p:cNvSpPr>
          <p:nvPr/>
        </p:nvSpPr>
        <p:spPr>
          <a:xfrm xmlns:a="http://schemas.openxmlformats.org/drawingml/2006/main">
            <a:off x="3829050" y="2324100"/>
            <a:ext cx="1409700" cy="1695450"/>
          </a:xfrm>
          <a:prstGeom xmlns:a="http://schemas.openxmlformats.org/drawingml/2006/main" prst="roundRect">
            <a:avLst>
              <a:gd name="adj" fmla="val 9459"/>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0BFB2C21-56FF-49B7-9702-E585F5D3E9BB}"/>
              </a:ext>
            </a:extLst>
          </p:cNvPr>
          <p:cNvSpPr>
            <a:spLocks xmlns:a="http://schemas.openxmlformats.org/drawingml/2006/main" noGrp="1"/>
          </p:cNvSpPr>
          <p:nvPr/>
        </p:nvSpPr>
        <p:spPr>
          <a:xfrm xmlns:a="http://schemas.openxmlformats.org/drawingml/2006/main">
            <a:off x="398145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3</a:t>
            </a:r>
          </a:p>
        </p:txBody>
      </p:sp>
      <p:sp>
        <p:nvSpPr>
          <p:cNvPr id="20" name="Rectangle 19">
            <a:extLst xmlns:a="http://schemas.openxmlformats.org/drawingml/2006/main">
              <a:ext uri="{FF2B5EF4-FFF2-40B4-BE49-F238E27FC236}">
                <a16:creationId xmlns:a16="http://schemas.microsoft.com/office/drawing/2014/main" id="{C30A5BA2-CD6C-477F-8C2C-B36CE4428803}"/>
              </a:ext>
            </a:extLst>
          </p:cNvPr>
          <p:cNvSpPr>
            <a:spLocks xmlns:a="http://schemas.openxmlformats.org/drawingml/2006/main" noGrp="1"/>
          </p:cNvSpPr>
          <p:nvPr/>
        </p:nvSpPr>
        <p:spPr>
          <a:xfrm xmlns:a="http://schemas.openxmlformats.org/drawingml/2006/main">
            <a:off x="398145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Compute</a:t>
            </a:r>
          </a:p>
        </p:txBody>
      </p:sp>
      <p:sp>
        <p:nvSpPr>
          <p:cNvPr id="21" name="Rectangle 20">
            <a:extLst xmlns:a="http://schemas.openxmlformats.org/drawingml/2006/main">
              <a:ext uri="{FF2B5EF4-FFF2-40B4-BE49-F238E27FC236}">
                <a16:creationId xmlns:a16="http://schemas.microsoft.com/office/drawing/2014/main" id="{021E7DA8-97EF-4C8D-B189-0C976509CF26}"/>
              </a:ext>
            </a:extLst>
          </p:cNvPr>
          <p:cNvSpPr>
            <a:spLocks xmlns:a="http://schemas.openxmlformats.org/drawingml/2006/main" noGrp="1"/>
          </p:cNvSpPr>
          <p:nvPr/>
        </p:nvSpPr>
        <p:spPr>
          <a:xfrm xmlns:a="http://schemas.openxmlformats.org/drawingml/2006/main">
            <a:off x="398145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33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Candidate paths</a:t>
            </a:r>
          </a:p>
        </p:txBody>
      </p:sp>
      <p:sp>
        <p:nvSpPr>
          <p:cNvPr id="22" name="Rectangle 21">
            <a:extLst xmlns:a="http://schemas.openxmlformats.org/drawingml/2006/main">
              <a:ext uri="{FF2B5EF4-FFF2-40B4-BE49-F238E27FC236}">
                <a16:creationId xmlns:a16="http://schemas.microsoft.com/office/drawing/2014/main" id="{9D76F1B3-B6D0-492A-A654-8CDF516A5D85}"/>
              </a:ext>
            </a:extLst>
          </p:cNvPr>
          <p:cNvSpPr>
            <a:spLocks xmlns:a="http://schemas.openxmlformats.org/drawingml/2006/main" noGrp="1"/>
          </p:cNvSpPr>
          <p:nvPr/>
        </p:nvSpPr>
        <p:spPr>
          <a:xfrm xmlns:a="http://schemas.openxmlformats.org/drawingml/2006/main">
            <a:off x="5257800" y="29241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435"/>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23" name="Rectangle: Rounded Corners 22">
            <a:extLst xmlns:a="http://schemas.openxmlformats.org/drawingml/2006/main">
              <a:ext uri="{FF2B5EF4-FFF2-40B4-BE49-F238E27FC236}">
                <a16:creationId xmlns:a16="http://schemas.microsoft.com/office/drawing/2014/main" id="{7E1391CA-FEAF-4E32-BB73-B5BB32327DFC}"/>
              </a:ext>
            </a:extLst>
          </p:cNvPr>
          <p:cNvSpPr>
            <a:spLocks xmlns:a="http://schemas.openxmlformats.org/drawingml/2006/main" noGrp="1"/>
          </p:cNvSpPr>
          <p:nvPr/>
        </p:nvSpPr>
        <p:spPr>
          <a:xfrm xmlns:a="http://schemas.openxmlformats.org/drawingml/2006/main">
            <a:off x="5486400" y="2324100"/>
            <a:ext cx="1409700" cy="1695450"/>
          </a:xfrm>
          <a:prstGeom xmlns:a="http://schemas.openxmlformats.org/drawingml/2006/main" prst="roundRect">
            <a:avLst>
              <a:gd name="adj" fmla="val 9459"/>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BD22CC19-9341-45E1-AF5C-710EF2127607}"/>
              </a:ext>
            </a:extLst>
          </p:cNvPr>
          <p:cNvSpPr>
            <a:spLocks xmlns:a="http://schemas.openxmlformats.org/drawingml/2006/main" noGrp="1"/>
          </p:cNvSpPr>
          <p:nvPr/>
        </p:nvSpPr>
        <p:spPr>
          <a:xfrm xmlns:a="http://schemas.openxmlformats.org/drawingml/2006/main">
            <a:off x="563880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4</a:t>
            </a:r>
          </a:p>
        </p:txBody>
      </p:sp>
      <p:sp>
        <p:nvSpPr>
          <p:cNvPr id="25" name="Rectangle 24">
            <a:extLst xmlns:a="http://schemas.openxmlformats.org/drawingml/2006/main">
              <a:ext uri="{FF2B5EF4-FFF2-40B4-BE49-F238E27FC236}">
                <a16:creationId xmlns:a16="http://schemas.microsoft.com/office/drawing/2014/main" id="{C73423C5-50AF-4E77-9EA7-4A74F9AB757F}"/>
              </a:ext>
            </a:extLst>
          </p:cNvPr>
          <p:cNvSpPr>
            <a:spLocks xmlns:a="http://schemas.openxmlformats.org/drawingml/2006/main" noGrp="1"/>
          </p:cNvSpPr>
          <p:nvPr/>
        </p:nvSpPr>
        <p:spPr>
          <a:xfrm xmlns:a="http://schemas.openxmlformats.org/drawingml/2006/main">
            <a:off x="563880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Enforce</a:t>
            </a:r>
          </a:p>
        </p:txBody>
      </p:sp>
      <p:sp>
        <p:nvSpPr>
          <p:cNvPr id="26" name="Rectangle 25">
            <a:extLst xmlns:a="http://schemas.openxmlformats.org/drawingml/2006/main">
              <a:ext uri="{FF2B5EF4-FFF2-40B4-BE49-F238E27FC236}">
                <a16:creationId xmlns:a16="http://schemas.microsoft.com/office/drawing/2014/main" id="{1702BF72-5A4A-4FD2-8692-CF7A918696F2}"/>
              </a:ext>
            </a:extLst>
          </p:cNvPr>
          <p:cNvSpPr>
            <a:spLocks xmlns:a="http://schemas.openxmlformats.org/drawingml/2006/main" noGrp="1"/>
          </p:cNvSpPr>
          <p:nvPr/>
        </p:nvSpPr>
        <p:spPr>
          <a:xfrm xmlns:a="http://schemas.openxmlformats.org/drawingml/2006/main">
            <a:off x="563880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044"/>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Flows + queue</a:t>
            </a:r>
          </a:p>
        </p:txBody>
      </p:sp>
      <p:sp>
        <p:nvSpPr>
          <p:cNvPr id="27" name="Rectangle 26">
            <a:extLst xmlns:a="http://schemas.openxmlformats.org/drawingml/2006/main">
              <a:ext uri="{FF2B5EF4-FFF2-40B4-BE49-F238E27FC236}">
                <a16:creationId xmlns:a16="http://schemas.microsoft.com/office/drawing/2014/main" id="{AB9265C5-8FB8-4295-A733-0E6A24E37FA8}"/>
              </a:ext>
            </a:extLst>
          </p:cNvPr>
          <p:cNvSpPr>
            <a:spLocks xmlns:a="http://schemas.openxmlformats.org/drawingml/2006/main" noGrp="1"/>
          </p:cNvSpPr>
          <p:nvPr/>
        </p:nvSpPr>
        <p:spPr>
          <a:xfrm xmlns:a="http://schemas.openxmlformats.org/drawingml/2006/main">
            <a:off x="6915150" y="29241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435"/>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28" name="Rectangle: Rounded Corners 27">
            <a:extLst xmlns:a="http://schemas.openxmlformats.org/drawingml/2006/main">
              <a:ext uri="{FF2B5EF4-FFF2-40B4-BE49-F238E27FC236}">
                <a16:creationId xmlns:a16="http://schemas.microsoft.com/office/drawing/2014/main" id="{C8032C77-E0C6-43F0-BE88-18A744BB1A90}"/>
              </a:ext>
            </a:extLst>
          </p:cNvPr>
          <p:cNvSpPr>
            <a:spLocks xmlns:a="http://schemas.openxmlformats.org/drawingml/2006/main" noGrp="1"/>
          </p:cNvSpPr>
          <p:nvPr/>
        </p:nvSpPr>
        <p:spPr>
          <a:xfrm xmlns:a="http://schemas.openxmlformats.org/drawingml/2006/main">
            <a:off x="7143750" y="2324100"/>
            <a:ext cx="1409700" cy="1695450"/>
          </a:xfrm>
          <a:prstGeom xmlns:a="http://schemas.openxmlformats.org/drawingml/2006/main" prst="roundRect">
            <a:avLst>
              <a:gd name="adj" fmla="val 9459"/>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BFD4996C-9BC8-4F84-A64B-34B8CA533485}"/>
              </a:ext>
            </a:extLst>
          </p:cNvPr>
          <p:cNvSpPr>
            <a:spLocks xmlns:a="http://schemas.openxmlformats.org/drawingml/2006/main" noGrp="1"/>
          </p:cNvSpPr>
          <p:nvPr/>
        </p:nvSpPr>
        <p:spPr>
          <a:xfrm xmlns:a="http://schemas.openxmlformats.org/drawingml/2006/main">
            <a:off x="729615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5</a:t>
            </a:r>
          </a:p>
        </p:txBody>
      </p:sp>
      <p:sp>
        <p:nvSpPr>
          <p:cNvPr id="30" name="Rectangle 29">
            <a:extLst xmlns:a="http://schemas.openxmlformats.org/drawingml/2006/main">
              <a:ext uri="{FF2B5EF4-FFF2-40B4-BE49-F238E27FC236}">
                <a16:creationId xmlns:a16="http://schemas.microsoft.com/office/drawing/2014/main" id="{3DADC434-18D9-4715-B2E8-F4E016C645FF}"/>
              </a:ext>
            </a:extLst>
          </p:cNvPr>
          <p:cNvSpPr>
            <a:spLocks xmlns:a="http://schemas.openxmlformats.org/drawingml/2006/main" noGrp="1"/>
          </p:cNvSpPr>
          <p:nvPr/>
        </p:nvSpPr>
        <p:spPr>
          <a:xfrm xmlns:a="http://schemas.openxmlformats.org/drawingml/2006/main">
            <a:off x="729615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Measure</a:t>
            </a:r>
          </a:p>
        </p:txBody>
      </p:sp>
      <p:sp>
        <p:nvSpPr>
          <p:cNvPr id="31" name="Rectangle 30">
            <a:extLst xmlns:a="http://schemas.openxmlformats.org/drawingml/2006/main">
              <a:ext uri="{FF2B5EF4-FFF2-40B4-BE49-F238E27FC236}">
                <a16:creationId xmlns:a16="http://schemas.microsoft.com/office/drawing/2014/main" id="{7B2504BE-8EB7-41ED-8833-B1C51DB6AE27}"/>
              </a:ext>
            </a:extLst>
          </p:cNvPr>
          <p:cNvSpPr>
            <a:spLocks xmlns:a="http://schemas.openxmlformats.org/drawingml/2006/main" noGrp="1"/>
          </p:cNvSpPr>
          <p:nvPr/>
        </p:nvSpPr>
        <p:spPr>
          <a:xfrm xmlns:a="http://schemas.openxmlformats.org/drawingml/2006/main">
            <a:off x="729615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40"/>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Live telemetry</a:t>
            </a:r>
          </a:p>
        </p:txBody>
      </p:sp>
      <p:sp>
        <p:nvSpPr>
          <p:cNvPr id="32" name="Rectangle 31">
            <a:extLst xmlns:a="http://schemas.openxmlformats.org/drawingml/2006/main">
              <a:ext uri="{FF2B5EF4-FFF2-40B4-BE49-F238E27FC236}">
                <a16:creationId xmlns:a16="http://schemas.microsoft.com/office/drawing/2014/main" id="{FF5983AA-2153-4D6A-B974-881407697BE6}"/>
              </a:ext>
            </a:extLst>
          </p:cNvPr>
          <p:cNvSpPr>
            <a:spLocks xmlns:a="http://schemas.openxmlformats.org/drawingml/2006/main" noGrp="1"/>
          </p:cNvSpPr>
          <p:nvPr/>
        </p:nvSpPr>
        <p:spPr>
          <a:xfrm xmlns:a="http://schemas.openxmlformats.org/drawingml/2006/main">
            <a:off x="8572500" y="29241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435"/>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33" name="Rectangle: Rounded Corners 32">
            <a:extLst xmlns:a="http://schemas.openxmlformats.org/drawingml/2006/main">
              <a:ext uri="{FF2B5EF4-FFF2-40B4-BE49-F238E27FC236}">
                <a16:creationId xmlns:a16="http://schemas.microsoft.com/office/drawing/2014/main" id="{AECB1ABA-7B9E-4BBF-8897-B54B895F309B}"/>
              </a:ext>
            </a:extLst>
          </p:cNvPr>
          <p:cNvSpPr>
            <a:spLocks xmlns:a="http://schemas.openxmlformats.org/drawingml/2006/main" noGrp="1"/>
          </p:cNvSpPr>
          <p:nvPr/>
        </p:nvSpPr>
        <p:spPr>
          <a:xfrm xmlns:a="http://schemas.openxmlformats.org/drawingml/2006/main">
            <a:off x="8801100" y="2324100"/>
            <a:ext cx="1409700" cy="1695450"/>
          </a:xfrm>
          <a:prstGeom xmlns:a="http://schemas.openxmlformats.org/drawingml/2006/main" prst="roundRect">
            <a:avLst>
              <a:gd name="adj" fmla="val 9459"/>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13BB541F-5E1E-43CD-AF79-9456DC79178C}"/>
              </a:ext>
            </a:extLst>
          </p:cNvPr>
          <p:cNvSpPr>
            <a:spLocks xmlns:a="http://schemas.openxmlformats.org/drawingml/2006/main" noGrp="1"/>
          </p:cNvSpPr>
          <p:nvPr/>
        </p:nvSpPr>
        <p:spPr>
          <a:xfrm xmlns:a="http://schemas.openxmlformats.org/drawingml/2006/main">
            <a:off x="895350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6</a:t>
            </a:r>
          </a:p>
        </p:txBody>
      </p:sp>
      <p:sp>
        <p:nvSpPr>
          <p:cNvPr id="35" name="Rectangle 34">
            <a:extLst xmlns:a="http://schemas.openxmlformats.org/drawingml/2006/main">
              <a:ext uri="{FF2B5EF4-FFF2-40B4-BE49-F238E27FC236}">
                <a16:creationId xmlns:a16="http://schemas.microsoft.com/office/drawing/2014/main" id="{957F7DC9-0636-4BC7-BA65-6E8FB8C2913B}"/>
              </a:ext>
            </a:extLst>
          </p:cNvPr>
          <p:cNvSpPr>
            <a:spLocks xmlns:a="http://schemas.openxmlformats.org/drawingml/2006/main" noGrp="1"/>
          </p:cNvSpPr>
          <p:nvPr/>
        </p:nvSpPr>
        <p:spPr>
          <a:xfrm xmlns:a="http://schemas.openxmlformats.org/drawingml/2006/main">
            <a:off x="895350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Detect</a:t>
            </a:r>
          </a:p>
        </p:txBody>
      </p:sp>
      <p:sp>
        <p:nvSpPr>
          <p:cNvPr id="36" name="Rectangle 35">
            <a:extLst xmlns:a="http://schemas.openxmlformats.org/drawingml/2006/main">
              <a:ext uri="{FF2B5EF4-FFF2-40B4-BE49-F238E27FC236}">
                <a16:creationId xmlns:a16="http://schemas.microsoft.com/office/drawing/2014/main" id="{17D70D36-8786-42DF-A55E-1033BCF7621D}"/>
              </a:ext>
            </a:extLst>
          </p:cNvPr>
          <p:cNvSpPr>
            <a:spLocks xmlns:a="http://schemas.openxmlformats.org/drawingml/2006/main" noGrp="1"/>
          </p:cNvSpPr>
          <p:nvPr/>
        </p:nvSpPr>
        <p:spPr>
          <a:xfrm xmlns:a="http://schemas.openxmlformats.org/drawingml/2006/main">
            <a:off x="895350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202"/>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Stable breach</a:t>
            </a:r>
          </a:p>
        </p:txBody>
      </p:sp>
      <p:sp>
        <p:nvSpPr>
          <p:cNvPr id="37" name="Rectangle 36">
            <a:extLst xmlns:a="http://schemas.openxmlformats.org/drawingml/2006/main">
              <a:ext uri="{FF2B5EF4-FFF2-40B4-BE49-F238E27FC236}">
                <a16:creationId xmlns:a16="http://schemas.microsoft.com/office/drawing/2014/main" id="{173DD9BE-E800-4127-88E6-2DBDB33D5FB8}"/>
              </a:ext>
            </a:extLst>
          </p:cNvPr>
          <p:cNvSpPr>
            <a:spLocks xmlns:a="http://schemas.openxmlformats.org/drawingml/2006/main" noGrp="1"/>
          </p:cNvSpPr>
          <p:nvPr/>
        </p:nvSpPr>
        <p:spPr>
          <a:xfrm xmlns:a="http://schemas.openxmlformats.org/drawingml/2006/main">
            <a:off x="10229850" y="29241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7435"/>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38" name="Rectangle: Rounded Corners 37">
            <a:extLst xmlns:a="http://schemas.openxmlformats.org/drawingml/2006/main">
              <a:ext uri="{FF2B5EF4-FFF2-40B4-BE49-F238E27FC236}">
                <a16:creationId xmlns:a16="http://schemas.microsoft.com/office/drawing/2014/main" id="{CF8BE487-8C8A-4764-9600-D92E4AF9F8B1}"/>
              </a:ext>
            </a:extLst>
          </p:cNvPr>
          <p:cNvSpPr>
            <a:spLocks xmlns:a="http://schemas.openxmlformats.org/drawingml/2006/main" noGrp="1"/>
          </p:cNvSpPr>
          <p:nvPr/>
        </p:nvSpPr>
        <p:spPr>
          <a:xfrm xmlns:a="http://schemas.openxmlformats.org/drawingml/2006/main">
            <a:off x="10458450" y="2324100"/>
            <a:ext cx="1409700" cy="1695450"/>
          </a:xfrm>
          <a:prstGeom xmlns:a="http://schemas.openxmlformats.org/drawingml/2006/main" prst="roundRect">
            <a:avLst>
              <a:gd name="adj" fmla="val 9459"/>
            </a:avLst>
          </a:prstGeom>
          <a:solidFill xmlns:a="http://schemas.openxmlformats.org/drawingml/2006/main">
            <a:srgbClr val="FBEDE6"/>
          </a:solidFill>
          <a:ln xmlns:a="http://schemas.openxmlformats.org/drawingml/2006/main" w="9525">
            <a:solidFill>
              <a:srgbClr val="C1440E"/>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86C21F75-B5E8-4476-98A6-BE7B764EE751}"/>
              </a:ext>
            </a:extLst>
          </p:cNvPr>
          <p:cNvSpPr>
            <a:spLocks xmlns:a="http://schemas.openxmlformats.org/drawingml/2006/main" noGrp="1"/>
          </p:cNvSpPr>
          <p:nvPr/>
        </p:nvSpPr>
        <p:spPr>
          <a:xfrm xmlns:a="http://schemas.openxmlformats.org/drawingml/2006/main">
            <a:off x="10610850" y="2457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7</a:t>
            </a:r>
          </a:p>
        </p:txBody>
      </p:sp>
      <p:sp>
        <p:nvSpPr>
          <p:cNvPr id="40" name="Rectangle 39">
            <a:extLst xmlns:a="http://schemas.openxmlformats.org/drawingml/2006/main">
              <a:ext uri="{FF2B5EF4-FFF2-40B4-BE49-F238E27FC236}">
                <a16:creationId xmlns:a16="http://schemas.microsoft.com/office/drawing/2014/main" id="{293101C7-92C0-4305-8ECF-BCB6AFF75978}"/>
              </a:ext>
            </a:extLst>
          </p:cNvPr>
          <p:cNvSpPr>
            <a:spLocks xmlns:a="http://schemas.openxmlformats.org/drawingml/2006/main" noGrp="1"/>
          </p:cNvSpPr>
          <p:nvPr/>
        </p:nvSpPr>
        <p:spPr>
          <a:xfrm xmlns:a="http://schemas.openxmlformats.org/drawingml/2006/main">
            <a:off x="10610850" y="295275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Correct</a:t>
            </a:r>
          </a:p>
        </p:txBody>
      </p:sp>
      <p:sp>
        <p:nvSpPr>
          <p:cNvPr id="41" name="Rectangle 40">
            <a:extLst xmlns:a="http://schemas.openxmlformats.org/drawingml/2006/main">
              <a:ext uri="{FF2B5EF4-FFF2-40B4-BE49-F238E27FC236}">
                <a16:creationId xmlns:a16="http://schemas.microsoft.com/office/drawing/2014/main" id="{C7932BBA-4B70-4834-92F9-33F96A779A8D}"/>
              </a:ext>
            </a:extLst>
          </p:cNvPr>
          <p:cNvSpPr>
            <a:spLocks xmlns:a="http://schemas.openxmlformats.org/drawingml/2006/main" noGrp="1"/>
          </p:cNvSpPr>
          <p:nvPr/>
        </p:nvSpPr>
        <p:spPr>
          <a:xfrm xmlns:a="http://schemas.openxmlformats.org/drawingml/2006/main">
            <a:off x="10610850" y="3352800"/>
            <a:ext cx="110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03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Live reroute</a:t>
            </a:r>
          </a:p>
        </p:txBody>
      </p:sp>
      <p:sp>
        <p:nvSpPr>
          <p:cNvPr id="42" name="Rectangle 41">
            <a:extLst xmlns:a="http://schemas.openxmlformats.org/drawingml/2006/main">
              <a:ext uri="{FF2B5EF4-FFF2-40B4-BE49-F238E27FC236}">
                <a16:creationId xmlns:a16="http://schemas.microsoft.com/office/drawing/2014/main" id="{BD3BD2BD-E5AB-4437-B79D-AFA8A6917207}"/>
              </a:ext>
            </a:extLst>
          </p:cNvPr>
          <p:cNvSpPr>
            <a:spLocks xmlns:a="http://schemas.openxmlformats.org/drawingml/2006/main" noGrp="1"/>
          </p:cNvSpPr>
          <p:nvPr/>
        </p:nvSpPr>
        <p:spPr>
          <a:xfrm xmlns:a="http://schemas.openxmlformats.org/drawingml/2006/main">
            <a:off x="685800" y="4400550"/>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Implemented and live-verified through detection</a:t>
            </a:r>
          </a:p>
        </p:txBody>
      </p:sp>
      <p:sp>
        <p:nvSpPr>
          <p:cNvPr id="43" name="Rectangle 42">
            <a:extLst xmlns:a="http://schemas.openxmlformats.org/drawingml/2006/main">
              <a:ext uri="{FF2B5EF4-FFF2-40B4-BE49-F238E27FC236}">
                <a16:creationId xmlns:a16="http://schemas.microsoft.com/office/drawing/2014/main" id="{66752C30-25B2-4C68-9712-4313A6F5AB1F}"/>
              </a:ext>
            </a:extLst>
          </p:cNvPr>
          <p:cNvSpPr>
            <a:spLocks xmlns:a="http://schemas.openxmlformats.org/drawingml/2006/main" noGrp="1"/>
          </p:cNvSpPr>
          <p:nvPr/>
        </p:nvSpPr>
        <p:spPr>
          <a:xfrm xmlns:a="http://schemas.openxmlformats.org/drawingml/2006/main">
            <a:off x="9906000" y="44005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873"/>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ST-7 integration incomplete</a:t>
            </a:r>
          </a:p>
        </p:txBody>
      </p:sp>
      <p:sp>
        <p:nvSpPr>
          <p:cNvPr id="44" name="Rectangle 43">
            <a:extLst xmlns:a="http://schemas.openxmlformats.org/drawingml/2006/main">
              <a:ext uri="{FF2B5EF4-FFF2-40B4-BE49-F238E27FC236}">
                <a16:creationId xmlns:a16="http://schemas.microsoft.com/office/drawing/2014/main" id="{FEAE0458-F68E-4E2F-9B30-8BFEAC187DB5}"/>
              </a:ext>
            </a:extLst>
          </p:cNvPr>
          <p:cNvSpPr>
            <a:spLocks xmlns:a="http://schemas.openxmlformats.org/drawingml/2006/main" noGrp="1"/>
          </p:cNvSpPr>
          <p:nvPr/>
        </p:nvSpPr>
        <p:spPr>
          <a:xfrm xmlns:a="http://schemas.openxmlformats.org/drawingml/2006/main">
            <a:off x="1619250" y="5238750"/>
            <a:ext cx="895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1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The current system detects a violation. It does not yet deliver that event to the live rerouting process.</a:t>
            </a:r>
          </a:p>
        </p:txBody>
      </p:sp>
    </p:spTree>
    <p:extLst>
      <p:ext uri="{BB962C8B-B14F-4D97-AF65-F5344CB8AC3E}">
        <p14:creationId xmlns:p14="http://schemas.microsoft.com/office/powerpoint/2010/main" val="16198775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8485910-B6A2-4F0C-A118-586107C18DD0}"/>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CONFIGURATION</a:t>
            </a:r>
          </a:p>
        </p:txBody>
      </p:sp>
      <p:sp>
        <p:nvSpPr>
          <p:cNvPr id="2" name="Rectangle 1">
            <a:extLst xmlns:a="http://schemas.openxmlformats.org/drawingml/2006/main">
              <a:ext uri="{FF2B5EF4-FFF2-40B4-BE49-F238E27FC236}">
                <a16:creationId xmlns:a16="http://schemas.microsoft.com/office/drawing/2014/main" id="{20378722-CA83-42AD-85C2-0F1D855B3899}"/>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Technology choices and selection rationale</a:t>
            </a:r>
          </a:p>
        </p:txBody>
      </p:sp>
      <p:sp>
        <p:nvSpPr>
          <p:cNvPr id="3" name="Rectangle 2">
            <a:extLst xmlns:a="http://schemas.openxmlformats.org/drawingml/2006/main">
              <a:ext uri="{FF2B5EF4-FFF2-40B4-BE49-F238E27FC236}">
                <a16:creationId xmlns:a16="http://schemas.microsoft.com/office/drawing/2014/main" id="{B2E389F2-DBAB-4D68-80A6-D0C3F9324282}"/>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Pinned versions reproduce the virtual SDN stack and preserve Ryu compatibility</a:t>
            </a:r>
          </a:p>
        </p:txBody>
      </p:sp>
      <p:sp>
        <p:nvSpPr>
          <p:cNvPr id="4" name="Rectangle 3">
            <a:extLst xmlns:a="http://schemas.openxmlformats.org/drawingml/2006/main">
              <a:ext uri="{FF2B5EF4-FFF2-40B4-BE49-F238E27FC236}">
                <a16:creationId xmlns:a16="http://schemas.microsoft.com/office/drawing/2014/main" id="{E984A1A0-A3FB-4716-ABF8-3BFC1DD2B7C0}"/>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2962D6C7-C3CC-4410-BC1B-776C02C5CCEC}"/>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17165D1-2049-4316-96C6-8DE17A2AAA87}"/>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6BA94270-5CC3-400D-AB22-E599E0945BB6}"/>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06</a:t>
            </a:r>
          </a:p>
        </p:txBody>
      </p:sp>
      <p:graphicFrame>
        <p:nvGraphicFramePr>
          <p:cNvPr id="18" name="Table 15"/>
          <p:cNvGraphicFramePr/>
          <p:nvPr/>
        </p:nvGraphicFramePr>
        <p:xfrm>
          <a:off xmlns:a="http://schemas.openxmlformats.org/drawingml/2006/main" x="590550" y="1714500"/>
          <a:ext xmlns:a="http://schemas.openxmlformats.org/drawingml/2006/main" cx="11010900" cy="4575335"/>
        </p:xfrm>
        <a:graphic xmlns:a="http://schemas.openxmlformats.org/drawingml/2006/main">
          <a:graphicData uri="http://schemas.openxmlformats.org/drawingml/2006/table">
            <a:tbl>
              <a:tblPr/>
              <a:tblGrid>
                <a:gridCol w="1352550"/>
                <a:gridCol w="1809750"/>
                <a:gridCol w="2876550"/>
                <a:gridCol w="4972050"/>
              </a:tblGrid>
              <a:tr h="531019">
                <a:tc>
                  <a:txBody>
                    <a:bodyPr/>
                    <a:lstStyle/>
                    <a:p>
                      <a:r>
                        <a:rPr b="1">
                          <a:solidFill>
                            <a:srgbClr val="FFFFFF"/>
                          </a:solidFill>
                          <a:latin typeface="Calibri"/>
                          <a:ea typeface="Calibri"/>
                          <a:cs typeface="Calibri"/>
                        </a:rPr>
                        <a:t>Layer</a:t>
                      </a:r>
                    </a:p>
                  </a:txBody>
                  <a:tcPr marL="91440" marR="91440" marT="45720" marB="45720">
                    <a:solidFill>
                      <a:srgbClr val="21295C"/>
                    </a:solidFill>
                  </a:tcPr>
                </a:tc>
                <a:tc>
                  <a:txBody>
                    <a:bodyPr/>
                    <a:lstStyle/>
                    <a:p>
                      <a:r>
                        <a:rPr b="1">
                          <a:solidFill>
                            <a:srgbClr val="FFFFFF"/>
                          </a:solidFill>
                          <a:latin typeface="Calibri"/>
                          <a:ea typeface="Calibri"/>
                          <a:cs typeface="Calibri"/>
                        </a:rPr>
                        <a:t>Choice</a:t>
                      </a:r>
                    </a:p>
                  </a:txBody>
                  <a:tcPr marL="91440" marR="91440" marT="45720" marB="45720">
                    <a:solidFill>
                      <a:srgbClr val="21295C"/>
                    </a:solidFill>
                  </a:tcPr>
                </a:tc>
                <a:tc>
                  <a:txBody>
                    <a:bodyPr/>
                    <a:lstStyle/>
                    <a:p>
                      <a:r>
                        <a:rPr b="1">
                          <a:solidFill>
                            <a:srgbClr val="FFFFFF"/>
                          </a:solidFill>
                          <a:latin typeface="Calibri"/>
                          <a:ea typeface="Calibri"/>
                          <a:cs typeface="Calibri"/>
                        </a:rPr>
                        <a:t>Role in the system</a:t>
                      </a:r>
                    </a:p>
                  </a:txBody>
                  <a:tcPr marL="91440" marR="91440" marT="45720" marB="45720">
                    <a:solidFill>
                      <a:srgbClr val="21295C"/>
                    </a:solidFill>
                  </a:tcPr>
                </a:tc>
                <a:tc>
                  <a:txBody>
                    <a:bodyPr/>
                    <a:lstStyle/>
                    <a:p>
                      <a:r>
                        <a:rPr b="1">
                          <a:solidFill>
                            <a:srgbClr val="FFFFFF"/>
                          </a:solidFill>
                          <a:latin typeface="Calibri"/>
                          <a:ea typeface="Calibri"/>
                          <a:cs typeface="Calibri"/>
                        </a:rPr>
                        <a:t>Selection rationale</a:t>
                      </a:r>
                    </a:p>
                  </a:txBody>
                  <a:tcPr marL="91440" marR="91440" marT="45720" marB="45720">
                    <a:solidFill>
                      <a:srgbClr val="21295C"/>
                    </a:solidFill>
                  </a:tcPr>
                </a:tc>
              </a:tr>
              <a:tr h="531019">
                <a:tc>
                  <a:txBody>
                    <a:bodyPr/>
                    <a:lstStyle/>
                    <a:p>
                      <a:r>
                        <a:rPr b="1">
                          <a:solidFill>
                            <a:srgbClr val="172333"/>
                          </a:solidFill>
                          <a:latin typeface="Calibri"/>
                          <a:ea typeface="Calibri"/>
                          <a:cs typeface="Calibri"/>
                        </a:rPr>
                        <a:t>Container</a:t>
                      </a:r>
                    </a:p>
                  </a:txBody>
                  <a:tcPr marL="91440" marR="91440" marT="45720" marB="45720">
                    <a:solidFill>
                      <a:srgbClr val="FFFFFF"/>
                    </a:solidFill>
                  </a:tcPr>
                </a:tc>
                <a:tc>
                  <a:txBody>
                    <a:bodyPr/>
                    <a:lstStyle/>
                    <a:p>
                      <a:r>
                        <a:rPr b="0">
                          <a:solidFill>
                            <a:srgbClr val="172333"/>
                          </a:solidFill>
                          <a:latin typeface="Calibri"/>
                          <a:ea typeface="Calibri"/>
                          <a:cs typeface="Calibri"/>
                        </a:rPr>
                        <a:t>Ubuntu 22.04</a:t>
                      </a:r>
                    </a:p>
                  </a:txBody>
                  <a:tcPr marL="91440" marR="91440" marT="45720" marB="45720">
                    <a:solidFill>
                      <a:srgbClr val="FFFFFF"/>
                    </a:solidFill>
                  </a:tcPr>
                </a:tc>
                <a:tc>
                  <a:txBody>
                    <a:bodyPr/>
                    <a:lstStyle/>
                    <a:p>
                      <a:r>
                        <a:rPr b="0">
                          <a:solidFill>
                            <a:srgbClr val="172333"/>
                          </a:solidFill>
                          <a:latin typeface="Calibri"/>
                          <a:ea typeface="Calibri"/>
                          <a:cs typeface="Calibri"/>
                        </a:rPr>
                        <a:t>Linux network environment</a:t>
                      </a:r>
                    </a:p>
                  </a:txBody>
                  <a:tcPr marL="91440" marR="91440" marT="45720" marB="45720">
                    <a:solidFill>
                      <a:srgbClr val="FFFFFF"/>
                    </a:solidFill>
                  </a:tcPr>
                </a:tc>
                <a:tc>
                  <a:txBody>
                    <a:bodyPr/>
                    <a:lstStyle/>
                    <a:p>
                      <a:r>
                        <a:rPr b="0">
                          <a:solidFill>
                            <a:srgbClr val="172333"/>
                          </a:solidFill>
                          <a:latin typeface="Calibri"/>
                          <a:ea typeface="Calibri"/>
                          <a:cs typeface="Calibri"/>
                        </a:rPr>
                        <a:t>Provides Linux networking for Mininet and Open vSwitch.</a:t>
                      </a:r>
                    </a:p>
                  </a:txBody>
                  <a:tcPr marL="91440" marR="91440" marT="45720" marB="45720">
                    <a:solidFill>
                      <a:srgbClr val="FFFFFF"/>
                    </a:solidFill>
                  </a:tcPr>
                </a:tc>
              </a:tr>
              <a:tr h="531019">
                <a:tc>
                  <a:txBody>
                    <a:bodyPr/>
                    <a:lstStyle/>
                    <a:p>
                      <a:r>
                        <a:rPr b="1">
                          <a:solidFill>
                            <a:srgbClr val="172333"/>
                          </a:solidFill>
                          <a:latin typeface="Calibri"/>
                          <a:ea typeface="Calibri"/>
                          <a:cs typeface="Calibri"/>
                        </a:rPr>
                        <a:t>Runtime</a:t>
                      </a:r>
                    </a:p>
                  </a:txBody>
                  <a:tcPr marL="91440" marR="91440" marT="45720" marB="45720">
                    <a:solidFill>
                      <a:srgbClr val="F4F7F9"/>
                    </a:solidFill>
                  </a:tcPr>
                </a:tc>
                <a:tc>
                  <a:txBody>
                    <a:bodyPr/>
                    <a:lstStyle/>
                    <a:p>
                      <a:r>
                        <a:rPr b="0">
                          <a:solidFill>
                            <a:srgbClr val="172333"/>
                          </a:solidFill>
                          <a:latin typeface="Calibri"/>
                          <a:ea typeface="Calibri"/>
                          <a:cs typeface="Calibri"/>
                        </a:rPr>
                        <a:t>Python 3.9.25</a:t>
                      </a:r>
                    </a:p>
                  </a:txBody>
                  <a:tcPr marL="91440" marR="91440" marT="45720" marB="45720">
                    <a:solidFill>
                      <a:srgbClr val="F4F7F9"/>
                    </a:solidFill>
                  </a:tcPr>
                </a:tc>
                <a:tc>
                  <a:txBody>
                    <a:bodyPr/>
                    <a:lstStyle/>
                    <a:p>
                      <a:r>
                        <a:rPr b="0">
                          <a:solidFill>
                            <a:srgbClr val="172333"/>
                          </a:solidFill>
                          <a:latin typeface="Calibri"/>
                          <a:ea typeface="Calibri"/>
                          <a:cs typeface="Calibri"/>
                        </a:rPr>
                        <a:t>Runs project services</a:t>
                      </a:r>
                    </a:p>
                  </a:txBody>
                  <a:tcPr marL="91440" marR="91440" marT="45720" marB="45720">
                    <a:solidFill>
                      <a:srgbClr val="F4F7F9"/>
                    </a:solidFill>
                  </a:tcPr>
                </a:tc>
                <a:tc>
                  <a:txBody>
                    <a:bodyPr/>
                    <a:lstStyle/>
                    <a:p>
                      <a:r>
                        <a:rPr b="0">
                          <a:solidFill>
                            <a:srgbClr val="172333"/>
                          </a:solidFill>
                          <a:latin typeface="Calibri"/>
                          <a:ea typeface="Calibri"/>
                          <a:cs typeface="Calibri"/>
                        </a:rPr>
                        <a:t>Compatible with Ryu 4.34 and legacy eventlet.</a:t>
                      </a:r>
                    </a:p>
                  </a:txBody>
                  <a:tcPr marL="91440" marR="91440" marT="45720" marB="45720">
                    <a:solidFill>
                      <a:srgbClr val="F4F7F9"/>
                    </a:solidFill>
                  </a:tcPr>
                </a:tc>
              </a:tr>
              <a:tr h="531019">
                <a:tc>
                  <a:txBody>
                    <a:bodyPr/>
                    <a:lstStyle/>
                    <a:p>
                      <a:r>
                        <a:rPr b="1">
                          <a:solidFill>
                            <a:srgbClr val="172333"/>
                          </a:solidFill>
                          <a:latin typeface="Calibri"/>
                          <a:ea typeface="Calibri"/>
                          <a:cs typeface="Calibri"/>
                        </a:rPr>
                        <a:t>Controller</a:t>
                      </a:r>
                    </a:p>
                  </a:txBody>
                  <a:tcPr marL="91440" marR="91440" marT="45720" marB="45720">
                    <a:solidFill>
                      <a:srgbClr val="FFFFFF"/>
                    </a:solidFill>
                  </a:tcPr>
                </a:tc>
                <a:tc>
                  <a:txBody>
                    <a:bodyPr/>
                    <a:lstStyle/>
                    <a:p>
                      <a:r>
                        <a:rPr b="0">
                          <a:solidFill>
                            <a:srgbClr val="172333"/>
                          </a:solidFill>
                          <a:latin typeface="Calibri"/>
                          <a:ea typeface="Calibri"/>
                          <a:cs typeface="Calibri"/>
                        </a:rPr>
                        <a:t>Ryu 4.34</a:t>
                      </a:r>
                    </a:p>
                  </a:txBody>
                  <a:tcPr marL="91440" marR="91440" marT="45720" marB="45720">
                    <a:solidFill>
                      <a:srgbClr val="FFFFFF"/>
                    </a:solidFill>
                  </a:tcPr>
                </a:tc>
                <a:tc>
                  <a:txBody>
                    <a:bodyPr/>
                    <a:lstStyle/>
                    <a:p>
                      <a:r>
                        <a:rPr b="0">
                          <a:solidFill>
                            <a:srgbClr val="172333"/>
                          </a:solidFill>
                          <a:latin typeface="Calibri"/>
                          <a:ea typeface="Calibri"/>
                          <a:cs typeface="Calibri"/>
                        </a:rPr>
                        <a:t>Programs OVS switches</a:t>
                      </a:r>
                    </a:p>
                  </a:txBody>
                  <a:tcPr marL="91440" marR="91440" marT="45720" marB="45720">
                    <a:solidFill>
                      <a:srgbClr val="FFFFFF"/>
                    </a:solidFill>
                  </a:tcPr>
                </a:tc>
                <a:tc>
                  <a:txBody>
                    <a:bodyPr/>
                    <a:lstStyle/>
                    <a:p>
                      <a:r>
                        <a:rPr b="0">
                          <a:solidFill>
                            <a:srgbClr val="172333"/>
                          </a:solidFill>
                          <a:latin typeface="Calibri"/>
                          <a:ea typeface="Calibri"/>
                          <a:cs typeface="Calibri"/>
                        </a:rPr>
                        <a:t>Python controller with OpenFlow 1.3 support.</a:t>
                      </a:r>
                    </a:p>
                  </a:txBody>
                  <a:tcPr marL="91440" marR="91440" marT="45720" marB="45720">
                    <a:solidFill>
                      <a:srgbClr val="FFFFFF"/>
                    </a:solidFill>
                  </a:tcPr>
                </a:tc>
              </a:tr>
              <a:tr h="531019">
                <a:tc>
                  <a:txBody>
                    <a:bodyPr/>
                    <a:lstStyle/>
                    <a:p>
                      <a:r>
                        <a:rPr b="1">
                          <a:solidFill>
                            <a:srgbClr val="172333"/>
                          </a:solidFill>
                          <a:latin typeface="Calibri"/>
                          <a:ea typeface="Calibri"/>
                          <a:cs typeface="Calibri"/>
                        </a:rPr>
                        <a:t>Network</a:t>
                      </a:r>
                    </a:p>
                  </a:txBody>
                  <a:tcPr marL="91440" marR="91440" marT="45720" marB="45720">
                    <a:solidFill>
                      <a:srgbClr val="F4F7F9"/>
                    </a:solidFill>
                  </a:tcPr>
                </a:tc>
                <a:tc>
                  <a:txBody>
                    <a:bodyPr/>
                    <a:lstStyle/>
                    <a:p>
                      <a:r>
                        <a:rPr b="0">
                          <a:solidFill>
                            <a:srgbClr val="172333"/>
                          </a:solidFill>
                          <a:latin typeface="Calibri"/>
                          <a:ea typeface="Calibri"/>
                          <a:cs typeface="Calibri"/>
                        </a:rPr>
                        <a:t>Mininet 2.3.1b4</a:t>
                      </a:r>
                    </a:p>
                  </a:txBody>
                  <a:tcPr marL="91440" marR="91440" marT="45720" marB="45720">
                    <a:solidFill>
                      <a:srgbClr val="F4F7F9"/>
                    </a:solidFill>
                  </a:tcPr>
                </a:tc>
                <a:tc>
                  <a:txBody>
                    <a:bodyPr/>
                    <a:lstStyle/>
                    <a:p>
                      <a:r>
                        <a:rPr b="0">
                          <a:solidFill>
                            <a:srgbClr val="172333"/>
                          </a:solidFill>
                          <a:latin typeface="Calibri"/>
                          <a:ea typeface="Calibri"/>
                          <a:cs typeface="Calibri"/>
                        </a:rPr>
                        <a:t>Creates the virtual topology</a:t>
                      </a:r>
                    </a:p>
                  </a:txBody>
                  <a:tcPr marL="91440" marR="91440" marT="45720" marB="45720">
                    <a:solidFill>
                      <a:srgbClr val="F4F7F9"/>
                    </a:solidFill>
                  </a:tcPr>
                </a:tc>
                <a:tc>
                  <a:txBody>
                    <a:bodyPr/>
                    <a:lstStyle/>
                    <a:p>
                      <a:r>
                        <a:rPr b="0">
                          <a:solidFill>
                            <a:srgbClr val="172333"/>
                          </a:solidFill>
                          <a:latin typeface="Calibri"/>
                          <a:ea typeface="Calibri"/>
                          <a:cs typeface="Calibri"/>
                        </a:rPr>
                        <a:t>Runs the complete test network on one machine.</a:t>
                      </a:r>
                    </a:p>
                  </a:txBody>
                  <a:tcPr marL="91440" marR="91440" marT="45720" marB="45720">
                    <a:solidFill>
                      <a:srgbClr val="F4F7F9"/>
                    </a:solidFill>
                  </a:tcPr>
                </a:tc>
              </a:tr>
              <a:tr h="531019">
                <a:tc>
                  <a:txBody>
                    <a:bodyPr/>
                    <a:lstStyle/>
                    <a:p>
                      <a:r>
                        <a:rPr b="1">
                          <a:solidFill>
                            <a:srgbClr val="172333"/>
                          </a:solidFill>
                          <a:latin typeface="Calibri"/>
                          <a:ea typeface="Calibri"/>
                          <a:cs typeface="Calibri"/>
                        </a:rPr>
                        <a:t>Switch</a:t>
                      </a:r>
                    </a:p>
                  </a:txBody>
                  <a:tcPr marL="91440" marR="91440" marT="45720" marB="45720">
                    <a:solidFill>
                      <a:srgbClr val="FFFFFF"/>
                    </a:solidFill>
                  </a:tcPr>
                </a:tc>
                <a:tc>
                  <a:txBody>
                    <a:bodyPr/>
                    <a:lstStyle/>
                    <a:p>
                      <a:r>
                        <a:rPr b="0">
                          <a:solidFill>
                            <a:srgbClr val="172333"/>
                          </a:solidFill>
                          <a:latin typeface="Calibri"/>
                          <a:ea typeface="Calibri"/>
                          <a:cs typeface="Calibri"/>
                        </a:rPr>
                        <a:t>Open vSwitch 2.17</a:t>
                      </a:r>
                    </a:p>
                  </a:txBody>
                  <a:tcPr marL="91440" marR="91440" marT="45720" marB="45720">
                    <a:solidFill>
                      <a:srgbClr val="FFFFFF"/>
                    </a:solidFill>
                  </a:tcPr>
                </a:tc>
                <a:tc>
                  <a:txBody>
                    <a:bodyPr/>
                    <a:lstStyle/>
                    <a:p>
                      <a:r>
                        <a:rPr b="0">
                          <a:solidFill>
                            <a:srgbClr val="172333"/>
                          </a:solidFill>
                          <a:latin typeface="Calibri"/>
                          <a:ea typeface="Calibri"/>
                          <a:cs typeface="Calibri"/>
                        </a:rPr>
                        <a:t>Provides the OpenFlow data plane</a:t>
                      </a:r>
                    </a:p>
                  </a:txBody>
                  <a:tcPr marL="91440" marR="91440" marT="45720" marB="45720">
                    <a:solidFill>
                      <a:srgbClr val="FFFFFF"/>
                    </a:solidFill>
                  </a:tcPr>
                </a:tc>
                <a:tc>
                  <a:txBody>
                    <a:bodyPr/>
                    <a:lstStyle/>
                    <a:p>
                      <a:r>
                        <a:rPr b="0">
                          <a:solidFill>
                            <a:srgbClr val="172333"/>
                          </a:solidFill>
                          <a:latin typeface="Calibri"/>
                          <a:ea typeface="Calibri"/>
                          <a:cs typeface="Calibri"/>
                        </a:rPr>
                        <a:t>Works with Mininet, Ryu and OpenFlow 1.3.</a:t>
                      </a:r>
                    </a:p>
                  </a:txBody>
                  <a:tcPr marL="91440" marR="91440" marT="45720" marB="45720">
                    <a:solidFill>
                      <a:srgbClr val="FFFFFF"/>
                    </a:solidFill>
                  </a:tcPr>
                </a:tc>
              </a:tr>
              <a:tr h="531019">
                <a:tc>
                  <a:txBody>
                    <a:bodyPr/>
                    <a:lstStyle/>
                    <a:p>
                      <a:r>
                        <a:rPr b="1">
                          <a:solidFill>
                            <a:srgbClr val="172333"/>
                          </a:solidFill>
                          <a:latin typeface="Calibri"/>
                          <a:ea typeface="Calibri"/>
                          <a:cs typeface="Calibri"/>
                        </a:rPr>
                        <a:t>REST API</a:t>
                      </a:r>
                    </a:p>
                  </a:txBody>
                  <a:tcPr marL="91440" marR="91440" marT="45720" marB="45720">
                    <a:solidFill>
                      <a:srgbClr val="F4F7F9"/>
                    </a:solidFill>
                  </a:tcPr>
                </a:tc>
                <a:tc>
                  <a:txBody>
                    <a:bodyPr/>
                    <a:lstStyle/>
                    <a:p>
                      <a:r>
                        <a:rPr b="0">
                          <a:solidFill>
                            <a:srgbClr val="172333"/>
                          </a:solidFill>
                          <a:latin typeface="Calibri"/>
                          <a:ea typeface="Calibri"/>
                          <a:cs typeface="Calibri"/>
                        </a:rPr>
                        <a:t>FastAPI 0.95.2</a:t>
                      </a:r>
                    </a:p>
                  </a:txBody>
                  <a:tcPr marL="91440" marR="91440" marT="45720" marB="45720">
                    <a:solidFill>
                      <a:srgbClr val="F4F7F9"/>
                    </a:solidFill>
                  </a:tcPr>
                </a:tc>
                <a:tc>
                  <a:txBody>
                    <a:bodyPr/>
                    <a:lstStyle/>
                    <a:p>
                      <a:r>
                        <a:rPr b="0">
                          <a:solidFill>
                            <a:srgbClr val="172333"/>
                          </a:solidFill>
                          <a:latin typeface="Calibri"/>
                          <a:ea typeface="Calibri"/>
                          <a:cs typeface="Calibri"/>
                        </a:rPr>
                        <a:t>Exposes the intent interface</a:t>
                      </a:r>
                    </a:p>
                  </a:txBody>
                  <a:tcPr marL="91440" marR="91440" marT="45720" marB="45720">
                    <a:solidFill>
                      <a:srgbClr val="F4F7F9"/>
                    </a:solidFill>
                  </a:tcPr>
                </a:tc>
                <a:tc>
                  <a:txBody>
                    <a:bodyPr/>
                    <a:lstStyle/>
                    <a:p>
                      <a:r>
                        <a:rPr b="0">
                          <a:solidFill>
                            <a:srgbClr val="172333"/>
                          </a:solidFill>
                          <a:latin typeface="Calibri"/>
                          <a:ea typeface="Calibri"/>
                          <a:cs typeface="Calibri"/>
                        </a:rPr>
                        <a:t>Typed HTTP API that is straightforward to test.</a:t>
                      </a:r>
                    </a:p>
                  </a:txBody>
                  <a:tcPr marL="91440" marR="91440" marT="45720" marB="45720">
                    <a:solidFill>
                      <a:srgbClr val="F4F7F9"/>
                    </a:solidFill>
                  </a:tcPr>
                </a:tc>
              </a:tr>
              <a:tr h="531019">
                <a:tc>
                  <a:txBody>
                    <a:bodyPr/>
                    <a:lstStyle/>
                    <a:p>
                      <a:r>
                        <a:rPr b="1">
                          <a:solidFill>
                            <a:srgbClr val="172333"/>
                          </a:solidFill>
                          <a:latin typeface="Calibri"/>
                          <a:ea typeface="Calibri"/>
                          <a:cs typeface="Calibri"/>
                        </a:rPr>
                        <a:t>Graph</a:t>
                      </a:r>
                    </a:p>
                  </a:txBody>
                  <a:tcPr marL="91440" marR="91440" marT="45720" marB="45720">
                    <a:solidFill>
                      <a:srgbClr val="FFFFFF"/>
                    </a:solidFill>
                  </a:tcPr>
                </a:tc>
                <a:tc>
                  <a:txBody>
                    <a:bodyPr/>
                    <a:lstStyle/>
                    <a:p>
                      <a:r>
                        <a:rPr b="0">
                          <a:solidFill>
                            <a:srgbClr val="172333"/>
                          </a:solidFill>
                          <a:latin typeface="Calibri"/>
                          <a:ea typeface="Calibri"/>
                          <a:cs typeface="Calibri"/>
                        </a:rPr>
                        <a:t>NetworkX 2.8.8</a:t>
                      </a:r>
                    </a:p>
                  </a:txBody>
                  <a:tcPr marL="91440" marR="91440" marT="45720" marB="45720">
                    <a:solidFill>
                      <a:srgbClr val="FFFFFF"/>
                    </a:solidFill>
                  </a:tcPr>
                </a:tc>
                <a:tc>
                  <a:txBody>
                    <a:bodyPr/>
                    <a:lstStyle/>
                    <a:p>
                      <a:r>
                        <a:rPr b="0">
                          <a:solidFill>
                            <a:srgbClr val="172333"/>
                          </a:solidFill>
                          <a:latin typeface="Calibri"/>
                          <a:ea typeface="Calibri"/>
                          <a:cs typeface="Calibri"/>
                        </a:rPr>
                        <a:t>Computes candidate paths</a:t>
                      </a:r>
                    </a:p>
                  </a:txBody>
                  <a:tcPr marL="91440" marR="91440" marT="45720" marB="45720">
                    <a:solidFill>
                      <a:srgbClr val="FFFFFF"/>
                    </a:solidFill>
                  </a:tcPr>
                </a:tc>
                <a:tc>
                  <a:txBody>
                    <a:bodyPr/>
                    <a:lstStyle/>
                    <a:p>
                      <a:r>
                        <a:rPr b="0">
                          <a:solidFill>
                            <a:srgbClr val="172333"/>
                          </a:solidFill>
                          <a:latin typeface="Calibri"/>
                          <a:ea typeface="Calibri"/>
                          <a:cs typeface="Calibri"/>
                        </a:rPr>
                        <a:t>Uses tested path algorithms instead of custom graph code.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467206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C9620BA0-5967-4B14-8056-6A1F864D6983}"/>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CONFIGURATION</a:t>
            </a:r>
          </a:p>
        </p:txBody>
      </p:sp>
      <p:sp>
        <p:nvSpPr>
          <p:cNvPr id="2" name="Rectangle 1">
            <a:extLst xmlns:a="http://schemas.openxmlformats.org/drawingml/2006/main">
              <a:ext uri="{FF2B5EF4-FFF2-40B4-BE49-F238E27FC236}">
                <a16:creationId xmlns:a16="http://schemas.microsoft.com/office/drawing/2014/main" id="{8FF1EF1B-25A7-4013-8732-2C98241A4AF9}"/>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Network topology and route characteristics</a:t>
            </a:r>
          </a:p>
        </p:txBody>
      </p:sp>
      <p:sp>
        <p:nvSpPr>
          <p:cNvPr id="3" name="Rectangle 2">
            <a:extLst xmlns:a="http://schemas.openxmlformats.org/drawingml/2006/main">
              <a:ext uri="{FF2B5EF4-FFF2-40B4-BE49-F238E27FC236}">
                <a16:creationId xmlns:a16="http://schemas.microsoft.com/office/drawing/2014/main" id="{C7F027EC-98A7-49EB-92A4-1D272951F602}"/>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Seven switches, eight hosts and one Ryu controller expose three unequal link-disjoint routes</a:t>
            </a:r>
          </a:p>
        </p:txBody>
      </p:sp>
      <p:sp>
        <p:nvSpPr>
          <p:cNvPr id="4" name="Rectangle 3">
            <a:extLst xmlns:a="http://schemas.openxmlformats.org/drawingml/2006/main">
              <a:ext uri="{FF2B5EF4-FFF2-40B4-BE49-F238E27FC236}">
                <a16:creationId xmlns:a16="http://schemas.microsoft.com/office/drawing/2014/main" id="{B67533A4-0128-4844-9CC3-F52FEBA41E2C}"/>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F87DA987-CC7B-4A44-BF83-F2B447C6C145}"/>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317C5C6-B372-4FA6-BA13-0C0B220F6918}"/>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5443ED25-9D7B-4215-AB48-03FA8F996A7E}"/>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07</a:t>
            </a:r>
          </a:p>
        </p:txBody>
      </p:sp>
      <p:graphicFrame>
        <p:nvGraphicFramePr>
          <p:cNvPr id="28" name="Table 25"/>
          <p:cNvGraphicFramePr/>
          <p:nvPr/>
        </p:nvGraphicFramePr>
        <p:xfrm>
          <a:off xmlns:a="http://schemas.openxmlformats.org/drawingml/2006/main" x="685800" y="1752600"/>
          <a:ext xmlns:a="http://schemas.openxmlformats.org/drawingml/2006/main" cx="10820400" cy="2076452"/>
        </p:xfrm>
        <a:graphic xmlns:a="http://schemas.openxmlformats.org/drawingml/2006/main">
          <a:graphicData uri="http://schemas.openxmlformats.org/drawingml/2006/table">
            <a:tbl>
              <a:tblPr/>
              <a:tblGrid>
                <a:gridCol w="1428750"/>
                <a:gridCol w="3714750"/>
                <a:gridCol w="2000250"/>
                <a:gridCol w="1809750"/>
                <a:gridCol w="1866900"/>
              </a:tblGrid>
              <a:tr h="519113">
                <a:tc>
                  <a:txBody>
                    <a:bodyPr/>
                    <a:lstStyle/>
                    <a:p>
                      <a:r>
                        <a:rPr b="1">
                          <a:solidFill>
                            <a:srgbClr val="FFFFFF"/>
                          </a:solidFill>
                          <a:latin typeface="Calibri"/>
                          <a:ea typeface="Calibri"/>
                          <a:cs typeface="Calibri"/>
                        </a:rPr>
                        <a:t>Route</a:t>
                      </a:r>
                    </a:p>
                  </a:txBody>
                  <a:tcPr marL="91440" marR="91440" marT="45720" marB="45720">
                    <a:solidFill>
                      <a:srgbClr val="21295C"/>
                    </a:solidFill>
                  </a:tcPr>
                </a:tc>
                <a:tc>
                  <a:txBody>
                    <a:bodyPr/>
                    <a:lstStyle/>
                    <a:p>
                      <a:r>
                        <a:rPr b="1">
                          <a:solidFill>
                            <a:srgbClr val="FFFFFF"/>
                          </a:solidFill>
                          <a:latin typeface="Calibri"/>
                          <a:ea typeface="Calibri"/>
                          <a:cs typeface="Calibri"/>
                        </a:rPr>
                        <a:t>Path</a:t>
                      </a:r>
                    </a:p>
                  </a:txBody>
                  <a:tcPr marL="91440" marR="91440" marT="45720" marB="45720">
                    <a:solidFill>
                      <a:srgbClr val="21295C"/>
                    </a:solidFill>
                  </a:tcPr>
                </a:tc>
                <a:tc>
                  <a:txBody>
                    <a:bodyPr/>
                    <a:lstStyle/>
                    <a:p>
                      <a:r>
                        <a:rPr b="1">
                          <a:solidFill>
                            <a:srgbClr val="FFFFFF"/>
                          </a:solidFill>
                          <a:latin typeface="Calibri"/>
                          <a:ea typeface="Calibri"/>
                          <a:cs typeface="Calibri"/>
                        </a:rPr>
                        <a:t>Bottleneck</a:t>
                      </a:r>
                    </a:p>
                  </a:txBody>
                  <a:tcPr marL="91440" marR="91440" marT="45720" marB="45720">
                    <a:solidFill>
                      <a:srgbClr val="21295C"/>
                    </a:solidFill>
                  </a:tcPr>
                </a:tc>
                <a:tc>
                  <a:txBody>
                    <a:bodyPr/>
                    <a:lstStyle/>
                    <a:p>
                      <a:r>
                        <a:rPr b="1">
                          <a:solidFill>
                            <a:srgbClr val="FFFFFF"/>
                          </a:solidFill>
                          <a:latin typeface="Calibri"/>
                          <a:ea typeface="Calibri"/>
                          <a:cs typeface="Calibri"/>
                        </a:rPr>
                        <a:t>One-way</a:t>
                      </a:r>
                    </a:p>
                  </a:txBody>
                  <a:tcPr marL="91440" marR="91440" marT="45720" marB="45720">
                    <a:solidFill>
                      <a:srgbClr val="21295C"/>
                    </a:solidFill>
                  </a:tcPr>
                </a:tc>
                <a:tc>
                  <a:txBody>
                    <a:bodyPr/>
                    <a:lstStyle/>
                    <a:p>
                      <a:r>
                        <a:rPr b="1">
                          <a:solidFill>
                            <a:srgbClr val="FFFFFF"/>
                          </a:solidFill>
                          <a:latin typeface="Calibri"/>
                          <a:ea typeface="Calibri"/>
                          <a:cs typeface="Calibri"/>
                        </a:rPr>
                        <a:t>Round trip</a:t>
                      </a:r>
                    </a:p>
                  </a:txBody>
                  <a:tcPr marL="91440" marR="91440" marT="45720" marB="45720">
                    <a:solidFill>
                      <a:srgbClr val="21295C"/>
                    </a:solidFill>
                  </a:tcPr>
                </a:tc>
              </a:tr>
              <a:tr h="519113">
                <a:tc>
                  <a:txBody>
                    <a:bodyPr/>
                    <a:lstStyle/>
                    <a:p>
                      <a:r>
                        <a:rPr b="1">
                          <a:solidFill>
                            <a:srgbClr val="172333"/>
                          </a:solidFill>
                          <a:latin typeface="Calibri"/>
                          <a:ea typeface="Calibri"/>
                          <a:cs typeface="Calibri"/>
                        </a:rPr>
                        <a:t>Northern</a:t>
                      </a:r>
                    </a:p>
                  </a:txBody>
                  <a:tcPr marL="91440" marR="91440" marT="45720" marB="45720">
                    <a:solidFill>
                      <a:srgbClr val="FFFFFF"/>
                    </a:solidFill>
                  </a:tcPr>
                </a:tc>
                <a:tc>
                  <a:txBody>
                    <a:bodyPr/>
                    <a:lstStyle/>
                    <a:p>
                      <a:r>
                        <a:rPr b="0">
                          <a:solidFill>
                            <a:srgbClr val="172333"/>
                          </a:solidFill>
                          <a:latin typeface="Calibri"/>
                          <a:ea typeface="Calibri"/>
                          <a:cs typeface="Calibri"/>
                        </a:rPr>
                        <a:t>s1 - s2 - s3 - s7</a:t>
                      </a:r>
                    </a:p>
                  </a:txBody>
                  <a:tcPr marL="91440" marR="91440" marT="45720" marB="45720">
                    <a:solidFill>
                      <a:srgbClr val="FFFFFF"/>
                    </a:solidFill>
                  </a:tcPr>
                </a:tc>
                <a:tc>
                  <a:txBody>
                    <a:bodyPr/>
                    <a:lstStyle/>
                    <a:p>
                      <a:r>
                        <a:rPr b="0">
                          <a:solidFill>
                            <a:srgbClr val="172333"/>
                          </a:solidFill>
                          <a:latin typeface="Calibri"/>
                          <a:ea typeface="Calibri"/>
                          <a:cs typeface="Calibri"/>
                        </a:rPr>
                        <a:t>100 Mbps</a:t>
                      </a:r>
                    </a:p>
                  </a:txBody>
                  <a:tcPr marL="91440" marR="91440" marT="45720" marB="45720">
                    <a:solidFill>
                      <a:srgbClr val="FFFFFF"/>
                    </a:solidFill>
                  </a:tcPr>
                </a:tc>
                <a:tc>
                  <a:txBody>
                    <a:bodyPr/>
                    <a:lstStyle/>
                    <a:p>
                      <a:r>
                        <a:rPr b="0">
                          <a:solidFill>
                            <a:srgbClr val="172333"/>
                          </a:solidFill>
                          <a:latin typeface="Calibri"/>
                          <a:ea typeface="Calibri"/>
                          <a:cs typeface="Calibri"/>
                        </a:rPr>
                        <a:t>6 ms</a:t>
                      </a:r>
                    </a:p>
                  </a:txBody>
                  <a:tcPr marL="91440" marR="91440" marT="45720" marB="45720">
                    <a:solidFill>
                      <a:srgbClr val="FFFFFF"/>
                    </a:solidFill>
                  </a:tcPr>
                </a:tc>
                <a:tc>
                  <a:txBody>
                    <a:bodyPr/>
                    <a:lstStyle/>
                    <a:p>
                      <a:r>
                        <a:rPr b="0">
                          <a:solidFill>
                            <a:srgbClr val="172333"/>
                          </a:solidFill>
                          <a:latin typeface="Calibri"/>
                          <a:ea typeface="Calibri"/>
                          <a:cs typeface="Calibri"/>
                        </a:rPr>
                        <a:t>12 ms</a:t>
                      </a:r>
                    </a:p>
                  </a:txBody>
                  <a:tcPr marL="91440" marR="91440" marT="45720" marB="45720">
                    <a:solidFill>
                      <a:srgbClr val="FFFFFF"/>
                    </a:solidFill>
                  </a:tcPr>
                </a:tc>
              </a:tr>
              <a:tr h="519113">
                <a:tc>
                  <a:txBody>
                    <a:bodyPr/>
                    <a:lstStyle/>
                    <a:p>
                      <a:r>
                        <a:rPr b="1">
                          <a:solidFill>
                            <a:srgbClr val="172333"/>
                          </a:solidFill>
                          <a:latin typeface="Calibri"/>
                          <a:ea typeface="Calibri"/>
                          <a:cs typeface="Calibri"/>
                        </a:rPr>
                        <a:t>Middle</a:t>
                      </a:r>
                    </a:p>
                  </a:txBody>
                  <a:tcPr marL="91440" marR="91440" marT="45720" marB="45720">
                    <a:solidFill>
                      <a:srgbClr val="F4F7F9"/>
                    </a:solidFill>
                  </a:tcPr>
                </a:tc>
                <a:tc>
                  <a:txBody>
                    <a:bodyPr/>
                    <a:lstStyle/>
                    <a:p>
                      <a:r>
                        <a:rPr b="0">
                          <a:solidFill>
                            <a:srgbClr val="172333"/>
                          </a:solidFill>
                          <a:latin typeface="Calibri"/>
                          <a:ea typeface="Calibri"/>
                          <a:cs typeface="Calibri"/>
                        </a:rPr>
                        <a:t>s1 - s4 - s5 - s7</a:t>
                      </a:r>
                    </a:p>
                  </a:txBody>
                  <a:tcPr marL="91440" marR="91440" marT="45720" marB="45720">
                    <a:solidFill>
                      <a:srgbClr val="F4F7F9"/>
                    </a:solidFill>
                  </a:tcPr>
                </a:tc>
                <a:tc>
                  <a:txBody>
                    <a:bodyPr/>
                    <a:lstStyle/>
                    <a:p>
                      <a:r>
                        <a:rPr b="0">
                          <a:solidFill>
                            <a:srgbClr val="172333"/>
                          </a:solidFill>
                          <a:latin typeface="Calibri"/>
                          <a:ea typeface="Calibri"/>
                          <a:cs typeface="Calibri"/>
                        </a:rPr>
                        <a:t>50 Mbps</a:t>
                      </a:r>
                    </a:p>
                  </a:txBody>
                  <a:tcPr marL="91440" marR="91440" marT="45720" marB="45720">
                    <a:solidFill>
                      <a:srgbClr val="F4F7F9"/>
                    </a:solidFill>
                  </a:tcPr>
                </a:tc>
                <a:tc>
                  <a:txBody>
                    <a:bodyPr/>
                    <a:lstStyle/>
                    <a:p>
                      <a:r>
                        <a:rPr b="0">
                          <a:solidFill>
                            <a:srgbClr val="172333"/>
                          </a:solidFill>
                          <a:latin typeface="Calibri"/>
                          <a:ea typeface="Calibri"/>
                          <a:cs typeface="Calibri"/>
                        </a:rPr>
                        <a:t>15 ms</a:t>
                      </a:r>
                    </a:p>
                  </a:txBody>
                  <a:tcPr marL="91440" marR="91440" marT="45720" marB="45720">
                    <a:solidFill>
                      <a:srgbClr val="F4F7F9"/>
                    </a:solidFill>
                  </a:tcPr>
                </a:tc>
                <a:tc>
                  <a:txBody>
                    <a:bodyPr/>
                    <a:lstStyle/>
                    <a:p>
                      <a:r>
                        <a:rPr b="0">
                          <a:solidFill>
                            <a:srgbClr val="172333"/>
                          </a:solidFill>
                          <a:latin typeface="Calibri"/>
                          <a:ea typeface="Calibri"/>
                          <a:cs typeface="Calibri"/>
                        </a:rPr>
                        <a:t>30 ms</a:t>
                      </a:r>
                    </a:p>
                  </a:txBody>
                  <a:tcPr marL="91440" marR="91440" marT="45720" marB="45720">
                    <a:solidFill>
                      <a:srgbClr val="F4F7F9"/>
                    </a:solidFill>
                  </a:tcPr>
                </a:tc>
              </a:tr>
              <a:tr h="519113">
                <a:tc>
                  <a:txBody>
                    <a:bodyPr/>
                    <a:lstStyle/>
                    <a:p>
                      <a:r>
                        <a:rPr b="1">
                          <a:solidFill>
                            <a:srgbClr val="172333"/>
                          </a:solidFill>
                          <a:latin typeface="Calibri"/>
                          <a:ea typeface="Calibri"/>
                          <a:cs typeface="Calibri"/>
                        </a:rPr>
                        <a:t>Southern</a:t>
                      </a:r>
                    </a:p>
                  </a:txBody>
                  <a:tcPr marL="91440" marR="91440" marT="45720" marB="45720">
                    <a:solidFill>
                      <a:srgbClr val="FFFFFF"/>
                    </a:solidFill>
                  </a:tcPr>
                </a:tc>
                <a:tc>
                  <a:txBody>
                    <a:bodyPr/>
                    <a:lstStyle/>
                    <a:p>
                      <a:r>
                        <a:rPr b="0">
                          <a:solidFill>
                            <a:srgbClr val="172333"/>
                          </a:solidFill>
                          <a:latin typeface="Calibri"/>
                          <a:ea typeface="Calibri"/>
                          <a:cs typeface="Calibri"/>
                        </a:rPr>
                        <a:t>s1 - s6 - s7</a:t>
                      </a:r>
                    </a:p>
                  </a:txBody>
                  <a:tcPr marL="91440" marR="91440" marT="45720" marB="45720">
                    <a:solidFill>
                      <a:srgbClr val="FFFFFF"/>
                    </a:solidFill>
                  </a:tcPr>
                </a:tc>
                <a:tc>
                  <a:txBody>
                    <a:bodyPr/>
                    <a:lstStyle/>
                    <a:p>
                      <a:r>
                        <a:rPr b="0">
                          <a:solidFill>
                            <a:srgbClr val="172333"/>
                          </a:solidFill>
                          <a:latin typeface="Calibri"/>
                          <a:ea typeface="Calibri"/>
                          <a:cs typeface="Calibri"/>
                        </a:rPr>
                        <a:t>40 Mbps</a:t>
                      </a:r>
                    </a:p>
                  </a:txBody>
                  <a:tcPr marL="91440" marR="91440" marT="45720" marB="45720">
                    <a:solidFill>
                      <a:srgbClr val="FFFFFF"/>
                    </a:solidFill>
                  </a:tcPr>
                </a:tc>
                <a:tc>
                  <a:txBody>
                    <a:bodyPr/>
                    <a:lstStyle/>
                    <a:p>
                      <a:r>
                        <a:rPr b="0">
                          <a:solidFill>
                            <a:srgbClr val="172333"/>
                          </a:solidFill>
                          <a:latin typeface="Calibri"/>
                          <a:ea typeface="Calibri"/>
                          <a:cs typeface="Calibri"/>
                        </a:rPr>
                        <a:t>24 ms</a:t>
                      </a:r>
                    </a:p>
                  </a:txBody>
                  <a:tcPr marL="91440" marR="91440" marT="45720" marB="45720">
                    <a:solidFill>
                      <a:srgbClr val="FFFFFF"/>
                    </a:solidFill>
                  </a:tcPr>
                </a:tc>
                <a:tc>
                  <a:txBody>
                    <a:bodyPr/>
                    <a:lstStyle/>
                    <a:p>
                      <a:r>
                        <a:rPr b="0">
                          <a:solidFill>
                            <a:srgbClr val="172333"/>
                          </a:solidFill>
                          <a:latin typeface="Calibri"/>
                          <a:ea typeface="Calibri"/>
                          <a:cs typeface="Calibri"/>
                        </a:rPr>
                        <a:t>48 ms</a:t>
                      </a:r>
                    </a:p>
                  </a:txBody>
                  <a:tcPr marL="91440" marR="91440" marT="45720" marB="45720">
                    <a:solidFill>
                      <a:srgbClr val="FFFFFF"/>
                    </a:solidFill>
                  </a:tcPr>
                </a:tc>
              </a:tr>
            </a:tbl>
          </a:graphicData>
        </a:graphic>
      </p:graphicFrame>
      <p:sp>
        <p:nvSpPr>
          <p:cNvPr id="9" name="Rectangle 8">
            <a:extLst xmlns:a="http://schemas.openxmlformats.org/drawingml/2006/main">
              <a:ext uri="{FF2B5EF4-FFF2-40B4-BE49-F238E27FC236}">
                <a16:creationId xmlns:a16="http://schemas.microsoft.com/office/drawing/2014/main" id="{DFE75F66-31EE-4C4E-BD32-2F577C739EE2}"/>
              </a:ext>
            </a:extLst>
          </p:cNvPr>
          <p:cNvSpPr>
            <a:spLocks xmlns:a="http://schemas.openxmlformats.org/drawingml/2006/main" noGrp="1"/>
          </p:cNvSpPr>
          <p:nvPr/>
        </p:nvSpPr>
        <p:spPr>
          <a:xfrm xmlns:a="http://schemas.openxmlformats.org/drawingml/2006/main">
            <a:off x="819150" y="42957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065A82"/>
                </a:solidFill>
                <a:latin typeface="Cambria"/>
                <a:ea typeface="Cambria"/>
                <a:cs typeface="Cambria"/>
              </a:defRPr>
            </a:pPr>
            <a:r>
              <a:rPr b="1">
                <a:solidFill>
                  <a:srgbClr val="065A82"/>
                </a:solidFill>
                <a:latin typeface="Cambria"/>
                <a:ea typeface="Cambria"/>
                <a:cs typeface="Cambria"/>
              </a:rPr>
              <a:t>7</a:t>
            </a:r>
          </a:p>
        </p:txBody>
      </p:sp>
      <p:sp>
        <p:nvSpPr>
          <p:cNvPr id="10" name="Rectangle 9">
            <a:extLst xmlns:a="http://schemas.openxmlformats.org/drawingml/2006/main">
              <a:ext uri="{FF2B5EF4-FFF2-40B4-BE49-F238E27FC236}">
                <a16:creationId xmlns:a16="http://schemas.microsoft.com/office/drawing/2014/main" id="{FE6960C8-0D7B-44A8-9677-340735AC3DBB}"/>
              </a:ext>
            </a:extLst>
          </p:cNvPr>
          <p:cNvSpPr>
            <a:spLocks xmlns:a="http://schemas.openxmlformats.org/drawingml/2006/main" noGrp="1"/>
          </p:cNvSpPr>
          <p:nvPr/>
        </p:nvSpPr>
        <p:spPr>
          <a:xfrm xmlns:a="http://schemas.openxmlformats.org/drawingml/2006/main">
            <a:off x="819150" y="49720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switches</a:t>
            </a:r>
          </a:p>
        </p:txBody>
      </p:sp>
      <p:sp>
        <p:nvSpPr>
          <p:cNvPr id="11" name="Rectangle 10">
            <a:extLst xmlns:a="http://schemas.openxmlformats.org/drawingml/2006/main">
              <a:ext uri="{FF2B5EF4-FFF2-40B4-BE49-F238E27FC236}">
                <a16:creationId xmlns:a16="http://schemas.microsoft.com/office/drawing/2014/main" id="{CB7D208A-BEDB-418B-AAD7-C4D37CB2FBA2}"/>
              </a:ext>
            </a:extLst>
          </p:cNvPr>
          <p:cNvSpPr>
            <a:spLocks xmlns:a="http://schemas.openxmlformats.org/drawingml/2006/main" noGrp="1"/>
          </p:cNvSpPr>
          <p:nvPr/>
        </p:nvSpPr>
        <p:spPr>
          <a:xfrm xmlns:a="http://schemas.openxmlformats.org/drawingml/2006/main">
            <a:off x="2343150" y="42957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065A82"/>
                </a:solidFill>
                <a:latin typeface="Cambria"/>
                <a:ea typeface="Cambria"/>
                <a:cs typeface="Cambria"/>
              </a:defRPr>
            </a:pPr>
            <a:r>
              <a:rPr b="1">
                <a:solidFill>
                  <a:srgbClr val="065A82"/>
                </a:solidFill>
                <a:latin typeface="Cambria"/>
                <a:ea typeface="Cambria"/>
                <a:cs typeface="Cambria"/>
              </a:rPr>
              <a:t>8</a:t>
            </a:r>
          </a:p>
        </p:txBody>
      </p:sp>
      <p:sp>
        <p:nvSpPr>
          <p:cNvPr id="12" name="Rectangle 11">
            <a:extLst xmlns:a="http://schemas.openxmlformats.org/drawingml/2006/main">
              <a:ext uri="{FF2B5EF4-FFF2-40B4-BE49-F238E27FC236}">
                <a16:creationId xmlns:a16="http://schemas.microsoft.com/office/drawing/2014/main" id="{63C97F3B-0854-4A5B-89C0-197DD58C4D87}"/>
              </a:ext>
            </a:extLst>
          </p:cNvPr>
          <p:cNvSpPr>
            <a:spLocks xmlns:a="http://schemas.openxmlformats.org/drawingml/2006/main" noGrp="1"/>
          </p:cNvSpPr>
          <p:nvPr/>
        </p:nvSpPr>
        <p:spPr>
          <a:xfrm xmlns:a="http://schemas.openxmlformats.org/drawingml/2006/main">
            <a:off x="2343150" y="49720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hosts</a:t>
            </a:r>
          </a:p>
        </p:txBody>
      </p:sp>
      <p:sp>
        <p:nvSpPr>
          <p:cNvPr id="13" name="Rectangle 12">
            <a:extLst xmlns:a="http://schemas.openxmlformats.org/drawingml/2006/main">
              <a:ext uri="{FF2B5EF4-FFF2-40B4-BE49-F238E27FC236}">
                <a16:creationId xmlns:a16="http://schemas.microsoft.com/office/drawing/2014/main" id="{34592DE9-29FC-4CE6-B1D7-AAB0B36E8A1C}"/>
              </a:ext>
            </a:extLst>
          </p:cNvPr>
          <p:cNvSpPr>
            <a:spLocks xmlns:a="http://schemas.openxmlformats.org/drawingml/2006/main" noGrp="1"/>
          </p:cNvSpPr>
          <p:nvPr/>
        </p:nvSpPr>
        <p:spPr>
          <a:xfrm xmlns:a="http://schemas.openxmlformats.org/drawingml/2006/main">
            <a:off x="3867150" y="42957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mbria"/>
                <a:ea typeface="Cambria"/>
                <a:cs typeface="Cambria"/>
              </a:defRPr>
            </a:pPr>
            <a:r>
              <a:rPr b="1">
                <a:solidFill>
                  <a:srgbClr val="1C7293"/>
                </a:solidFill>
                <a:latin typeface="Cambria"/>
                <a:ea typeface="Cambria"/>
                <a:cs typeface="Cambria"/>
              </a:rPr>
              <a:t>3</a:t>
            </a:r>
          </a:p>
        </p:txBody>
      </p:sp>
      <p:sp>
        <p:nvSpPr>
          <p:cNvPr id="14" name="Rectangle 13">
            <a:extLst xmlns:a="http://schemas.openxmlformats.org/drawingml/2006/main">
              <a:ext uri="{FF2B5EF4-FFF2-40B4-BE49-F238E27FC236}">
                <a16:creationId xmlns:a16="http://schemas.microsoft.com/office/drawing/2014/main" id="{E46430A2-EF5F-4CD5-8DAF-762AA88BDB9A}"/>
              </a:ext>
            </a:extLst>
          </p:cNvPr>
          <p:cNvSpPr>
            <a:spLocks xmlns:a="http://schemas.openxmlformats.org/drawingml/2006/main" noGrp="1"/>
          </p:cNvSpPr>
          <p:nvPr/>
        </p:nvSpPr>
        <p:spPr>
          <a:xfrm xmlns:a="http://schemas.openxmlformats.org/drawingml/2006/main">
            <a:off x="3676650" y="497205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disjoint routes</a:t>
            </a:r>
          </a:p>
        </p:txBody>
      </p:sp>
      <p:sp>
        <p:nvSpPr>
          <p:cNvPr id="15" name="Rectangle: Rounded Corners 14">
            <a:extLst xmlns:a="http://schemas.openxmlformats.org/drawingml/2006/main">
              <a:ext uri="{FF2B5EF4-FFF2-40B4-BE49-F238E27FC236}">
                <a16:creationId xmlns:a16="http://schemas.microsoft.com/office/drawing/2014/main" id="{259D2AD9-474A-4016-B469-E1630E35480B}"/>
              </a:ext>
            </a:extLst>
          </p:cNvPr>
          <p:cNvSpPr>
            <a:spLocks xmlns:a="http://schemas.openxmlformats.org/drawingml/2006/main" noGrp="1"/>
          </p:cNvSpPr>
          <p:nvPr/>
        </p:nvSpPr>
        <p:spPr>
          <a:xfrm xmlns:a="http://schemas.openxmlformats.org/drawingml/2006/main">
            <a:off x="5429250" y="4210050"/>
            <a:ext cx="5905500" cy="1181100"/>
          </a:xfrm>
          <a:prstGeom xmlns:a="http://schemas.openxmlformats.org/drawingml/2006/main" prst="roundRect">
            <a:avLst>
              <a:gd name="adj" fmla="val 9677"/>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2CED9659-983B-4F48-9B10-20E9EB26304A}"/>
              </a:ext>
            </a:extLst>
          </p:cNvPr>
          <p:cNvSpPr>
            <a:spLocks xmlns:a="http://schemas.openxmlformats.org/drawingml/2006/main" noGrp="1"/>
          </p:cNvSpPr>
          <p:nvPr/>
        </p:nvSpPr>
        <p:spPr>
          <a:xfrm xmlns:a="http://schemas.openxmlformats.org/drawingml/2006/main">
            <a:off x="5657850" y="43624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Why three routes?</a:t>
            </a:r>
          </a:p>
        </p:txBody>
      </p:sp>
      <p:sp>
        <p:nvSpPr>
          <p:cNvPr id="17" name="Rectangle 16">
            <a:extLst xmlns:a="http://schemas.openxmlformats.org/drawingml/2006/main">
              <a:ext uri="{FF2B5EF4-FFF2-40B4-BE49-F238E27FC236}">
                <a16:creationId xmlns:a16="http://schemas.microsoft.com/office/drawing/2014/main" id="{0E88AD99-D0A4-48F6-A87C-F5FF75B71E26}"/>
              </a:ext>
            </a:extLst>
          </p:cNvPr>
          <p:cNvSpPr>
            <a:spLocks xmlns:a="http://schemas.openxmlformats.org/drawingml/2006/main" noGrp="1"/>
          </p:cNvSpPr>
          <p:nvPr/>
        </p:nvSpPr>
        <p:spPr>
          <a:xfrm xmlns:a="http://schemas.openxmlformats.org/drawingml/2006/main">
            <a:off x="5657850" y="47244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One route leaves nowhere to recover. Two routes force the only remaining path after a failure. Three preserve a real planning choice.</a:t>
            </a:r>
          </a:p>
        </p:txBody>
      </p:sp>
      <p:sp>
        <p:nvSpPr>
          <p:cNvPr id="18" name="Rectangle 17">
            <a:extLst xmlns:a="http://schemas.openxmlformats.org/drawingml/2006/main">
              <a:ext uri="{FF2B5EF4-FFF2-40B4-BE49-F238E27FC236}">
                <a16:creationId xmlns:a16="http://schemas.microsoft.com/office/drawing/2014/main" id="{3E9410D0-A9E4-485B-9B1E-667E78698E04}"/>
              </a:ext>
            </a:extLst>
          </p:cNvPr>
          <p:cNvSpPr>
            <a:spLocks xmlns:a="http://schemas.openxmlformats.org/drawingml/2006/main" noGrp="1"/>
          </p:cNvSpPr>
          <p:nvPr/>
        </p:nvSpPr>
        <p:spPr>
          <a:xfrm xmlns:a="http://schemas.openxmlformats.org/drawingml/2006/main">
            <a:off x="685800" y="5753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Bottleneck = narrowest link. Route delay = sum of link delays. Host access links carry no imposed budget.</a:t>
            </a:r>
          </a:p>
        </p:txBody>
      </p:sp>
    </p:spTree>
    <p:extLst>
      <p:ext uri="{BB962C8B-B14F-4D97-AF65-F5344CB8AC3E}">
        <p14:creationId xmlns:p14="http://schemas.microsoft.com/office/powerpoint/2010/main" val="8628927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47">
            <a:extLst xmlns:a="http://schemas.openxmlformats.org/drawingml/2006/main">
              <a:ext uri="{FF2B5EF4-FFF2-40B4-BE49-F238E27FC236}">
                <a16:creationId xmlns:a16="http://schemas.microsoft.com/office/drawing/2014/main" id="{AA21E748-E419-4263-8170-7B199731BBFD}"/>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DATA FLOW</a:t>
            </a:r>
          </a:p>
        </p:txBody>
      </p:sp>
      <p:sp>
        <p:nvSpPr>
          <p:cNvPr id="2" name="Rectangle 1">
            <a:extLst xmlns:a="http://schemas.openxmlformats.org/drawingml/2006/main">
              <a:ext uri="{FF2B5EF4-FFF2-40B4-BE49-F238E27FC236}">
                <a16:creationId xmlns:a16="http://schemas.microsoft.com/office/drawing/2014/main" id="{4B249E50-BBD9-4A80-873F-08A1DD09BE01}"/>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End-to-end processing pipeline</a:t>
            </a:r>
          </a:p>
        </p:txBody>
      </p:sp>
      <p:sp>
        <p:nvSpPr>
          <p:cNvPr id="3" name="Rectangle 2">
            <a:extLst xmlns:a="http://schemas.openxmlformats.org/drawingml/2006/main">
              <a:ext uri="{FF2B5EF4-FFF2-40B4-BE49-F238E27FC236}">
                <a16:creationId xmlns:a16="http://schemas.microsoft.com/office/drawing/2014/main" id="{777EF94B-008A-4DCD-998F-C6BFA257955F}"/>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Each module owns a distinct stage; the dashed feedback path remains unfinished</a:t>
            </a:r>
          </a:p>
        </p:txBody>
      </p:sp>
      <p:sp>
        <p:nvSpPr>
          <p:cNvPr id="4" name="Rectangle 3">
            <a:extLst xmlns:a="http://schemas.openxmlformats.org/drawingml/2006/main">
              <a:ext uri="{FF2B5EF4-FFF2-40B4-BE49-F238E27FC236}">
                <a16:creationId xmlns:a16="http://schemas.microsoft.com/office/drawing/2014/main" id="{BB080335-E941-40C9-815E-183C6F5CD18B}"/>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7503A58-ECB2-426C-949F-E90BFEE048D7}"/>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4CC89F7-9158-4588-A2E7-38821612CE75}"/>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D37CA85F-A4F5-4C5D-A9B2-08CAE543FAE1}"/>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08</a:t>
            </a:r>
          </a:p>
        </p:txBody>
      </p:sp>
      <p:sp>
        <p:nvSpPr>
          <p:cNvPr id="8" name="Rectangle: Rounded Corners 7">
            <a:extLst xmlns:a="http://schemas.openxmlformats.org/drawingml/2006/main">
              <a:ext uri="{FF2B5EF4-FFF2-40B4-BE49-F238E27FC236}">
                <a16:creationId xmlns:a16="http://schemas.microsoft.com/office/drawing/2014/main" id="{A93C8F57-8E05-4C45-970A-4DF91B7DEC8D}"/>
              </a:ext>
            </a:extLst>
          </p:cNvPr>
          <p:cNvSpPr>
            <a:spLocks xmlns:a="http://schemas.openxmlformats.org/drawingml/2006/main" noGrp="1"/>
          </p:cNvSpPr>
          <p:nvPr/>
        </p:nvSpPr>
        <p:spPr>
          <a:xfrm xmlns:a="http://schemas.openxmlformats.org/drawingml/2006/main">
            <a:off x="323850" y="2266950"/>
            <a:ext cx="1409700" cy="1352550"/>
          </a:xfrm>
          <a:prstGeom xmlns:a="http://schemas.openxmlformats.org/drawingml/2006/main" prst="roundRect">
            <a:avLst>
              <a:gd name="adj" fmla="val 8451"/>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2D932B18-6499-4C4A-BCD1-02EFA73789F7}"/>
              </a:ext>
            </a:extLst>
          </p:cNvPr>
          <p:cNvSpPr>
            <a:spLocks xmlns:a="http://schemas.openxmlformats.org/drawingml/2006/main" noGrp="1"/>
          </p:cNvSpPr>
          <p:nvPr/>
        </p:nvSpPr>
        <p:spPr>
          <a:xfrm xmlns:a="http://schemas.openxmlformats.org/drawingml/2006/main">
            <a:off x="419100"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INPUT</a:t>
            </a:r>
          </a:p>
        </p:txBody>
      </p:sp>
      <p:sp>
        <p:nvSpPr>
          <p:cNvPr id="10" name="Rectangle 9">
            <a:extLst xmlns:a="http://schemas.openxmlformats.org/drawingml/2006/main">
              <a:ext uri="{FF2B5EF4-FFF2-40B4-BE49-F238E27FC236}">
                <a16:creationId xmlns:a16="http://schemas.microsoft.com/office/drawing/2014/main" id="{7D12C811-3E9C-4B44-B75C-DC506B38CD9E}"/>
              </a:ext>
            </a:extLst>
          </p:cNvPr>
          <p:cNvSpPr>
            <a:spLocks xmlns:a="http://schemas.openxmlformats.org/drawingml/2006/main" noGrp="1"/>
          </p:cNvSpPr>
          <p:nvPr/>
        </p:nvSpPr>
        <p:spPr>
          <a:xfrm xmlns:a="http://schemas.openxmlformats.org/drawingml/2006/main">
            <a:off x="419100"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97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YAML intent</a:t>
            </a:r>
          </a:p>
        </p:txBody>
      </p:sp>
      <p:sp>
        <p:nvSpPr>
          <p:cNvPr id="11" name="Rectangle 10">
            <a:extLst xmlns:a="http://schemas.openxmlformats.org/drawingml/2006/main">
              <a:ext uri="{FF2B5EF4-FFF2-40B4-BE49-F238E27FC236}">
                <a16:creationId xmlns:a16="http://schemas.microsoft.com/office/drawing/2014/main" id="{1357A6AF-3CA2-4635-9B0B-C2E9D5536F1B}"/>
              </a:ext>
            </a:extLst>
          </p:cNvPr>
          <p:cNvSpPr>
            <a:spLocks xmlns:a="http://schemas.openxmlformats.org/drawingml/2006/main" noGrp="1"/>
          </p:cNvSpPr>
          <p:nvPr/>
        </p:nvSpPr>
        <p:spPr>
          <a:xfrm xmlns:a="http://schemas.openxmlformats.org/drawingml/2006/main">
            <a:off x="419100"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M1</a:t>
            </a:r>
          </a:p>
        </p:txBody>
      </p:sp>
      <p:sp>
        <p:nvSpPr>
          <p:cNvPr id="12" name="Straight Connector 11">
            <a:extLst xmlns:a="http://schemas.openxmlformats.org/drawingml/2006/main">
              <a:ext uri="{FF2B5EF4-FFF2-40B4-BE49-F238E27FC236}">
                <a16:creationId xmlns:a16="http://schemas.microsoft.com/office/drawing/2014/main" id="{76C409EA-D981-4F46-8399-DC9C51856E47}"/>
              </a:ext>
            </a:extLst>
          </p:cNvPr>
          <p:cNvSpPr>
            <a:spLocks xmlns:a="http://schemas.openxmlformats.org/drawingml/2006/main" noGrp="1"/>
          </p:cNvSpPr>
          <p:nvPr/>
        </p:nvSpPr>
        <p:spPr>
          <a:xfrm xmlns:a="http://schemas.openxmlformats.org/drawingml/2006/main">
            <a:off x="1752600" y="2867025"/>
            <a:ext cx="228600" cy="0"/>
          </a:xfrm>
          <a:prstGeom xmlns:a="http://schemas.openxmlformats.org/drawingml/2006/main" prst="line">
            <a:avLst/>
          </a:prstGeom>
          <a:noFill xmlns:a="http://schemas.openxmlformats.org/drawingml/2006/main"/>
          <a:ln xmlns:a="http://schemas.openxmlformats.org/drawingml/2006/main" w="19050">
            <a:solidFill>
              <a:srgbClr val="66728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Rounded Corners 12">
            <a:extLst xmlns:a="http://schemas.openxmlformats.org/drawingml/2006/main">
              <a:ext uri="{FF2B5EF4-FFF2-40B4-BE49-F238E27FC236}">
                <a16:creationId xmlns:a16="http://schemas.microsoft.com/office/drawing/2014/main" id="{8AD3DF19-4CA1-4E9D-9B92-CDA9DADDF480}"/>
              </a:ext>
            </a:extLst>
          </p:cNvPr>
          <p:cNvSpPr>
            <a:spLocks xmlns:a="http://schemas.openxmlformats.org/drawingml/2006/main" noGrp="1"/>
          </p:cNvSpPr>
          <p:nvPr/>
        </p:nvSpPr>
        <p:spPr>
          <a:xfrm xmlns:a="http://schemas.openxmlformats.org/drawingml/2006/main">
            <a:off x="2009775" y="2266950"/>
            <a:ext cx="1409700" cy="1352550"/>
          </a:xfrm>
          <a:prstGeom xmlns:a="http://schemas.openxmlformats.org/drawingml/2006/main" prst="roundRect">
            <a:avLst>
              <a:gd name="adj" fmla="val 8451"/>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2F50694-A1E5-45D0-A21B-64B3FBDE3900}"/>
              </a:ext>
            </a:extLst>
          </p:cNvPr>
          <p:cNvSpPr>
            <a:spLocks xmlns:a="http://schemas.openxmlformats.org/drawingml/2006/main" noGrp="1"/>
          </p:cNvSpPr>
          <p:nvPr/>
        </p:nvSpPr>
        <p:spPr>
          <a:xfrm xmlns:a="http://schemas.openxmlformats.org/drawingml/2006/main">
            <a:off x="2105025"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VALIDATION</a:t>
            </a:r>
          </a:p>
        </p:txBody>
      </p:sp>
      <p:sp>
        <p:nvSpPr>
          <p:cNvPr id="15" name="Rectangle 14">
            <a:extLst xmlns:a="http://schemas.openxmlformats.org/drawingml/2006/main">
              <a:ext uri="{FF2B5EF4-FFF2-40B4-BE49-F238E27FC236}">
                <a16:creationId xmlns:a16="http://schemas.microsoft.com/office/drawing/2014/main" id="{876EFD0F-5F38-4525-B61F-5665EDD6D4BF}"/>
              </a:ext>
            </a:extLst>
          </p:cNvPr>
          <p:cNvSpPr>
            <a:spLocks xmlns:a="http://schemas.openxmlformats.org/drawingml/2006/main" noGrp="1"/>
          </p:cNvSpPr>
          <p:nvPr/>
        </p:nvSpPr>
        <p:spPr>
          <a:xfrm xmlns:a="http://schemas.openxmlformats.org/drawingml/2006/main">
            <a:off x="2105025"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47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Schema + rules</a:t>
            </a:r>
          </a:p>
        </p:txBody>
      </p:sp>
      <p:sp>
        <p:nvSpPr>
          <p:cNvPr id="16" name="Rectangle 15">
            <a:extLst xmlns:a="http://schemas.openxmlformats.org/drawingml/2006/main">
              <a:ext uri="{FF2B5EF4-FFF2-40B4-BE49-F238E27FC236}">
                <a16:creationId xmlns:a16="http://schemas.microsoft.com/office/drawing/2014/main" id="{4D49F99E-7D9A-4C4E-9E84-C20E955D63CA}"/>
              </a:ext>
            </a:extLst>
          </p:cNvPr>
          <p:cNvSpPr>
            <a:spLocks xmlns:a="http://schemas.openxmlformats.org/drawingml/2006/main" noGrp="1"/>
          </p:cNvSpPr>
          <p:nvPr/>
        </p:nvSpPr>
        <p:spPr>
          <a:xfrm xmlns:a="http://schemas.openxmlformats.org/drawingml/2006/main">
            <a:off x="2105025"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M1</a:t>
            </a:r>
          </a:p>
        </p:txBody>
      </p:sp>
      <p:sp>
        <p:nvSpPr>
          <p:cNvPr id="17" name="Straight Connector 16">
            <a:extLst xmlns:a="http://schemas.openxmlformats.org/drawingml/2006/main">
              <a:ext uri="{FF2B5EF4-FFF2-40B4-BE49-F238E27FC236}">
                <a16:creationId xmlns:a16="http://schemas.microsoft.com/office/drawing/2014/main" id="{51A1DF46-7473-46BC-917F-3DF4F4FF605B}"/>
              </a:ext>
            </a:extLst>
          </p:cNvPr>
          <p:cNvSpPr>
            <a:spLocks xmlns:a="http://schemas.openxmlformats.org/drawingml/2006/main" noGrp="1"/>
          </p:cNvSpPr>
          <p:nvPr/>
        </p:nvSpPr>
        <p:spPr>
          <a:xfrm xmlns:a="http://schemas.openxmlformats.org/drawingml/2006/main">
            <a:off x="3438525" y="2867025"/>
            <a:ext cx="228600" cy="0"/>
          </a:xfrm>
          <a:prstGeom xmlns:a="http://schemas.openxmlformats.org/drawingml/2006/main" prst="line">
            <a:avLst/>
          </a:prstGeom>
          <a:noFill xmlns:a="http://schemas.openxmlformats.org/drawingml/2006/main"/>
          <a:ln xmlns:a="http://schemas.openxmlformats.org/drawingml/2006/main" w="19050">
            <a:solidFill>
              <a:srgbClr val="66728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Rounded Corners 17">
            <a:extLst xmlns:a="http://schemas.openxmlformats.org/drawingml/2006/main">
              <a:ext uri="{FF2B5EF4-FFF2-40B4-BE49-F238E27FC236}">
                <a16:creationId xmlns:a16="http://schemas.microsoft.com/office/drawing/2014/main" id="{1D275F21-287C-4BCA-9BA6-12B990C9FAA0}"/>
              </a:ext>
            </a:extLst>
          </p:cNvPr>
          <p:cNvSpPr>
            <a:spLocks xmlns:a="http://schemas.openxmlformats.org/drawingml/2006/main" noGrp="1"/>
          </p:cNvSpPr>
          <p:nvPr/>
        </p:nvSpPr>
        <p:spPr>
          <a:xfrm xmlns:a="http://schemas.openxmlformats.org/drawingml/2006/main">
            <a:off x="3695700" y="2266950"/>
            <a:ext cx="1409700" cy="1352550"/>
          </a:xfrm>
          <a:prstGeom xmlns:a="http://schemas.openxmlformats.org/drawingml/2006/main" prst="roundRect">
            <a:avLst>
              <a:gd name="adj" fmla="val 8451"/>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8065B562-2FEF-4CFE-9E78-8352A1BED2FD}"/>
              </a:ext>
            </a:extLst>
          </p:cNvPr>
          <p:cNvSpPr>
            <a:spLocks xmlns:a="http://schemas.openxmlformats.org/drawingml/2006/main" noGrp="1"/>
          </p:cNvSpPr>
          <p:nvPr/>
        </p:nvSpPr>
        <p:spPr>
          <a:xfrm xmlns:a="http://schemas.openxmlformats.org/drawingml/2006/main">
            <a:off x="3790950"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PATH COMPUTATION</a:t>
            </a:r>
          </a:p>
        </p:txBody>
      </p:sp>
      <p:sp>
        <p:nvSpPr>
          <p:cNvPr id="20" name="Rectangle 19">
            <a:extLst xmlns:a="http://schemas.openxmlformats.org/drawingml/2006/main">
              <a:ext uri="{FF2B5EF4-FFF2-40B4-BE49-F238E27FC236}">
                <a16:creationId xmlns:a16="http://schemas.microsoft.com/office/drawing/2014/main" id="{3827D346-2145-4281-A3B3-7F590A03F452}"/>
              </a:ext>
            </a:extLst>
          </p:cNvPr>
          <p:cNvSpPr>
            <a:spLocks xmlns:a="http://schemas.openxmlformats.org/drawingml/2006/main" noGrp="1"/>
          </p:cNvSpPr>
          <p:nvPr/>
        </p:nvSpPr>
        <p:spPr>
          <a:xfrm xmlns:a="http://schemas.openxmlformats.org/drawingml/2006/main">
            <a:off x="3790950"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190"/>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Yen + pruning</a:t>
            </a:r>
          </a:p>
        </p:txBody>
      </p:sp>
      <p:sp>
        <p:nvSpPr>
          <p:cNvPr id="21" name="Rectangle 20">
            <a:extLst xmlns:a="http://schemas.openxmlformats.org/drawingml/2006/main">
              <a:ext uri="{FF2B5EF4-FFF2-40B4-BE49-F238E27FC236}">
                <a16:creationId xmlns:a16="http://schemas.microsoft.com/office/drawing/2014/main" id="{49F1AD2E-982E-4093-91A4-337AC807847C}"/>
              </a:ext>
            </a:extLst>
          </p:cNvPr>
          <p:cNvSpPr>
            <a:spLocks xmlns:a="http://schemas.openxmlformats.org/drawingml/2006/main" noGrp="1"/>
          </p:cNvSpPr>
          <p:nvPr/>
        </p:nvSpPr>
        <p:spPr>
          <a:xfrm xmlns:a="http://schemas.openxmlformats.org/drawingml/2006/main">
            <a:off x="3790950"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M3</a:t>
            </a:r>
          </a:p>
        </p:txBody>
      </p:sp>
      <p:sp>
        <p:nvSpPr>
          <p:cNvPr id="22" name="Straight Connector 21">
            <a:extLst xmlns:a="http://schemas.openxmlformats.org/drawingml/2006/main">
              <a:ext uri="{FF2B5EF4-FFF2-40B4-BE49-F238E27FC236}">
                <a16:creationId xmlns:a16="http://schemas.microsoft.com/office/drawing/2014/main" id="{0E0EB716-6E1A-4C54-BDF3-250B48FA103C}"/>
              </a:ext>
            </a:extLst>
          </p:cNvPr>
          <p:cNvSpPr>
            <a:spLocks xmlns:a="http://schemas.openxmlformats.org/drawingml/2006/main" noGrp="1"/>
          </p:cNvSpPr>
          <p:nvPr/>
        </p:nvSpPr>
        <p:spPr>
          <a:xfrm xmlns:a="http://schemas.openxmlformats.org/drawingml/2006/main">
            <a:off x="5124450" y="2867025"/>
            <a:ext cx="228600" cy="0"/>
          </a:xfrm>
          <a:prstGeom xmlns:a="http://schemas.openxmlformats.org/drawingml/2006/main" prst="line">
            <a:avLst/>
          </a:prstGeom>
          <a:noFill xmlns:a="http://schemas.openxmlformats.org/drawingml/2006/main"/>
          <a:ln xmlns:a="http://schemas.openxmlformats.org/drawingml/2006/main" w="19050">
            <a:solidFill>
              <a:srgbClr val="66728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Rounded Corners 22">
            <a:extLst xmlns:a="http://schemas.openxmlformats.org/drawingml/2006/main">
              <a:ext uri="{FF2B5EF4-FFF2-40B4-BE49-F238E27FC236}">
                <a16:creationId xmlns:a16="http://schemas.microsoft.com/office/drawing/2014/main" id="{3ACA5DDA-09AF-476C-8CB3-821A02A538A5}"/>
              </a:ext>
            </a:extLst>
          </p:cNvPr>
          <p:cNvSpPr>
            <a:spLocks xmlns:a="http://schemas.openxmlformats.org/drawingml/2006/main" noGrp="1"/>
          </p:cNvSpPr>
          <p:nvPr/>
        </p:nvSpPr>
        <p:spPr>
          <a:xfrm xmlns:a="http://schemas.openxmlformats.org/drawingml/2006/main">
            <a:off x="5381625" y="2266950"/>
            <a:ext cx="1409700" cy="1352550"/>
          </a:xfrm>
          <a:prstGeom xmlns:a="http://schemas.openxmlformats.org/drawingml/2006/main" prst="roundRect">
            <a:avLst>
              <a:gd name="adj" fmla="val 8451"/>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281A0F14-29A8-40C3-87D9-6CBFCD5333EA}"/>
              </a:ext>
            </a:extLst>
          </p:cNvPr>
          <p:cNvSpPr>
            <a:spLocks xmlns:a="http://schemas.openxmlformats.org/drawingml/2006/main" noGrp="1"/>
          </p:cNvSpPr>
          <p:nvPr/>
        </p:nvSpPr>
        <p:spPr>
          <a:xfrm xmlns:a="http://schemas.openxmlformats.org/drawingml/2006/main">
            <a:off x="5476875"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ENFORCEMENT</a:t>
            </a:r>
          </a:p>
        </p:txBody>
      </p:sp>
      <p:sp>
        <p:nvSpPr>
          <p:cNvPr id="25" name="Rectangle 24">
            <a:extLst xmlns:a="http://schemas.openxmlformats.org/drawingml/2006/main">
              <a:ext uri="{FF2B5EF4-FFF2-40B4-BE49-F238E27FC236}">
                <a16:creationId xmlns:a16="http://schemas.microsoft.com/office/drawing/2014/main" id="{4D1221CD-A0F7-429F-ACB2-166EDA097470}"/>
              </a:ext>
            </a:extLst>
          </p:cNvPr>
          <p:cNvSpPr>
            <a:spLocks xmlns:a="http://schemas.openxmlformats.org/drawingml/2006/main" noGrp="1"/>
          </p:cNvSpPr>
          <p:nvPr/>
        </p:nvSpPr>
        <p:spPr>
          <a:xfrm xmlns:a="http://schemas.openxmlformats.org/drawingml/2006/main">
            <a:off x="5476875"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406"/>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Flows + HTB</a:t>
            </a:r>
          </a:p>
        </p:txBody>
      </p:sp>
      <p:sp>
        <p:nvSpPr>
          <p:cNvPr id="26" name="Rectangle 25">
            <a:extLst xmlns:a="http://schemas.openxmlformats.org/drawingml/2006/main">
              <a:ext uri="{FF2B5EF4-FFF2-40B4-BE49-F238E27FC236}">
                <a16:creationId xmlns:a16="http://schemas.microsoft.com/office/drawing/2014/main" id="{1501506E-B0F9-4A88-BB7E-ABE934E9CFD6}"/>
              </a:ext>
            </a:extLst>
          </p:cNvPr>
          <p:cNvSpPr>
            <a:spLocks xmlns:a="http://schemas.openxmlformats.org/drawingml/2006/main" noGrp="1"/>
          </p:cNvSpPr>
          <p:nvPr/>
        </p:nvSpPr>
        <p:spPr>
          <a:xfrm xmlns:a="http://schemas.openxmlformats.org/drawingml/2006/main">
            <a:off x="5476875"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M4</a:t>
            </a:r>
          </a:p>
        </p:txBody>
      </p:sp>
      <p:sp>
        <p:nvSpPr>
          <p:cNvPr id="27" name="Straight Connector 26">
            <a:extLst xmlns:a="http://schemas.openxmlformats.org/drawingml/2006/main">
              <a:ext uri="{FF2B5EF4-FFF2-40B4-BE49-F238E27FC236}">
                <a16:creationId xmlns:a16="http://schemas.microsoft.com/office/drawing/2014/main" id="{C8C7D1F8-8796-4767-A1D0-A38F90816FE5}"/>
              </a:ext>
            </a:extLst>
          </p:cNvPr>
          <p:cNvSpPr>
            <a:spLocks xmlns:a="http://schemas.openxmlformats.org/drawingml/2006/main" noGrp="1"/>
          </p:cNvSpPr>
          <p:nvPr/>
        </p:nvSpPr>
        <p:spPr>
          <a:xfrm xmlns:a="http://schemas.openxmlformats.org/drawingml/2006/main">
            <a:off x="6810375" y="2867025"/>
            <a:ext cx="228600" cy="0"/>
          </a:xfrm>
          <a:prstGeom xmlns:a="http://schemas.openxmlformats.org/drawingml/2006/main" prst="line">
            <a:avLst/>
          </a:prstGeom>
          <a:noFill xmlns:a="http://schemas.openxmlformats.org/drawingml/2006/main"/>
          <a:ln xmlns:a="http://schemas.openxmlformats.org/drawingml/2006/main" w="19050">
            <a:solidFill>
              <a:srgbClr val="667281"/>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Rectangle: Rounded Corners 27">
            <a:extLst xmlns:a="http://schemas.openxmlformats.org/drawingml/2006/main">
              <a:ext uri="{FF2B5EF4-FFF2-40B4-BE49-F238E27FC236}">
                <a16:creationId xmlns:a16="http://schemas.microsoft.com/office/drawing/2014/main" id="{79BD0C9E-85C0-41B2-AE86-5B4D05323F34}"/>
              </a:ext>
            </a:extLst>
          </p:cNvPr>
          <p:cNvSpPr>
            <a:spLocks xmlns:a="http://schemas.openxmlformats.org/drawingml/2006/main" noGrp="1"/>
          </p:cNvSpPr>
          <p:nvPr/>
        </p:nvSpPr>
        <p:spPr>
          <a:xfrm xmlns:a="http://schemas.openxmlformats.org/drawingml/2006/main">
            <a:off x="7067550" y="2266950"/>
            <a:ext cx="1409700" cy="1352550"/>
          </a:xfrm>
          <a:prstGeom xmlns:a="http://schemas.openxmlformats.org/drawingml/2006/main" prst="roundRect">
            <a:avLst>
              <a:gd name="adj" fmla="val 8451"/>
            </a:avLst>
          </a:prstGeom>
          <a:solidFill xmlns:a="http://schemas.openxmlformats.org/drawingml/2006/main">
            <a:srgbClr val="21295C"/>
          </a:solidFill>
          <a:ln xmlns:a="http://schemas.openxmlformats.org/drawingml/2006/main" w="9525">
            <a:solidFill>
              <a:srgbClr val="21295C"/>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0DEEA633-FB11-4444-8B4A-87DA4BDB8C3E}"/>
              </a:ext>
            </a:extLst>
          </p:cNvPr>
          <p:cNvSpPr>
            <a:spLocks xmlns:a="http://schemas.openxmlformats.org/drawingml/2006/main" noGrp="1"/>
          </p:cNvSpPr>
          <p:nvPr/>
        </p:nvSpPr>
        <p:spPr>
          <a:xfrm xmlns:a="http://schemas.openxmlformats.org/drawingml/2006/main">
            <a:off x="7162800"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7FDDD7"/>
                </a:solidFill>
                <a:latin typeface="Calibri"/>
                <a:ea typeface="Calibri"/>
                <a:cs typeface="Calibri"/>
              </a:defRPr>
            </a:pPr>
            <a:r>
              <a:rPr b="1">
                <a:solidFill>
                  <a:srgbClr val="7FDDD7"/>
                </a:solidFill>
                <a:latin typeface="Calibri"/>
                <a:ea typeface="Calibri"/>
                <a:cs typeface="Calibri"/>
              </a:rPr>
              <a:t>NETWORK</a:t>
            </a:r>
          </a:p>
        </p:txBody>
      </p:sp>
      <p:sp>
        <p:nvSpPr>
          <p:cNvPr id="30" name="Rectangle 29">
            <a:extLst xmlns:a="http://schemas.openxmlformats.org/drawingml/2006/main">
              <a:ext uri="{FF2B5EF4-FFF2-40B4-BE49-F238E27FC236}">
                <a16:creationId xmlns:a16="http://schemas.microsoft.com/office/drawing/2014/main" id="{BA491E3C-BCA4-422E-8BE8-3926CA210233}"/>
              </a:ext>
            </a:extLst>
          </p:cNvPr>
          <p:cNvSpPr>
            <a:spLocks xmlns:a="http://schemas.openxmlformats.org/drawingml/2006/main" noGrp="1"/>
          </p:cNvSpPr>
          <p:nvPr/>
        </p:nvSpPr>
        <p:spPr>
          <a:xfrm xmlns:a="http://schemas.openxmlformats.org/drawingml/2006/main">
            <a:off x="7162800"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90"/>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Mininet / OVS</a:t>
            </a:r>
          </a:p>
        </p:txBody>
      </p:sp>
      <p:sp>
        <p:nvSpPr>
          <p:cNvPr id="31" name="Rectangle 30">
            <a:extLst xmlns:a="http://schemas.openxmlformats.org/drawingml/2006/main">
              <a:ext uri="{FF2B5EF4-FFF2-40B4-BE49-F238E27FC236}">
                <a16:creationId xmlns:a16="http://schemas.microsoft.com/office/drawing/2014/main" id="{3A5B9873-682B-4FDA-96C7-E3CBC76E603C}"/>
              </a:ext>
            </a:extLst>
          </p:cNvPr>
          <p:cNvSpPr>
            <a:spLocks xmlns:a="http://schemas.openxmlformats.org/drawingml/2006/main" noGrp="1"/>
          </p:cNvSpPr>
          <p:nvPr/>
        </p:nvSpPr>
        <p:spPr>
          <a:xfrm xmlns:a="http://schemas.openxmlformats.org/drawingml/2006/main">
            <a:off x="7162800"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C7D3E0"/>
                </a:solidFill>
                <a:latin typeface="Calibri"/>
                <a:ea typeface="Calibri"/>
                <a:cs typeface="Calibri"/>
              </a:defRPr>
            </a:pPr>
            <a:r>
              <a:rPr b="0">
                <a:solidFill>
                  <a:srgbClr val="C7D3E0"/>
                </a:solidFill>
                <a:latin typeface="Calibri"/>
                <a:ea typeface="Calibri"/>
                <a:cs typeface="Calibri"/>
              </a:rPr>
              <a:t>Datapath</a:t>
            </a:r>
          </a:p>
        </p:txBody>
      </p:sp>
      <p:sp>
        <p:nvSpPr>
          <p:cNvPr id="32" name="Straight Connector 31">
            <a:extLst xmlns:a="http://schemas.openxmlformats.org/drawingml/2006/main">
              <a:ext uri="{FF2B5EF4-FFF2-40B4-BE49-F238E27FC236}">
                <a16:creationId xmlns:a16="http://schemas.microsoft.com/office/drawing/2014/main" id="{D5102955-899F-4E04-B821-0868612F5CE2}"/>
              </a:ext>
            </a:extLst>
          </p:cNvPr>
          <p:cNvSpPr>
            <a:spLocks xmlns:a="http://schemas.openxmlformats.org/drawingml/2006/main" noGrp="1"/>
          </p:cNvSpPr>
          <p:nvPr/>
        </p:nvSpPr>
        <p:spPr>
          <a:xfrm xmlns:a="http://schemas.openxmlformats.org/drawingml/2006/main">
            <a:off x="8496300" y="2867025"/>
            <a:ext cx="228600" cy="0"/>
          </a:xfrm>
          <a:prstGeom xmlns:a="http://schemas.openxmlformats.org/drawingml/2006/main" prst="line">
            <a:avLst/>
          </a:prstGeom>
          <a:noFill xmlns:a="http://schemas.openxmlformats.org/drawingml/2006/main"/>
          <a:ln xmlns:a="http://schemas.openxmlformats.org/drawingml/2006/main" w="19050">
            <a:solidFill>
              <a:srgbClr val="667281"/>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Rectangle: Rounded Corners 32">
            <a:extLst xmlns:a="http://schemas.openxmlformats.org/drawingml/2006/main">
              <a:ext uri="{FF2B5EF4-FFF2-40B4-BE49-F238E27FC236}">
                <a16:creationId xmlns:a16="http://schemas.microsoft.com/office/drawing/2014/main" id="{0E3D04BF-A1AA-4AE6-BD2B-F5A1CA5F0578}"/>
              </a:ext>
            </a:extLst>
          </p:cNvPr>
          <p:cNvSpPr>
            <a:spLocks xmlns:a="http://schemas.openxmlformats.org/drawingml/2006/main" noGrp="1"/>
          </p:cNvSpPr>
          <p:nvPr/>
        </p:nvSpPr>
        <p:spPr>
          <a:xfrm xmlns:a="http://schemas.openxmlformats.org/drawingml/2006/main">
            <a:off x="8753475" y="2266950"/>
            <a:ext cx="1409700" cy="1352550"/>
          </a:xfrm>
          <a:prstGeom xmlns:a="http://schemas.openxmlformats.org/drawingml/2006/main" prst="roundRect">
            <a:avLst>
              <a:gd name="adj" fmla="val 8451"/>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12594415-BD92-4D16-9FD1-93F98BF07BF6}"/>
              </a:ext>
            </a:extLst>
          </p:cNvPr>
          <p:cNvSpPr>
            <a:spLocks xmlns:a="http://schemas.openxmlformats.org/drawingml/2006/main" noGrp="1"/>
          </p:cNvSpPr>
          <p:nvPr/>
        </p:nvSpPr>
        <p:spPr>
          <a:xfrm xmlns:a="http://schemas.openxmlformats.org/drawingml/2006/main">
            <a:off x="8848725"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TELEMETRY</a:t>
            </a:r>
          </a:p>
        </p:txBody>
      </p:sp>
      <p:sp>
        <p:nvSpPr>
          <p:cNvPr id="35" name="Rectangle 34">
            <a:extLst xmlns:a="http://schemas.openxmlformats.org/drawingml/2006/main">
              <a:ext uri="{FF2B5EF4-FFF2-40B4-BE49-F238E27FC236}">
                <a16:creationId xmlns:a16="http://schemas.microsoft.com/office/drawing/2014/main" id="{E7C925F7-04F2-4BC6-AAB5-C6F232C63B7D}"/>
              </a:ext>
            </a:extLst>
          </p:cNvPr>
          <p:cNvSpPr>
            <a:spLocks xmlns:a="http://schemas.openxmlformats.org/drawingml/2006/main" noGrp="1"/>
          </p:cNvSpPr>
          <p:nvPr/>
        </p:nvSpPr>
        <p:spPr>
          <a:xfrm xmlns:a="http://schemas.openxmlformats.org/drawingml/2006/main">
            <a:off x="8848725"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458"/>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Probes + counters</a:t>
            </a:r>
          </a:p>
        </p:txBody>
      </p:sp>
      <p:sp>
        <p:nvSpPr>
          <p:cNvPr id="36" name="Rectangle 35">
            <a:extLst xmlns:a="http://schemas.openxmlformats.org/drawingml/2006/main">
              <a:ext uri="{FF2B5EF4-FFF2-40B4-BE49-F238E27FC236}">
                <a16:creationId xmlns:a16="http://schemas.microsoft.com/office/drawing/2014/main" id="{9F0DB46D-7F5F-48C0-85BF-0399FE58E345}"/>
              </a:ext>
            </a:extLst>
          </p:cNvPr>
          <p:cNvSpPr>
            <a:spLocks xmlns:a="http://schemas.openxmlformats.org/drawingml/2006/main" noGrp="1"/>
          </p:cNvSpPr>
          <p:nvPr/>
        </p:nvSpPr>
        <p:spPr>
          <a:xfrm xmlns:a="http://schemas.openxmlformats.org/drawingml/2006/main">
            <a:off x="8848725"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M5</a:t>
            </a:r>
          </a:p>
        </p:txBody>
      </p:sp>
      <p:sp>
        <p:nvSpPr>
          <p:cNvPr id="37" name="Straight Connector 36">
            <a:extLst xmlns:a="http://schemas.openxmlformats.org/drawingml/2006/main">
              <a:ext uri="{FF2B5EF4-FFF2-40B4-BE49-F238E27FC236}">
                <a16:creationId xmlns:a16="http://schemas.microsoft.com/office/drawing/2014/main" id="{C4612143-EB9A-4DDF-93BF-2097D309C80F}"/>
              </a:ext>
            </a:extLst>
          </p:cNvPr>
          <p:cNvSpPr>
            <a:spLocks xmlns:a="http://schemas.openxmlformats.org/drawingml/2006/main" noGrp="1"/>
          </p:cNvSpPr>
          <p:nvPr/>
        </p:nvSpPr>
        <p:spPr>
          <a:xfrm xmlns:a="http://schemas.openxmlformats.org/drawingml/2006/main">
            <a:off x="10182225" y="2867025"/>
            <a:ext cx="228600" cy="0"/>
          </a:xfrm>
          <a:prstGeom xmlns:a="http://schemas.openxmlformats.org/drawingml/2006/main" prst="line">
            <a:avLst/>
          </a:prstGeom>
          <a:noFill xmlns:a="http://schemas.openxmlformats.org/drawingml/2006/main"/>
          <a:ln xmlns:a="http://schemas.openxmlformats.org/drawingml/2006/main" w="19050">
            <a:solidFill>
              <a:srgbClr val="66728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Rectangle: Rounded Corners 37">
            <a:extLst xmlns:a="http://schemas.openxmlformats.org/drawingml/2006/main">
              <a:ext uri="{FF2B5EF4-FFF2-40B4-BE49-F238E27FC236}">
                <a16:creationId xmlns:a16="http://schemas.microsoft.com/office/drawing/2014/main" id="{17090D85-C48A-43DD-BF60-CEFD3AA330F1}"/>
              </a:ext>
            </a:extLst>
          </p:cNvPr>
          <p:cNvSpPr>
            <a:spLocks xmlns:a="http://schemas.openxmlformats.org/drawingml/2006/main" noGrp="1"/>
          </p:cNvSpPr>
          <p:nvPr/>
        </p:nvSpPr>
        <p:spPr>
          <a:xfrm xmlns:a="http://schemas.openxmlformats.org/drawingml/2006/main">
            <a:off x="10439400" y="2266950"/>
            <a:ext cx="1409700" cy="1352550"/>
          </a:xfrm>
          <a:prstGeom xmlns:a="http://schemas.openxmlformats.org/drawingml/2006/main" prst="roundRect">
            <a:avLst>
              <a:gd name="adj" fmla="val 8451"/>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8A39A79D-573C-4BE9-94EE-BAE16E62CB7E}"/>
              </a:ext>
            </a:extLst>
          </p:cNvPr>
          <p:cNvSpPr>
            <a:spLocks xmlns:a="http://schemas.openxmlformats.org/drawingml/2006/main" noGrp="1"/>
          </p:cNvSpPr>
          <p:nvPr/>
        </p:nvSpPr>
        <p:spPr>
          <a:xfrm xmlns:a="http://schemas.openxmlformats.org/drawingml/2006/main">
            <a:off x="10534650" y="24193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DETECTION</a:t>
            </a:r>
          </a:p>
        </p:txBody>
      </p:sp>
      <p:sp>
        <p:nvSpPr>
          <p:cNvPr id="40" name="Rectangle 39">
            <a:extLst xmlns:a="http://schemas.openxmlformats.org/drawingml/2006/main">
              <a:ext uri="{FF2B5EF4-FFF2-40B4-BE49-F238E27FC236}">
                <a16:creationId xmlns:a16="http://schemas.microsoft.com/office/drawing/2014/main" id="{893B2DB4-5FBC-4B96-A421-73E04DDE5511}"/>
              </a:ext>
            </a:extLst>
          </p:cNvPr>
          <p:cNvSpPr>
            <a:spLocks xmlns:a="http://schemas.openxmlformats.org/drawingml/2006/main" noGrp="1"/>
          </p:cNvSpPr>
          <p:nvPr/>
        </p:nvSpPr>
        <p:spPr>
          <a:xfrm xmlns:a="http://schemas.openxmlformats.org/drawingml/2006/main">
            <a:off x="10534650" y="2762250"/>
            <a:ext cx="121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465"/>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Stable breach</a:t>
            </a:r>
          </a:p>
        </p:txBody>
      </p:sp>
      <p:sp>
        <p:nvSpPr>
          <p:cNvPr id="41" name="Rectangle 40">
            <a:extLst xmlns:a="http://schemas.openxmlformats.org/drawingml/2006/main">
              <a:ext uri="{FF2B5EF4-FFF2-40B4-BE49-F238E27FC236}">
                <a16:creationId xmlns:a16="http://schemas.microsoft.com/office/drawing/2014/main" id="{4423FC13-4129-4499-B614-8A96C4A3587F}"/>
              </a:ext>
            </a:extLst>
          </p:cNvPr>
          <p:cNvSpPr>
            <a:spLocks xmlns:a="http://schemas.openxmlformats.org/drawingml/2006/main" noGrp="1"/>
          </p:cNvSpPr>
          <p:nvPr/>
        </p:nvSpPr>
        <p:spPr>
          <a:xfrm xmlns:a="http://schemas.openxmlformats.org/drawingml/2006/main">
            <a:off x="10534650" y="327660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M5</a:t>
            </a:r>
          </a:p>
        </p:txBody>
      </p:sp>
      <p:sp>
        <p:nvSpPr>
          <p:cNvPr id="42" name="Rectangle: Rounded Corners 41">
            <a:extLst xmlns:a="http://schemas.openxmlformats.org/drawingml/2006/main">
              <a:ext uri="{FF2B5EF4-FFF2-40B4-BE49-F238E27FC236}">
                <a16:creationId xmlns:a16="http://schemas.microsoft.com/office/drawing/2014/main" id="{E5286AD9-E45F-42C7-8E9C-6778241B4843}"/>
              </a:ext>
            </a:extLst>
          </p:cNvPr>
          <p:cNvSpPr>
            <a:spLocks xmlns:a="http://schemas.openxmlformats.org/drawingml/2006/main" noGrp="1"/>
          </p:cNvSpPr>
          <p:nvPr/>
        </p:nvSpPr>
        <p:spPr>
          <a:xfrm xmlns:a="http://schemas.openxmlformats.org/drawingml/2006/main">
            <a:off x="3581400" y="4514850"/>
            <a:ext cx="5086350" cy="704850"/>
          </a:xfrm>
          <a:prstGeom xmlns:a="http://schemas.openxmlformats.org/drawingml/2006/main" prst="roundRect">
            <a:avLst>
              <a:gd name="adj" fmla="val 16216"/>
            </a:avLst>
          </a:prstGeom>
          <a:solidFill xmlns:a="http://schemas.openxmlformats.org/drawingml/2006/main">
            <a:srgbClr val="FBEDE6"/>
          </a:solidFill>
          <a:ln xmlns:a="http://schemas.openxmlformats.org/drawingml/2006/main" w="9525">
            <a:solidFill>
              <a:srgbClr val="C1440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Rectangle 42">
            <a:extLst xmlns:a="http://schemas.openxmlformats.org/drawingml/2006/main">
              <a:ext uri="{FF2B5EF4-FFF2-40B4-BE49-F238E27FC236}">
                <a16:creationId xmlns:a16="http://schemas.microsoft.com/office/drawing/2014/main" id="{E823351E-A9E7-4CC3-9A26-08E3F83A6F59}"/>
              </a:ext>
            </a:extLst>
          </p:cNvPr>
          <p:cNvSpPr>
            <a:spLocks xmlns:a="http://schemas.openxmlformats.org/drawingml/2006/main" noGrp="1"/>
          </p:cNvSpPr>
          <p:nvPr/>
        </p:nvSpPr>
        <p:spPr>
          <a:xfrm xmlns:a="http://schemas.openxmlformats.org/drawingml/2006/main">
            <a:off x="3790950" y="46482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Violation event returns to path computation</a:t>
            </a:r>
          </a:p>
        </p:txBody>
      </p:sp>
      <p:sp>
        <p:nvSpPr>
          <p:cNvPr id="44" name="Rectangle 43">
            <a:extLst xmlns:a="http://schemas.openxmlformats.org/drawingml/2006/main">
              <a:ext uri="{FF2B5EF4-FFF2-40B4-BE49-F238E27FC236}">
                <a16:creationId xmlns:a16="http://schemas.microsoft.com/office/drawing/2014/main" id="{CD64AF9E-1852-4671-A737-79D328450E2D}"/>
              </a:ext>
            </a:extLst>
          </p:cNvPr>
          <p:cNvSpPr>
            <a:spLocks xmlns:a="http://schemas.openxmlformats.org/drawingml/2006/main" noGrp="1"/>
          </p:cNvSpPr>
          <p:nvPr/>
        </p:nvSpPr>
        <p:spPr>
          <a:xfrm xmlns:a="http://schemas.openxmlformats.org/drawingml/2006/main">
            <a:off x="3790950" y="4933950"/>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C1440E"/>
                </a:solidFill>
                <a:latin typeface="Calibri"/>
                <a:ea typeface="Calibri"/>
                <a:cs typeface="Calibri"/>
              </a:defRPr>
            </a:pPr>
            <a:r>
              <a:rPr b="0">
                <a:solidFill>
                  <a:srgbClr val="C1440E"/>
                </a:solidFill>
                <a:latin typeface="Calibri"/>
                <a:ea typeface="Calibri"/>
                <a:cs typeface="Calibri"/>
              </a:rPr>
              <a:t>not implemented (ST-7)</a:t>
            </a:r>
          </a:p>
        </p:txBody>
      </p:sp>
      <p:sp>
        <p:nvSpPr>
          <p:cNvPr id="45" name="Straight Connector 44">
            <a:extLst xmlns:a="http://schemas.openxmlformats.org/drawingml/2006/main">
              <a:ext uri="{FF2B5EF4-FFF2-40B4-BE49-F238E27FC236}">
                <a16:creationId xmlns:a16="http://schemas.microsoft.com/office/drawing/2014/main" id="{48797C96-B3FD-494C-9389-D073D8CA2554}"/>
              </a:ext>
            </a:extLst>
          </p:cNvPr>
          <p:cNvSpPr>
            <a:spLocks xmlns:a="http://schemas.openxmlformats.org/drawingml/2006/main" noGrp="1"/>
          </p:cNvSpPr>
          <p:nvPr/>
        </p:nvSpPr>
        <p:spPr>
          <a:xfrm xmlns:a="http://schemas.openxmlformats.org/drawingml/2006/main">
            <a:off x="10829925" y="3857625"/>
            <a:ext cx="0" cy="657225"/>
          </a:xfrm>
          <a:prstGeom xmlns:a="http://schemas.openxmlformats.org/drawingml/2006/main" prst="line">
            <a:avLst/>
          </a:prstGeom>
          <a:noFill xmlns:a="http://schemas.openxmlformats.org/drawingml/2006/main"/>
          <a:ln xmlns:a="http://schemas.openxmlformats.org/drawingml/2006/main" w="19050">
            <a:solidFill>
              <a:srgbClr val="C1440E"/>
            </a:solidFill>
            <a:prstDash val="dash"/>
          </a:ln>
        </p:spPr>
        <p:txBody>
          <a:bodyPr xmlns:a="http://schemas.openxmlformats.org/drawingml/2006/main"/>
          <a:lstStyle xmlns:a="http://schemas.openxmlformats.org/drawingml/2006/main"/>
          <a:p xmlns:a="http://schemas.openxmlformats.org/drawingml/2006/main">
            <a:endParaRPr/>
          </a:p>
        </p:txBody>
      </p:sp>
      <p:sp>
        <p:nvSpPr>
          <p:cNvPr id="46" name="Straight Connector 45">
            <a:extLst xmlns:a="http://schemas.openxmlformats.org/drawingml/2006/main">
              <a:ext uri="{FF2B5EF4-FFF2-40B4-BE49-F238E27FC236}">
                <a16:creationId xmlns:a16="http://schemas.microsoft.com/office/drawing/2014/main" id="{CDEB4342-D20C-4687-B8C0-3B8C099D7B76}"/>
              </a:ext>
            </a:extLst>
          </p:cNvPr>
          <p:cNvSpPr>
            <a:spLocks xmlns:a="http://schemas.openxmlformats.org/drawingml/2006/main" noGrp="1"/>
          </p:cNvSpPr>
          <p:nvPr/>
        </p:nvSpPr>
        <p:spPr>
          <a:xfrm xmlns:a="http://schemas.openxmlformats.org/drawingml/2006/main">
            <a:off x="3581400" y="5238750"/>
            <a:ext cx="5086350" cy="0"/>
          </a:xfrm>
          <a:prstGeom xmlns:a="http://schemas.openxmlformats.org/drawingml/2006/main" prst="line">
            <a:avLst/>
          </a:prstGeom>
          <a:noFill xmlns:a="http://schemas.openxmlformats.org/drawingml/2006/main"/>
          <a:ln xmlns:a="http://schemas.openxmlformats.org/drawingml/2006/main" w="19050">
            <a:solidFill>
              <a:srgbClr val="C1440E"/>
            </a:solidFill>
            <a:prstDash val="dash"/>
          </a:ln>
        </p:spPr>
        <p:txBody>
          <a:bodyPr xmlns:a="http://schemas.openxmlformats.org/drawingml/2006/main"/>
          <a:lstStyle xmlns:a="http://schemas.openxmlformats.org/drawingml/2006/main"/>
          <a:p xmlns:a="http://schemas.openxmlformats.org/drawingml/2006/main">
            <a:endParaRPr/>
          </a:p>
        </p:txBody>
      </p:sp>
      <p:sp>
        <p:nvSpPr>
          <p:cNvPr id="47" name="Straight Connector 46">
            <a:extLst xmlns:a="http://schemas.openxmlformats.org/drawingml/2006/main">
              <a:ext uri="{FF2B5EF4-FFF2-40B4-BE49-F238E27FC236}">
                <a16:creationId xmlns:a16="http://schemas.microsoft.com/office/drawing/2014/main" id="{24B6CEAB-B62F-4D2B-863A-BFC34A8C6E8D}"/>
              </a:ext>
            </a:extLst>
          </p:cNvPr>
          <p:cNvSpPr>
            <a:spLocks xmlns:a="http://schemas.openxmlformats.org/drawingml/2006/main" noGrp="1"/>
          </p:cNvSpPr>
          <p:nvPr/>
        </p:nvSpPr>
        <p:spPr>
          <a:xfrm xmlns:a="http://schemas.openxmlformats.org/drawingml/2006/main">
            <a:off x="3581400" y="3857625"/>
            <a:ext cx="0" cy="1381125"/>
          </a:xfrm>
          <a:prstGeom xmlns:a="http://schemas.openxmlformats.org/drawingml/2006/main" prst="line">
            <a:avLst/>
          </a:prstGeom>
          <a:noFill xmlns:a="http://schemas.openxmlformats.org/drawingml/2006/main"/>
          <a:ln xmlns:a="http://schemas.openxmlformats.org/drawingml/2006/main" w="19050">
            <a:solidFill>
              <a:srgbClr val="C1440E"/>
            </a:solidFill>
            <a:prstDash val="dash"/>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435945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EEC1D1F6-7E31-417A-BE5B-23F7744D0E5C}"/>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INPUT</a:t>
            </a:r>
          </a:p>
        </p:txBody>
      </p:sp>
      <p:sp>
        <p:nvSpPr>
          <p:cNvPr id="2" name="Rectangle 1">
            <a:extLst xmlns:a="http://schemas.openxmlformats.org/drawingml/2006/main">
              <a:ext uri="{FF2B5EF4-FFF2-40B4-BE49-F238E27FC236}">
                <a16:creationId xmlns:a16="http://schemas.microsoft.com/office/drawing/2014/main" id="{3717A1CA-F753-4E0C-B233-60C8A2C3056D}"/>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The intent specification</a:t>
            </a:r>
          </a:p>
        </p:txBody>
      </p:sp>
      <p:sp>
        <p:nvSpPr>
          <p:cNvPr id="3" name="Rectangle 2">
            <a:extLst xmlns:a="http://schemas.openxmlformats.org/drawingml/2006/main">
              <a:ext uri="{FF2B5EF4-FFF2-40B4-BE49-F238E27FC236}">
                <a16:creationId xmlns:a16="http://schemas.microsoft.com/office/drawing/2014/main" id="{D10CBCD0-CDFE-42EE-BA56-01FEFDA41D90}"/>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INT-001 describes traffic identity, service guarantees and violation policy</a:t>
            </a:r>
          </a:p>
        </p:txBody>
      </p:sp>
      <p:sp>
        <p:nvSpPr>
          <p:cNvPr id="4" name="Rectangle 3">
            <a:extLst xmlns:a="http://schemas.openxmlformats.org/drawingml/2006/main">
              <a:ext uri="{FF2B5EF4-FFF2-40B4-BE49-F238E27FC236}">
                <a16:creationId xmlns:a16="http://schemas.microsoft.com/office/drawing/2014/main" id="{3D53CBC0-47D3-4621-8A29-F8FF07C8BA1E}"/>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82034B89-A650-4B01-A8F8-D526F670B9A3}"/>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578C7082-9A6C-4954-9E52-242D95252845}"/>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A1324226-1FC7-4D91-8102-4FED64B5992A}"/>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09</a:t>
            </a:r>
          </a:p>
        </p:txBody>
      </p:sp>
      <p:sp>
        <p:nvSpPr>
          <p:cNvPr id="8" name="Rectangle: Rounded Corners 7">
            <a:extLst xmlns:a="http://schemas.openxmlformats.org/drawingml/2006/main">
              <a:ext uri="{FF2B5EF4-FFF2-40B4-BE49-F238E27FC236}">
                <a16:creationId xmlns:a16="http://schemas.microsoft.com/office/drawing/2014/main" id="{B4E41883-9CED-467F-81C5-25988B59EBED}"/>
              </a:ext>
            </a:extLst>
          </p:cNvPr>
          <p:cNvSpPr>
            <a:spLocks xmlns:a="http://schemas.openxmlformats.org/drawingml/2006/main" noGrp="1"/>
          </p:cNvSpPr>
          <p:nvPr/>
        </p:nvSpPr>
        <p:spPr>
          <a:xfrm xmlns:a="http://schemas.openxmlformats.org/drawingml/2006/main">
            <a:off x="561975" y="1609725"/>
            <a:ext cx="5715000" cy="4400550"/>
          </a:xfrm>
          <a:prstGeom xmlns:a="http://schemas.openxmlformats.org/drawingml/2006/main" prst="roundRect">
            <a:avLst>
              <a:gd name="adj" fmla="val 2597"/>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Picture 20"/>
          <p:cNvPicPr>
            <a:picLocks xmlns:a="http://schemas.openxmlformats.org/drawingml/2006/main" noChangeAspect="1"/>
          </p:cNvPicPr>
          <p:nvPr/>
        </p:nvPicPr>
        <p:blipFill>
          <a:blip xmlns:r="http://schemas.openxmlformats.org/officeDocument/2006/relationships" xmlns:a="http://schemas.openxmlformats.org/drawingml/2006/main" r:embed="R23deb12869ed4b66"/>
          <a:stretch xmlns:a="http://schemas.openxmlformats.org/drawingml/2006/main"/>
        </p:blipFill>
        <p:spPr>
          <a:xfrm xmlns:a="http://schemas.openxmlformats.org/drawingml/2006/main">
            <a:off x="609600" y="1662394"/>
            <a:ext cx="5619750" cy="4295211"/>
          </a:xfrm>
          <a:prstGeom xmlns:a="http://schemas.openxmlformats.org/drawingml/2006/main" prst="roundRect">
            <a:avLst>
              <a:gd name="adj" fmla="val 1770"/>
            </a:avLst>
          </a:prstGeom>
        </p:spPr>
      </p:pic>
      <p:graphicFrame>
        <p:nvGraphicFramePr>
          <p:cNvPr id="30" name="Table 21"/>
          <p:cNvGraphicFramePr/>
          <p:nvPr/>
        </p:nvGraphicFramePr>
        <p:xfrm>
          <a:off xmlns:a="http://schemas.openxmlformats.org/drawingml/2006/main" x="6667500" y="1885950"/>
          <a:ext xmlns:a="http://schemas.openxmlformats.org/drawingml/2006/main" cx="4667250" cy="3259455"/>
        </p:xfrm>
        <a:graphic xmlns:a="http://schemas.openxmlformats.org/drawingml/2006/main">
          <a:graphicData uri="http://schemas.openxmlformats.org/drawingml/2006/table">
            <a:tbl>
              <a:tblPr/>
              <a:tblGrid>
                <a:gridCol w="1428750"/>
                <a:gridCol w="3238500"/>
              </a:tblGrid>
              <a:tr h="523875">
                <a:tc>
                  <a:txBody>
                    <a:bodyPr/>
                    <a:lstStyle/>
                    <a:p>
                      <a:r>
                        <a:rPr b="1">
                          <a:solidFill>
                            <a:srgbClr val="FFFFFF"/>
                          </a:solidFill>
                          <a:latin typeface="Calibri"/>
                          <a:ea typeface="Calibri"/>
                          <a:cs typeface="Calibri"/>
                        </a:rPr>
                        <a:t>Field</a:t>
                      </a:r>
                    </a:p>
                  </a:txBody>
                  <a:tcPr marL="91440" marR="91440" marT="45720" marB="45720">
                    <a:solidFill>
                      <a:srgbClr val="21295C"/>
                    </a:solidFill>
                  </a:tcPr>
                </a:tc>
                <a:tc>
                  <a:txBody>
                    <a:bodyPr/>
                    <a:lstStyle/>
                    <a:p>
                      <a:r>
                        <a:rPr b="1">
                          <a:solidFill>
                            <a:srgbClr val="FFFFFF"/>
                          </a:solidFill>
                          <a:latin typeface="Calibri"/>
                          <a:ea typeface="Calibri"/>
                          <a:cs typeface="Calibri"/>
                        </a:rPr>
                        <a:t>Meaning</a:t>
                      </a:r>
                    </a:p>
                  </a:txBody>
                  <a:tcPr marL="91440" marR="91440" marT="45720" marB="45720">
                    <a:solidFill>
                      <a:srgbClr val="21295C"/>
                    </a:solidFill>
                  </a:tcPr>
                </a:tc>
              </a:tr>
              <a:tr h="523875">
                <a:tc>
                  <a:txBody>
                    <a:bodyPr/>
                    <a:lstStyle/>
                    <a:p>
                      <a:r>
                        <a:rPr b="1">
                          <a:solidFill>
                            <a:srgbClr val="172333"/>
                          </a:solidFill>
                          <a:latin typeface="Calibri"/>
                          <a:ea typeface="Calibri"/>
                          <a:cs typeface="Calibri"/>
                        </a:rPr>
                        <a:t>match</a:t>
                      </a:r>
                    </a:p>
                  </a:txBody>
                  <a:tcPr marL="91440" marR="91440" marT="45720" marB="45720">
                    <a:solidFill>
                      <a:srgbClr val="FFFFFF"/>
                    </a:solidFill>
                  </a:tcPr>
                </a:tc>
                <a:tc>
                  <a:txBody>
                    <a:bodyPr/>
                    <a:lstStyle/>
                    <a:p>
                      <a:r>
                        <a:rPr b="0">
                          <a:solidFill>
                            <a:srgbClr val="172333"/>
                          </a:solidFill>
                          <a:latin typeface="Calibri"/>
                          <a:ea typeface="Calibri"/>
                          <a:cs typeface="Calibri"/>
                        </a:rPr>
                        <a:t>h1 to h2, UDP port 5001</a:t>
                      </a:r>
                    </a:p>
                  </a:txBody>
                  <a:tcPr marL="91440" marR="91440" marT="45720" marB="45720">
                    <a:solidFill>
                      <a:srgbClr val="FFFFFF"/>
                    </a:solidFill>
                  </a:tcPr>
                </a:tc>
              </a:tr>
              <a:tr h="523875">
                <a:tc>
                  <a:txBody>
                    <a:bodyPr/>
                    <a:lstStyle/>
                    <a:p>
                      <a:r>
                        <a:rPr b="1">
                          <a:solidFill>
                            <a:srgbClr val="172333"/>
                          </a:solidFill>
                          <a:latin typeface="Calibri"/>
                          <a:ea typeface="Calibri"/>
                          <a:cs typeface="Calibri"/>
                        </a:rPr>
                        <a:t>/32</a:t>
                      </a:r>
                    </a:p>
                  </a:txBody>
                  <a:tcPr marL="91440" marR="91440" marT="45720" marB="45720">
                    <a:solidFill>
                      <a:srgbClr val="F4F7F9"/>
                    </a:solidFill>
                  </a:tcPr>
                </a:tc>
                <a:tc>
                  <a:txBody>
                    <a:bodyPr/>
                    <a:lstStyle/>
                    <a:p>
                      <a:r>
                        <a:rPr b="0">
                          <a:solidFill>
                            <a:srgbClr val="172333"/>
                          </a:solidFill>
                          <a:latin typeface="Calibri"/>
                          <a:ea typeface="Calibri"/>
                          <a:cs typeface="Calibri"/>
                        </a:rPr>
                        <a:t>one exact IPv4 address</a:t>
                      </a:r>
                    </a:p>
                  </a:txBody>
                  <a:tcPr marL="91440" marR="91440" marT="45720" marB="45720">
                    <a:solidFill>
                      <a:srgbClr val="F4F7F9"/>
                    </a:solidFill>
                  </a:tcPr>
                </a:tc>
              </a:tr>
              <a:tr h="523875">
                <a:tc>
                  <a:txBody>
                    <a:bodyPr/>
                    <a:lstStyle/>
                    <a:p>
                      <a:r>
                        <a:rPr b="1">
                          <a:solidFill>
                            <a:srgbClr val="172333"/>
                          </a:solidFill>
                          <a:latin typeface="Calibri"/>
                          <a:ea typeface="Calibri"/>
                          <a:cs typeface="Calibri"/>
                        </a:rPr>
                        <a:t>guarantee</a:t>
                      </a:r>
                    </a:p>
                  </a:txBody>
                  <a:tcPr marL="91440" marR="91440" marT="45720" marB="45720">
                    <a:solidFill>
                      <a:srgbClr val="FFFFFF"/>
                    </a:solidFill>
                  </a:tcPr>
                </a:tc>
                <a:tc>
                  <a:txBody>
                    <a:bodyPr/>
                    <a:lstStyle/>
                    <a:p>
                      <a:r>
                        <a:rPr b="0">
                          <a:solidFill>
                            <a:srgbClr val="172333"/>
                          </a:solidFill>
                          <a:latin typeface="Calibri"/>
                          <a:ea typeface="Calibri"/>
                          <a:cs typeface="Calibri"/>
                        </a:rPr>
                        <a:t>20 Mbps, 20 ms, 0.5% loss</a:t>
                      </a:r>
                    </a:p>
                  </a:txBody>
                  <a:tcPr marL="91440" marR="91440" marT="45720" marB="45720">
                    <a:solidFill>
                      <a:srgbClr val="FFFFFF"/>
                    </a:solidFill>
                  </a:tcPr>
                </a:tc>
              </a:tr>
              <a:tr h="523875">
                <a:tc>
                  <a:txBody>
                    <a:bodyPr/>
                    <a:lstStyle/>
                    <a:p>
                      <a:r>
                        <a:rPr b="1">
                          <a:solidFill>
                            <a:srgbClr val="172333"/>
                          </a:solidFill>
                          <a:latin typeface="Calibri"/>
                          <a:ea typeface="Calibri"/>
                          <a:cs typeface="Calibri"/>
                        </a:rPr>
                        <a:t>priority 1</a:t>
                      </a:r>
                    </a:p>
                  </a:txBody>
                  <a:tcPr marL="91440" marR="91440" marT="45720" marB="45720">
                    <a:solidFill>
                      <a:srgbClr val="F4F7F9"/>
                    </a:solidFill>
                  </a:tcPr>
                </a:tc>
                <a:tc>
                  <a:txBody>
                    <a:bodyPr/>
                    <a:lstStyle/>
                    <a:p>
                      <a:r>
                        <a:rPr b="0">
                          <a:solidFill>
                            <a:srgbClr val="172333"/>
                          </a:solidFill>
                          <a:latin typeface="Calibri"/>
                          <a:ea typeface="Calibri"/>
                          <a:cs typeface="Calibri"/>
                        </a:rPr>
                        <a:t>highest service priority</a:t>
                      </a:r>
                    </a:p>
                  </a:txBody>
                  <a:tcPr marL="91440" marR="91440" marT="45720" marB="45720">
                    <a:solidFill>
                      <a:srgbClr val="F4F7F9"/>
                    </a:solidFill>
                  </a:tcPr>
                </a:tc>
              </a:tr>
              <a:tr h="523875">
                <a:tc>
                  <a:txBody>
                    <a:bodyPr/>
                    <a:lstStyle/>
                    <a:p>
                      <a:r>
                        <a:rPr b="1">
                          <a:solidFill>
                            <a:srgbClr val="172333"/>
                          </a:solidFill>
                          <a:latin typeface="Calibri"/>
                          <a:ea typeface="Calibri"/>
                          <a:cs typeface="Calibri"/>
                        </a:rPr>
                        <a:t>dwell_seconds</a:t>
                      </a:r>
                    </a:p>
                  </a:txBody>
                  <a:tcPr marL="91440" marR="91440" marT="45720" marB="45720">
                    <a:solidFill>
                      <a:srgbClr val="FFFFFF"/>
                    </a:solidFill>
                  </a:tcPr>
                </a:tc>
                <a:tc>
                  <a:txBody>
                    <a:bodyPr/>
                    <a:lstStyle/>
                    <a:p>
                      <a:r>
                        <a:rPr b="0">
                          <a:solidFill>
                            <a:srgbClr val="172333"/>
                          </a:solidFill>
                          <a:latin typeface="Calibri"/>
                          <a:ea typeface="Calibri"/>
                          <a:cs typeface="Calibri"/>
                        </a:rPr>
                        <a:t>wait 10 s before another replan</a:t>
                      </a:r>
                    </a:p>
                  </a:txBody>
                  <a:tcPr marL="91440" marR="91440" marT="45720" marB="45720">
                    <a:solidFill>
                      <a:srgbClr val="FFFFFF"/>
                    </a:solidFill>
                  </a:tcPr>
                </a:tc>
              </a:tr>
            </a:tbl>
          </a:graphicData>
        </a:graphic>
      </p:graphicFrame>
      <p:sp>
        <p:nvSpPr>
          <p:cNvPr id="11" name="Rectangle: Rounded Corners 10">
            <a:extLst xmlns:a="http://schemas.openxmlformats.org/drawingml/2006/main">
              <a:ext uri="{FF2B5EF4-FFF2-40B4-BE49-F238E27FC236}">
                <a16:creationId xmlns:a16="http://schemas.microsoft.com/office/drawing/2014/main" id="{35B817A0-DCE2-47FD-A4C7-552766A34023}"/>
              </a:ext>
            </a:extLst>
          </p:cNvPr>
          <p:cNvSpPr>
            <a:spLocks xmlns:a="http://schemas.openxmlformats.org/drawingml/2006/main" noGrp="1"/>
          </p:cNvSpPr>
          <p:nvPr/>
        </p:nvSpPr>
        <p:spPr>
          <a:xfrm xmlns:a="http://schemas.openxmlformats.org/drawingml/2006/main">
            <a:off x="6667500" y="5238750"/>
            <a:ext cx="4667250" cy="704850"/>
          </a:xfrm>
          <a:prstGeom xmlns:a="http://schemas.openxmlformats.org/drawingml/2006/main" prst="roundRect">
            <a:avLst>
              <a:gd name="adj" fmla="val 13514"/>
            </a:avLst>
          </a:prstGeom>
          <a:solidFill xmlns:a="http://schemas.openxmlformats.org/drawingml/2006/main">
            <a:srgbClr val="FBEDE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A7BB409F-B319-4F90-AF05-337FD38074E7}"/>
              </a:ext>
            </a:extLst>
          </p:cNvPr>
          <p:cNvSpPr>
            <a:spLocks xmlns:a="http://schemas.openxmlformats.org/drawingml/2006/main" noGrp="1"/>
          </p:cNvSpPr>
          <p:nvPr/>
        </p:nvSpPr>
        <p:spPr>
          <a:xfrm xmlns:a="http://schemas.openxmlformats.org/drawingml/2006/main">
            <a:off x="6877050" y="539115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250"/>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Strict mode requests a two-phase update, but that mechanism remains ST-10 work.</a:t>
            </a:r>
          </a:p>
        </p:txBody>
      </p:sp>
      <p:sp>
        <p:nvSpPr>
          <p:cNvPr id="16" name="Verified evidence 9">
            <a:extLst xmlns:a="http://schemas.openxmlformats.org/drawingml/2006/main">
              <a:ext uri="{FF2B5EF4-FFF2-40B4-BE49-F238E27FC236}">
                <a16:creationId xmlns:a16="http://schemas.microsoft.com/office/drawing/2014/main" id="{0B6198D3-4C80-4569-88BA-07893D3C1F1D}"/>
              </a:ext>
            </a:extLst>
          </p:cNvPr>
          <p:cNvSpPr>
            <a:spLocks xmlns:a="http://schemas.openxmlformats.org/drawingml/2006/main" noGrp="1"/>
          </p:cNvSpPr>
          <p:nvPr/>
        </p:nvSpPr>
        <p:spPr>
          <a:xfrm xmlns:a="http://schemas.openxmlformats.org/drawingml/2006/main">
            <a:off x="609600" y="1662398"/>
            <a:ext cx="5619750" cy="4295204"/>
          </a:xfrm>
          <a:prstGeom xmlns:a="http://schemas.openxmlformats.org/drawingml/2006/main" prst="roundRect">
            <a:avLst>
              <a:gd name="adj" fmla="val 2661"/>
            </a:avLst>
          </a:prstGeom>
          <a:solidFill xmlns:a="http://schemas.openxmlformats.org/drawingml/2006/main">
            <a:srgbClr val="F7FAFC"/>
          </a:solidFill>
          <a:ln xmlns:a="http://schemas.openxmlformats.org/drawingml/2006/main" w="11430">
            <a:solidFill>
              <a:srgbClr val="8BA8BB"/>
            </a:solidFill>
            <a:prstDash val="solid"/>
          </a:ln>
        </p:spPr>
      </p:sp>
      <p:sp>
        <p:nvSpPr>
          <p:cNvPr id="17" name="Verified evidence header 9">
            <a:extLst xmlns:a="http://schemas.openxmlformats.org/drawingml/2006/main">
              <a:ext uri="{FF2B5EF4-FFF2-40B4-BE49-F238E27FC236}">
                <a16:creationId xmlns:a16="http://schemas.microsoft.com/office/drawing/2014/main" id="{85B614C6-23D5-46EA-8F61-7529D92E92E6}"/>
              </a:ext>
            </a:extLst>
          </p:cNvPr>
          <p:cNvSpPr>
            <a:spLocks xmlns:a="http://schemas.openxmlformats.org/drawingml/2006/main" noGrp="1"/>
          </p:cNvSpPr>
          <p:nvPr/>
        </p:nvSpPr>
        <p:spPr>
          <a:xfrm xmlns:a="http://schemas.openxmlformats.org/drawingml/2006/main">
            <a:off x="609600" y="1662398"/>
            <a:ext cx="5619750"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18" name="Verified evidence title 9">
            <a:extLst xmlns:a="http://schemas.openxmlformats.org/drawingml/2006/main">
              <a:ext uri="{FF2B5EF4-FFF2-40B4-BE49-F238E27FC236}">
                <a16:creationId xmlns:a16="http://schemas.microsoft.com/office/drawing/2014/main" id="{89F19F95-D6C1-413A-B4E4-36A4AD4AC0A0}"/>
              </a:ext>
            </a:extLst>
          </p:cNvPr>
          <p:cNvSpPr>
            <a:spLocks xmlns:a="http://schemas.openxmlformats.org/drawingml/2006/main" noGrp="1"/>
          </p:cNvSpPr>
          <p:nvPr/>
        </p:nvSpPr>
        <p:spPr>
          <a:xfrm xmlns:a="http://schemas.openxmlformats.org/drawingml/2006/main">
            <a:off x="781050" y="1738598"/>
            <a:ext cx="5276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REPOSITORY INPUT</a:t>
            </a:r>
          </a:p>
        </p:txBody>
      </p:sp>
      <p:sp>
        <p:nvSpPr>
          <p:cNvPr id="19" name="Verified evidence source 9">
            <a:extLst xmlns:a="http://schemas.openxmlformats.org/drawingml/2006/main">
              <a:ext uri="{FF2B5EF4-FFF2-40B4-BE49-F238E27FC236}">
                <a16:creationId xmlns:a16="http://schemas.microsoft.com/office/drawing/2014/main" id="{206B68EE-676E-487A-A829-66F1BBFB7C51}"/>
              </a:ext>
            </a:extLst>
          </p:cNvPr>
          <p:cNvSpPr>
            <a:spLocks xmlns:a="http://schemas.openxmlformats.org/drawingml/2006/main" noGrp="1"/>
          </p:cNvSpPr>
          <p:nvPr/>
        </p:nvSpPr>
        <p:spPr>
          <a:xfrm xmlns:a="http://schemas.openxmlformats.org/drawingml/2006/main">
            <a:off x="781050" y="1910048"/>
            <a:ext cx="52768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Command: type intents\s1_urllc_baseline.yaml</a:t>
            </a:r>
          </a:p>
        </p:txBody>
      </p:sp>
      <p:sp>
        <p:nvSpPr>
          <p:cNvPr id="20" name="Verbatim output 9">
            <a:extLst xmlns:a="http://schemas.openxmlformats.org/drawingml/2006/main">
              <a:ext uri="{FF2B5EF4-FFF2-40B4-BE49-F238E27FC236}">
                <a16:creationId xmlns:a16="http://schemas.microsoft.com/office/drawing/2014/main" id="{67DB4F33-74DD-4352-B125-80291E052EDD}"/>
              </a:ext>
            </a:extLst>
          </p:cNvPr>
          <p:cNvSpPr>
            <a:spLocks xmlns:a="http://schemas.openxmlformats.org/drawingml/2006/main" noGrp="1"/>
          </p:cNvSpPr>
          <p:nvPr/>
        </p:nvSpPr>
        <p:spPr>
          <a:xfrm xmlns:a="http://schemas.openxmlformats.org/drawingml/2006/main">
            <a:off x="781050" y="2214848"/>
            <a:ext cx="5276850" cy="3628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Scenario S1 - single URLLC intent on an idle network.</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Exercises M1, M3, M4 happy path. Expected: path installed,</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SLA green, baseline latency recorded.</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intent:</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id: INT-001</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tenant: telemedicine-video</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priority: 1</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match:</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src: 10.0.0.1/32</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dst: 10.0.0.2/32</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proto: udp</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dport: 5001</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guarantee:</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min_bandwidth_mbps: 20</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max_latency_ms: 20</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max_loss_pct: 0.5</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consistency: strict</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on_violation: reroute</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dwell_seconds: 10</a:t>
            </a:r>
          </a:p>
        </p:txBody>
      </p:sp>
    </p:spTree>
    <p:extLst>
      <p:ext uri="{BB962C8B-B14F-4D97-AF65-F5344CB8AC3E}">
        <p14:creationId xmlns:p14="http://schemas.microsoft.com/office/powerpoint/2010/main" val="5500974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Rectangle 27">
            <a:extLst xmlns:a="http://schemas.openxmlformats.org/drawingml/2006/main">
              <a:ext uri="{FF2B5EF4-FFF2-40B4-BE49-F238E27FC236}">
                <a16:creationId xmlns:a16="http://schemas.microsoft.com/office/drawing/2014/main" id="{5D113E34-6D32-4A9F-8273-B0F135E859D9}"/>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INPUT</a:t>
            </a:r>
          </a:p>
        </p:txBody>
      </p:sp>
      <p:sp>
        <p:nvSpPr>
          <p:cNvPr id="2" name="Rectangle 1">
            <a:extLst xmlns:a="http://schemas.openxmlformats.org/drawingml/2006/main">
              <a:ext uri="{FF2B5EF4-FFF2-40B4-BE49-F238E27FC236}">
                <a16:creationId xmlns:a16="http://schemas.microsoft.com/office/drawing/2014/main" id="{49F756FC-269B-42AA-8E4E-65177EB99130}"/>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Intent submission and acceptance</a:t>
            </a:r>
          </a:p>
        </p:txBody>
      </p:sp>
      <p:sp>
        <p:nvSpPr>
          <p:cNvPr id="3" name="Rectangle 2">
            <a:extLst xmlns:a="http://schemas.openxmlformats.org/drawingml/2006/main">
              <a:ext uri="{FF2B5EF4-FFF2-40B4-BE49-F238E27FC236}">
                <a16:creationId xmlns:a16="http://schemas.microsoft.com/office/drawing/2014/main" id="{97FD7A8C-6279-4F36-91E0-8CC7AE97132E}"/>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The REST API returns the selected route and its expected service characteristics</a:t>
            </a:r>
          </a:p>
        </p:txBody>
      </p:sp>
      <p:sp>
        <p:nvSpPr>
          <p:cNvPr id="4" name="Rectangle 3">
            <a:extLst xmlns:a="http://schemas.openxmlformats.org/drawingml/2006/main">
              <a:ext uri="{FF2B5EF4-FFF2-40B4-BE49-F238E27FC236}">
                <a16:creationId xmlns:a16="http://schemas.microsoft.com/office/drawing/2014/main" id="{55D8EDA5-3964-40F4-9082-9C8F8CAF32CF}"/>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D1EC2FD2-8D68-4485-BCB5-AE099D77793B}"/>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B5DC1586-DF41-445E-BBCA-C22B6EB0A863}"/>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5F1557D3-9E9D-4FE1-B5CA-49F2D5634C0B}"/>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10</a:t>
            </a:r>
          </a:p>
        </p:txBody>
      </p:sp>
      <p:sp>
        <p:nvSpPr>
          <p:cNvPr id="8" name="Rectangle: Rounded Corners 7">
            <a:extLst xmlns:a="http://schemas.openxmlformats.org/drawingml/2006/main">
              <a:ext uri="{FF2B5EF4-FFF2-40B4-BE49-F238E27FC236}">
                <a16:creationId xmlns:a16="http://schemas.microsoft.com/office/drawing/2014/main" id="{C9D0AC12-50D5-4376-965A-D748FCFC8F67}"/>
              </a:ext>
            </a:extLst>
          </p:cNvPr>
          <p:cNvSpPr>
            <a:spLocks xmlns:a="http://schemas.openxmlformats.org/drawingml/2006/main" noGrp="1"/>
          </p:cNvSpPr>
          <p:nvPr/>
        </p:nvSpPr>
        <p:spPr>
          <a:xfrm xmlns:a="http://schemas.openxmlformats.org/drawingml/2006/main">
            <a:off x="542925" y="1647825"/>
            <a:ext cx="7524750" cy="4552950"/>
          </a:xfrm>
          <a:prstGeom xmlns:a="http://schemas.openxmlformats.org/drawingml/2006/main" prst="roundRect">
            <a:avLst>
              <a:gd name="adj" fmla="val 2510"/>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43" name="Picture 35"/>
          <p:cNvPicPr>
            <a:picLocks xmlns:a="http://schemas.openxmlformats.org/drawingml/2006/main" noChangeAspect="1"/>
          </p:cNvPicPr>
          <p:nvPr/>
        </p:nvPicPr>
        <p:blipFill>
          <a:blip xmlns:r="http://schemas.openxmlformats.org/officeDocument/2006/relationships" xmlns:a="http://schemas.openxmlformats.org/drawingml/2006/main" r:embed="R6ec699e690584ff2"/>
          <a:stretch xmlns:a="http://schemas.openxmlformats.org/drawingml/2006/main"/>
        </p:blipFill>
        <p:spPr>
          <a:xfrm xmlns:a="http://schemas.openxmlformats.org/drawingml/2006/main">
            <a:off x="590550" y="1698611"/>
            <a:ext cx="7429500" cy="4451377"/>
          </a:xfrm>
          <a:prstGeom xmlns:a="http://schemas.openxmlformats.org/drawingml/2006/main" prst="roundRect">
            <a:avLst>
              <a:gd name="adj" fmla="val 1709"/>
            </a:avLst>
          </a:prstGeom>
        </p:spPr>
      </p:pic>
      <p:sp>
        <p:nvSpPr>
          <p:cNvPr id="10" name="Rectangle 9">
            <a:extLst xmlns:a="http://schemas.openxmlformats.org/drawingml/2006/main">
              <a:ext uri="{FF2B5EF4-FFF2-40B4-BE49-F238E27FC236}">
                <a16:creationId xmlns:a16="http://schemas.microsoft.com/office/drawing/2014/main" id="{D6F84707-FC26-4F6E-BB25-130C0317AA5F}"/>
              </a:ext>
            </a:extLst>
          </p:cNvPr>
          <p:cNvSpPr>
            <a:spLocks xmlns:a="http://schemas.openxmlformats.org/drawingml/2006/main" noGrp="1"/>
          </p:cNvSpPr>
          <p:nvPr/>
        </p:nvSpPr>
        <p:spPr>
          <a:xfrm xmlns:a="http://schemas.openxmlformats.org/drawingml/2006/main">
            <a:off x="8477250" y="180975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HTTP 201 CREATED</a:t>
            </a:r>
          </a:p>
        </p:txBody>
      </p:sp>
      <p:sp>
        <p:nvSpPr>
          <p:cNvPr id="11" name="Rectangle: Rounded Corners 10">
            <a:extLst xmlns:a="http://schemas.openxmlformats.org/drawingml/2006/main">
              <a:ext uri="{FF2B5EF4-FFF2-40B4-BE49-F238E27FC236}">
                <a16:creationId xmlns:a16="http://schemas.microsoft.com/office/drawing/2014/main" id="{650DDBE2-523D-4896-A133-6279A0807CC4}"/>
              </a:ext>
            </a:extLst>
          </p:cNvPr>
          <p:cNvSpPr>
            <a:spLocks xmlns:a="http://schemas.openxmlformats.org/drawingml/2006/main" noGrp="1"/>
          </p:cNvSpPr>
          <p:nvPr/>
        </p:nvSpPr>
        <p:spPr>
          <a:xfrm xmlns:a="http://schemas.openxmlformats.org/drawingml/2006/main">
            <a:off x="8458200" y="2209800"/>
            <a:ext cx="2952750" cy="666750"/>
          </a:xfrm>
          <a:prstGeom xmlns:a="http://schemas.openxmlformats.org/drawingml/2006/main" prst="roundRect">
            <a:avLst>
              <a:gd name="adj" fmla="val 14286"/>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AE8E54CD-9279-4709-9EF0-71F1027F3CD4}"/>
              </a:ext>
            </a:extLst>
          </p:cNvPr>
          <p:cNvSpPr>
            <a:spLocks xmlns:a="http://schemas.openxmlformats.org/drawingml/2006/main" noGrp="1"/>
          </p:cNvSpPr>
          <p:nvPr/>
        </p:nvSpPr>
        <p:spPr>
          <a:xfrm xmlns:a="http://schemas.openxmlformats.org/drawingml/2006/main">
            <a:off x="8591550" y="23717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1</a:t>
            </a:r>
          </a:p>
        </p:txBody>
      </p:sp>
      <p:sp>
        <p:nvSpPr>
          <p:cNvPr id="13" name="Rectangle 12">
            <a:extLst xmlns:a="http://schemas.openxmlformats.org/drawingml/2006/main">
              <a:ext uri="{FF2B5EF4-FFF2-40B4-BE49-F238E27FC236}">
                <a16:creationId xmlns:a16="http://schemas.microsoft.com/office/drawing/2014/main" id="{61D95BE1-684E-4869-BAE0-8D39B354F765}"/>
              </a:ext>
            </a:extLst>
          </p:cNvPr>
          <p:cNvSpPr>
            <a:spLocks xmlns:a="http://schemas.openxmlformats.org/drawingml/2006/main" noGrp="1"/>
          </p:cNvSpPr>
          <p:nvPr/>
        </p:nvSpPr>
        <p:spPr>
          <a:xfrm xmlns:a="http://schemas.openxmlformats.org/drawingml/2006/main">
            <a:off x="9029700" y="23050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Validate</a:t>
            </a:r>
          </a:p>
        </p:txBody>
      </p:sp>
      <p:sp>
        <p:nvSpPr>
          <p:cNvPr id="14" name="Rectangle 13">
            <a:extLst xmlns:a="http://schemas.openxmlformats.org/drawingml/2006/main">
              <a:ext uri="{FF2B5EF4-FFF2-40B4-BE49-F238E27FC236}">
                <a16:creationId xmlns:a16="http://schemas.microsoft.com/office/drawing/2014/main" id="{FC8B1B64-132C-496C-9F7C-E1A46D63308F}"/>
              </a:ext>
            </a:extLst>
          </p:cNvPr>
          <p:cNvSpPr>
            <a:spLocks xmlns:a="http://schemas.openxmlformats.org/drawingml/2006/main" noGrp="1"/>
          </p:cNvSpPr>
          <p:nvPr/>
        </p:nvSpPr>
        <p:spPr>
          <a:xfrm xmlns:a="http://schemas.openxmlformats.org/drawingml/2006/main">
            <a:off x="9029700" y="25527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Check structure and meaning</a:t>
            </a:r>
          </a:p>
        </p:txBody>
      </p:sp>
      <p:sp>
        <p:nvSpPr>
          <p:cNvPr id="15" name="Rectangle: Rounded Corners 14">
            <a:extLst xmlns:a="http://schemas.openxmlformats.org/drawingml/2006/main">
              <a:ext uri="{FF2B5EF4-FFF2-40B4-BE49-F238E27FC236}">
                <a16:creationId xmlns:a16="http://schemas.microsoft.com/office/drawing/2014/main" id="{8629DC3B-F09C-430D-A737-445A1AF2A4C2}"/>
              </a:ext>
            </a:extLst>
          </p:cNvPr>
          <p:cNvSpPr>
            <a:spLocks xmlns:a="http://schemas.openxmlformats.org/drawingml/2006/main" noGrp="1"/>
          </p:cNvSpPr>
          <p:nvPr/>
        </p:nvSpPr>
        <p:spPr>
          <a:xfrm xmlns:a="http://schemas.openxmlformats.org/drawingml/2006/main">
            <a:off x="8458200" y="3048000"/>
            <a:ext cx="2952750" cy="666750"/>
          </a:xfrm>
          <a:prstGeom xmlns:a="http://schemas.openxmlformats.org/drawingml/2006/main" prst="roundRect">
            <a:avLst>
              <a:gd name="adj" fmla="val 14286"/>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D903898F-2A39-488C-930E-5141EE9BE736}"/>
              </a:ext>
            </a:extLst>
          </p:cNvPr>
          <p:cNvSpPr>
            <a:spLocks xmlns:a="http://schemas.openxmlformats.org/drawingml/2006/main" noGrp="1"/>
          </p:cNvSpPr>
          <p:nvPr/>
        </p:nvSpPr>
        <p:spPr>
          <a:xfrm xmlns:a="http://schemas.openxmlformats.org/drawingml/2006/main">
            <a:off x="8591550" y="32099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2</a:t>
            </a:r>
          </a:p>
        </p:txBody>
      </p:sp>
      <p:sp>
        <p:nvSpPr>
          <p:cNvPr id="17" name="Rectangle 16">
            <a:extLst xmlns:a="http://schemas.openxmlformats.org/drawingml/2006/main">
              <a:ext uri="{FF2B5EF4-FFF2-40B4-BE49-F238E27FC236}">
                <a16:creationId xmlns:a16="http://schemas.microsoft.com/office/drawing/2014/main" id="{3107DCDA-2F2C-4D87-B73F-E83F9010DA9E}"/>
              </a:ext>
            </a:extLst>
          </p:cNvPr>
          <p:cNvSpPr>
            <a:spLocks xmlns:a="http://schemas.openxmlformats.org/drawingml/2006/main" noGrp="1"/>
          </p:cNvSpPr>
          <p:nvPr/>
        </p:nvSpPr>
        <p:spPr>
          <a:xfrm xmlns:a="http://schemas.openxmlformats.org/drawingml/2006/main">
            <a:off x="9029700" y="31432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Store</a:t>
            </a:r>
          </a:p>
        </p:txBody>
      </p:sp>
      <p:sp>
        <p:nvSpPr>
          <p:cNvPr id="18" name="Rectangle 17">
            <a:extLst xmlns:a="http://schemas.openxmlformats.org/drawingml/2006/main">
              <a:ext uri="{FF2B5EF4-FFF2-40B4-BE49-F238E27FC236}">
                <a16:creationId xmlns:a16="http://schemas.microsoft.com/office/drawing/2014/main" id="{195A8CEC-C2DC-4BBC-9746-F68E3164CB0C}"/>
              </a:ext>
            </a:extLst>
          </p:cNvPr>
          <p:cNvSpPr>
            <a:spLocks xmlns:a="http://schemas.openxmlformats.org/drawingml/2006/main" noGrp="1"/>
          </p:cNvSpPr>
          <p:nvPr/>
        </p:nvSpPr>
        <p:spPr>
          <a:xfrm xmlns:a="http://schemas.openxmlformats.org/drawingml/2006/main">
            <a:off x="9029700" y="33909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Persist the accepted intent</a:t>
            </a:r>
          </a:p>
        </p:txBody>
      </p:sp>
      <p:sp>
        <p:nvSpPr>
          <p:cNvPr id="19" name="Rectangle: Rounded Corners 18">
            <a:extLst xmlns:a="http://schemas.openxmlformats.org/drawingml/2006/main">
              <a:ext uri="{FF2B5EF4-FFF2-40B4-BE49-F238E27FC236}">
                <a16:creationId xmlns:a16="http://schemas.microsoft.com/office/drawing/2014/main" id="{C4695390-2E93-4C3C-9BB6-657056C46E73}"/>
              </a:ext>
            </a:extLst>
          </p:cNvPr>
          <p:cNvSpPr>
            <a:spLocks xmlns:a="http://schemas.openxmlformats.org/drawingml/2006/main" noGrp="1"/>
          </p:cNvSpPr>
          <p:nvPr/>
        </p:nvSpPr>
        <p:spPr>
          <a:xfrm xmlns:a="http://schemas.openxmlformats.org/drawingml/2006/main">
            <a:off x="8458200" y="3886200"/>
            <a:ext cx="2952750" cy="666750"/>
          </a:xfrm>
          <a:prstGeom xmlns:a="http://schemas.openxmlformats.org/drawingml/2006/main" prst="roundRect">
            <a:avLst>
              <a:gd name="adj" fmla="val 14286"/>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BAFDB5EC-E790-4CB3-B453-5B936FB56E8D}"/>
              </a:ext>
            </a:extLst>
          </p:cNvPr>
          <p:cNvSpPr>
            <a:spLocks xmlns:a="http://schemas.openxmlformats.org/drawingml/2006/main" noGrp="1"/>
          </p:cNvSpPr>
          <p:nvPr/>
        </p:nvSpPr>
        <p:spPr>
          <a:xfrm xmlns:a="http://schemas.openxmlformats.org/drawingml/2006/main">
            <a:off x="8591550" y="404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3</a:t>
            </a:r>
          </a:p>
        </p:txBody>
      </p:sp>
      <p:sp>
        <p:nvSpPr>
          <p:cNvPr id="21" name="Rectangle 20">
            <a:extLst xmlns:a="http://schemas.openxmlformats.org/drawingml/2006/main">
              <a:ext uri="{FF2B5EF4-FFF2-40B4-BE49-F238E27FC236}">
                <a16:creationId xmlns:a16="http://schemas.microsoft.com/office/drawing/2014/main" id="{43D38E77-731E-4B2A-8E68-828A0F0421A2}"/>
              </a:ext>
            </a:extLst>
          </p:cNvPr>
          <p:cNvSpPr>
            <a:spLocks xmlns:a="http://schemas.openxmlformats.org/drawingml/2006/main" noGrp="1"/>
          </p:cNvSpPr>
          <p:nvPr/>
        </p:nvSpPr>
        <p:spPr>
          <a:xfrm xmlns:a="http://schemas.openxmlformats.org/drawingml/2006/main">
            <a:off x="9029700" y="39814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Compute</a:t>
            </a:r>
          </a:p>
        </p:txBody>
      </p:sp>
      <p:sp>
        <p:nvSpPr>
          <p:cNvPr id="22" name="Rectangle 21">
            <a:extLst xmlns:a="http://schemas.openxmlformats.org/drawingml/2006/main">
              <a:ext uri="{FF2B5EF4-FFF2-40B4-BE49-F238E27FC236}">
                <a16:creationId xmlns:a16="http://schemas.microsoft.com/office/drawing/2014/main" id="{22CDAD83-EF93-4016-A366-6A019FDE053B}"/>
              </a:ext>
            </a:extLst>
          </p:cNvPr>
          <p:cNvSpPr>
            <a:spLocks xmlns:a="http://schemas.openxmlformats.org/drawingml/2006/main" noGrp="1"/>
          </p:cNvSpPr>
          <p:nvPr/>
        </p:nvSpPr>
        <p:spPr>
          <a:xfrm xmlns:a="http://schemas.openxmlformats.org/drawingml/2006/main">
            <a:off x="9029700" y="42291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Find feasible routes</a:t>
            </a:r>
          </a:p>
        </p:txBody>
      </p:sp>
      <p:sp>
        <p:nvSpPr>
          <p:cNvPr id="23" name="Rectangle: Rounded Corners 22">
            <a:extLst xmlns:a="http://schemas.openxmlformats.org/drawingml/2006/main">
              <a:ext uri="{FF2B5EF4-FFF2-40B4-BE49-F238E27FC236}">
                <a16:creationId xmlns:a16="http://schemas.microsoft.com/office/drawing/2014/main" id="{57E7A55E-55F5-4A89-9A37-150C0A3FB23B}"/>
              </a:ext>
            </a:extLst>
          </p:cNvPr>
          <p:cNvSpPr>
            <a:spLocks xmlns:a="http://schemas.openxmlformats.org/drawingml/2006/main" noGrp="1"/>
          </p:cNvSpPr>
          <p:nvPr/>
        </p:nvSpPr>
        <p:spPr>
          <a:xfrm xmlns:a="http://schemas.openxmlformats.org/drawingml/2006/main">
            <a:off x="8458200" y="4724400"/>
            <a:ext cx="2952750" cy="666750"/>
          </a:xfrm>
          <a:prstGeom xmlns:a="http://schemas.openxmlformats.org/drawingml/2006/main" prst="roundRect">
            <a:avLst>
              <a:gd name="adj" fmla="val 14286"/>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BD762DA1-56E2-4E42-8833-1F57E1628324}"/>
              </a:ext>
            </a:extLst>
          </p:cNvPr>
          <p:cNvSpPr>
            <a:spLocks xmlns:a="http://schemas.openxmlformats.org/drawingml/2006/main" noGrp="1"/>
          </p:cNvSpPr>
          <p:nvPr/>
        </p:nvSpPr>
        <p:spPr>
          <a:xfrm xmlns:a="http://schemas.openxmlformats.org/drawingml/2006/main">
            <a:off x="8591550" y="48863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4</a:t>
            </a:r>
          </a:p>
        </p:txBody>
      </p:sp>
      <p:sp>
        <p:nvSpPr>
          <p:cNvPr id="25" name="Rectangle 24">
            <a:extLst xmlns:a="http://schemas.openxmlformats.org/drawingml/2006/main">
              <a:ext uri="{FF2B5EF4-FFF2-40B4-BE49-F238E27FC236}">
                <a16:creationId xmlns:a16="http://schemas.microsoft.com/office/drawing/2014/main" id="{1A330388-3798-4FC3-9987-3D518CFF4E7E}"/>
              </a:ext>
            </a:extLst>
          </p:cNvPr>
          <p:cNvSpPr>
            <a:spLocks xmlns:a="http://schemas.openxmlformats.org/drawingml/2006/main" noGrp="1"/>
          </p:cNvSpPr>
          <p:nvPr/>
        </p:nvSpPr>
        <p:spPr>
          <a:xfrm xmlns:a="http://schemas.openxmlformats.org/drawingml/2006/main">
            <a:off x="9029700" y="4819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Return</a:t>
            </a:r>
          </a:p>
        </p:txBody>
      </p:sp>
      <p:sp>
        <p:nvSpPr>
          <p:cNvPr id="26" name="Rectangle 25">
            <a:extLst xmlns:a="http://schemas.openxmlformats.org/drawingml/2006/main">
              <a:ext uri="{FF2B5EF4-FFF2-40B4-BE49-F238E27FC236}">
                <a16:creationId xmlns:a16="http://schemas.microsoft.com/office/drawing/2014/main" id="{07A7C06A-1A3E-4CC3-B83E-05407BF832A1}"/>
              </a:ext>
            </a:extLst>
          </p:cNvPr>
          <p:cNvSpPr>
            <a:spLocks xmlns:a="http://schemas.openxmlformats.org/drawingml/2006/main" noGrp="1"/>
          </p:cNvSpPr>
          <p:nvPr/>
        </p:nvSpPr>
        <p:spPr>
          <a:xfrm xmlns:a="http://schemas.openxmlformats.org/drawingml/2006/main">
            <a:off x="9029700" y="50673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Report path, latency and bottleneck</a:t>
            </a:r>
          </a:p>
        </p:txBody>
      </p:sp>
      <p:sp>
        <p:nvSpPr>
          <p:cNvPr id="27" name="Rectangle 26">
            <a:extLst xmlns:a="http://schemas.openxmlformats.org/drawingml/2006/main">
              <a:ext uri="{FF2B5EF4-FFF2-40B4-BE49-F238E27FC236}">
                <a16:creationId xmlns:a16="http://schemas.microsoft.com/office/drawing/2014/main" id="{24269C79-9C9A-4CFE-AEB7-62B909A50A01}"/>
              </a:ext>
            </a:extLst>
          </p:cNvPr>
          <p:cNvSpPr>
            <a:spLocks xmlns:a="http://schemas.openxmlformats.org/drawingml/2006/main" noGrp="1"/>
          </p:cNvSpPr>
          <p:nvPr/>
        </p:nvSpPr>
        <p:spPr>
          <a:xfrm xmlns:a="http://schemas.openxmlformats.org/drawingml/2006/main">
            <a:off x="8458200" y="56959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065A82"/>
                </a:solidFill>
                <a:latin typeface="Calibri"/>
                <a:ea typeface="Calibri"/>
                <a:cs typeface="Calibri"/>
              </a:defRPr>
            </a:pPr>
            <a:r>
              <a:rPr b="1">
                <a:solidFill>
                  <a:srgbClr val="065A82"/>
                </a:solidFill>
                <a:latin typeface="Calibri"/>
                <a:ea typeface="Calibri"/>
                <a:cs typeface="Calibri"/>
              </a:rPr>
              <a:t>Returned path: s1 - s2 - s3 - s7</a:t>
            </a:r>
          </a:p>
        </p:txBody>
      </p:sp>
      <p:sp>
        <p:nvSpPr>
          <p:cNvPr id="30" name="Verified evidence 10">
            <a:extLst xmlns:a="http://schemas.openxmlformats.org/drawingml/2006/main">
              <a:ext uri="{FF2B5EF4-FFF2-40B4-BE49-F238E27FC236}">
                <a16:creationId xmlns:a16="http://schemas.microsoft.com/office/drawing/2014/main" id="{4C15835E-FCAC-4B20-B1D4-B7E4C90D925C}"/>
              </a:ext>
            </a:extLst>
          </p:cNvPr>
          <p:cNvSpPr>
            <a:spLocks xmlns:a="http://schemas.openxmlformats.org/drawingml/2006/main" noGrp="1"/>
          </p:cNvSpPr>
          <p:nvPr/>
        </p:nvSpPr>
        <p:spPr>
          <a:xfrm xmlns:a="http://schemas.openxmlformats.org/drawingml/2006/main">
            <a:off x="590550" y="1698593"/>
            <a:ext cx="7429500" cy="4451414"/>
          </a:xfrm>
          <a:prstGeom xmlns:a="http://schemas.openxmlformats.org/drawingml/2006/main" prst="roundRect">
            <a:avLst>
              <a:gd name="adj" fmla="val 2568"/>
            </a:avLst>
          </a:prstGeom>
          <a:solidFill xmlns:a="http://schemas.openxmlformats.org/drawingml/2006/main">
            <a:srgbClr val="F7FAFC"/>
          </a:solidFill>
          <a:ln xmlns:a="http://schemas.openxmlformats.org/drawingml/2006/main" w="11430">
            <a:solidFill>
              <a:srgbClr val="8BA8BB"/>
            </a:solidFill>
            <a:prstDash val="solid"/>
          </a:ln>
        </p:spPr>
      </p:sp>
      <p:sp>
        <p:nvSpPr>
          <p:cNvPr id="31" name="Verified evidence header 10">
            <a:extLst xmlns:a="http://schemas.openxmlformats.org/drawingml/2006/main">
              <a:ext uri="{FF2B5EF4-FFF2-40B4-BE49-F238E27FC236}">
                <a16:creationId xmlns:a16="http://schemas.microsoft.com/office/drawing/2014/main" id="{95470920-1138-41CE-91F2-0B72B92DD85E}"/>
              </a:ext>
            </a:extLst>
          </p:cNvPr>
          <p:cNvSpPr>
            <a:spLocks xmlns:a="http://schemas.openxmlformats.org/drawingml/2006/main" noGrp="1"/>
          </p:cNvSpPr>
          <p:nvPr/>
        </p:nvSpPr>
        <p:spPr>
          <a:xfrm xmlns:a="http://schemas.openxmlformats.org/drawingml/2006/main">
            <a:off x="590550" y="1698593"/>
            <a:ext cx="7429500"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32" name="Verified evidence title 10">
            <a:extLst xmlns:a="http://schemas.openxmlformats.org/drawingml/2006/main">
              <a:ext uri="{FF2B5EF4-FFF2-40B4-BE49-F238E27FC236}">
                <a16:creationId xmlns:a16="http://schemas.microsoft.com/office/drawing/2014/main" id="{AD9A088A-69E2-4FEA-B6E2-83037D3C34DC}"/>
              </a:ext>
            </a:extLst>
          </p:cNvPr>
          <p:cNvSpPr>
            <a:spLocks xmlns:a="http://schemas.openxmlformats.org/drawingml/2006/main" noGrp="1"/>
          </p:cNvSpPr>
          <p:nvPr/>
        </p:nvSpPr>
        <p:spPr>
          <a:xfrm xmlns:a="http://schemas.openxmlformats.org/drawingml/2006/main">
            <a:off x="762000" y="1774793"/>
            <a:ext cx="7086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API RESPONSE</a:t>
            </a:r>
          </a:p>
        </p:txBody>
      </p:sp>
      <p:sp>
        <p:nvSpPr>
          <p:cNvPr id="33" name="Verified evidence source 10">
            <a:extLst xmlns:a="http://schemas.openxmlformats.org/drawingml/2006/main">
              <a:ext uri="{FF2B5EF4-FFF2-40B4-BE49-F238E27FC236}">
                <a16:creationId xmlns:a16="http://schemas.microsoft.com/office/drawing/2014/main" id="{C0100902-CE34-4CCB-B788-0A8F3DD400C7}"/>
              </a:ext>
            </a:extLst>
          </p:cNvPr>
          <p:cNvSpPr>
            <a:spLocks xmlns:a="http://schemas.openxmlformats.org/drawingml/2006/main" noGrp="1"/>
          </p:cNvSpPr>
          <p:nvPr/>
        </p:nvSpPr>
        <p:spPr>
          <a:xfrm xmlns:a="http://schemas.openxmlformats.org/drawingml/2006/main">
            <a:off x="762000" y="1946243"/>
            <a:ext cx="7086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Captured from the real FastAPI POST /intent run</a:t>
            </a:r>
          </a:p>
        </p:txBody>
      </p:sp>
      <p:sp>
        <p:nvSpPr>
          <p:cNvPr id="34" name="Verbatim output 10">
            <a:extLst xmlns:a="http://schemas.openxmlformats.org/drawingml/2006/main">
              <a:ext uri="{FF2B5EF4-FFF2-40B4-BE49-F238E27FC236}">
                <a16:creationId xmlns:a16="http://schemas.microsoft.com/office/drawing/2014/main" id="{72836C3B-0E97-48A3-8108-6D6BD668E37C}"/>
              </a:ext>
            </a:extLst>
          </p:cNvPr>
          <p:cNvSpPr>
            <a:spLocks xmlns:a="http://schemas.openxmlformats.org/drawingml/2006/main" noGrp="1"/>
          </p:cNvSpPr>
          <p:nvPr/>
        </p:nvSpPr>
        <p:spPr>
          <a:xfrm xmlns:a="http://schemas.openxmlformats.org/drawingml/2006/main">
            <a:off x="762000" y="2251043"/>
            <a:ext cx="7086600" cy="3784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HTTP/1.1 201 Created</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content-type: application/json</a:t>
            </a:r>
          </a:p>
          <a:p xmlns:a="http://schemas.openxmlformats.org/drawingml/2006/main">
            <a:r>
              <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"id": "INT-001",</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"tenant": "telemedicine-video",</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"priority": 1,</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"state": "pending",</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"path": ["s1-s2", "s2-s3", "s3-s7"],</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"switches": ["s1", "s2", "s3", "s7"],</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"est_latency_ms": 6.0,</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  "bottleneck_mbps": 100.0</a:t>
            </a:r>
          </a:p>
          <a:p xmlns:a="http://schemas.openxmlformats.org/drawingml/2006/main">
            <a:pPr>
              <a:defRPr sz="1013">
                <a:solidFill>
                  <a:srgbClr val="172033"/>
                </a:solidFill>
                <a:latin typeface="Consolas"/>
                <a:ea typeface="Consolas"/>
                <a:cs typeface="Consolas"/>
              </a:defRPr>
            </a:pPr>
            <a:r>
              <a:rPr sz="1013">
                <a:solidFill>
                  <a:srgbClr val="172033"/>
                </a:solidFill>
                <a:latin typeface="Consolas"/>
                <a:ea typeface="Consolas"/>
                <a:cs typeface="Consolas"/>
              </a:rPr>
              <a:t>}</a:t>
            </a:r>
          </a:p>
        </p:txBody>
      </p:sp>
    </p:spTree>
    <p:extLst>
      <p:ext uri="{BB962C8B-B14F-4D97-AF65-F5344CB8AC3E}">
        <p14:creationId xmlns:p14="http://schemas.microsoft.com/office/powerpoint/2010/main" val="13897349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B15FC4F3-F889-405A-AA67-858BD67C3B86}"/>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PROCESSING</a:t>
            </a:r>
          </a:p>
        </p:txBody>
      </p:sp>
      <p:sp>
        <p:nvSpPr>
          <p:cNvPr id="2" name="Rectangle 1">
            <a:extLst xmlns:a="http://schemas.openxmlformats.org/drawingml/2006/main">
              <a:ext uri="{FF2B5EF4-FFF2-40B4-BE49-F238E27FC236}">
                <a16:creationId xmlns:a16="http://schemas.microsoft.com/office/drawing/2014/main" id="{FE8D0B86-0C62-4DF9-8E9C-16ABCFF8F55A}"/>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Deterministic validation</a:t>
            </a:r>
          </a:p>
        </p:txBody>
      </p:sp>
      <p:sp>
        <p:nvSpPr>
          <p:cNvPr id="3" name="Rectangle 2">
            <a:extLst xmlns:a="http://schemas.openxmlformats.org/drawingml/2006/main">
              <a:ext uri="{FF2B5EF4-FFF2-40B4-BE49-F238E27FC236}">
                <a16:creationId xmlns:a16="http://schemas.microsoft.com/office/drawing/2014/main" id="{07457A7A-E85F-46B5-92FF-C95FF9DCD810}"/>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The same input always produces the same acceptance or rejection result</a:t>
            </a:r>
          </a:p>
        </p:txBody>
      </p:sp>
      <p:sp>
        <p:nvSpPr>
          <p:cNvPr id="4" name="Rectangle 3">
            <a:extLst xmlns:a="http://schemas.openxmlformats.org/drawingml/2006/main">
              <a:ext uri="{FF2B5EF4-FFF2-40B4-BE49-F238E27FC236}">
                <a16:creationId xmlns:a16="http://schemas.microsoft.com/office/drawing/2014/main" id="{18F6DD7E-8D81-4E06-8C13-EFDD0EBD78EA}"/>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ABA7ABC-6A33-4E82-A179-E6F944AE45BC}"/>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C2610365-292E-4720-8433-FCA1D58F49CC}"/>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3218C129-1951-4E18-9A91-59980499B6B4}"/>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11</a:t>
            </a:r>
          </a:p>
        </p:txBody>
      </p:sp>
      <p:sp>
        <p:nvSpPr>
          <p:cNvPr id="8" name="Rectangle: Rounded Corners 7">
            <a:extLst xmlns:a="http://schemas.openxmlformats.org/drawingml/2006/main">
              <a:ext uri="{FF2B5EF4-FFF2-40B4-BE49-F238E27FC236}">
                <a16:creationId xmlns:a16="http://schemas.microsoft.com/office/drawing/2014/main" id="{B6B70B85-7FF3-40C7-A46C-76A0311F1E6D}"/>
              </a:ext>
            </a:extLst>
          </p:cNvPr>
          <p:cNvSpPr>
            <a:spLocks xmlns:a="http://schemas.openxmlformats.org/drawingml/2006/main" noGrp="1"/>
          </p:cNvSpPr>
          <p:nvPr/>
        </p:nvSpPr>
        <p:spPr>
          <a:xfrm xmlns:a="http://schemas.openxmlformats.org/drawingml/2006/main">
            <a:off x="542925" y="1704975"/>
            <a:ext cx="7048500" cy="3429000"/>
          </a:xfrm>
          <a:prstGeom xmlns:a="http://schemas.openxmlformats.org/drawingml/2006/main" prst="roundRect">
            <a:avLst>
              <a:gd name="adj" fmla="val 3333"/>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39" name="Picture 31"/>
          <p:cNvPicPr>
            <a:picLocks xmlns:a="http://schemas.openxmlformats.org/drawingml/2006/main" noChangeAspect="1"/>
          </p:cNvPicPr>
          <p:nvPr/>
        </p:nvPicPr>
        <p:blipFill>
          <a:blip xmlns:r="http://schemas.openxmlformats.org/officeDocument/2006/relationships" xmlns:a="http://schemas.openxmlformats.org/drawingml/2006/main" r:embed="Rb57c6eb24ba14527"/>
          <a:stretch xmlns:a="http://schemas.openxmlformats.org/drawingml/2006/main"/>
        </p:blipFill>
        <p:spPr>
          <a:xfrm xmlns:a="http://schemas.openxmlformats.org/drawingml/2006/main">
            <a:off x="590550" y="1761481"/>
            <a:ext cx="6953250" cy="3315989"/>
          </a:xfrm>
          <a:prstGeom xmlns:a="http://schemas.openxmlformats.org/drawingml/2006/main" prst="roundRect">
            <a:avLst>
              <a:gd name="adj" fmla="val 2286"/>
            </a:avLst>
          </a:prstGeom>
        </p:spPr>
      </p:pic>
      <p:sp>
        <p:nvSpPr>
          <p:cNvPr id="10" name="Rectangle: Rounded Corners 9">
            <a:extLst xmlns:a="http://schemas.openxmlformats.org/drawingml/2006/main">
              <a:ext uri="{FF2B5EF4-FFF2-40B4-BE49-F238E27FC236}">
                <a16:creationId xmlns:a16="http://schemas.microsoft.com/office/drawing/2014/main" id="{2F9FA884-378E-45A5-A549-C7BBBCB26B20}"/>
              </a:ext>
            </a:extLst>
          </p:cNvPr>
          <p:cNvSpPr>
            <a:spLocks xmlns:a="http://schemas.openxmlformats.org/drawingml/2006/main" noGrp="1"/>
          </p:cNvSpPr>
          <p:nvPr/>
        </p:nvSpPr>
        <p:spPr>
          <a:xfrm xmlns:a="http://schemas.openxmlformats.org/drawingml/2006/main">
            <a:off x="8039100" y="1828800"/>
            <a:ext cx="3276600" cy="838200"/>
          </a:xfrm>
          <a:prstGeom xmlns:a="http://schemas.openxmlformats.org/drawingml/2006/main" prst="roundRect">
            <a:avLst>
              <a:gd name="adj" fmla="val 13636"/>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4B4203F8-D553-42D0-8582-B90F32086C12}"/>
              </a:ext>
            </a:extLst>
          </p:cNvPr>
          <p:cNvSpPr>
            <a:spLocks xmlns:a="http://schemas.openxmlformats.org/drawingml/2006/main" noGrp="1"/>
          </p:cNvSpPr>
          <p:nvPr/>
        </p:nvSpPr>
        <p:spPr>
          <a:xfrm xmlns:a="http://schemas.openxmlformats.org/drawingml/2006/main">
            <a:off x="8210550" y="204787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1</a:t>
            </a:r>
          </a:p>
        </p:txBody>
      </p:sp>
      <p:sp>
        <p:nvSpPr>
          <p:cNvPr id="12" name="Rectangle 11">
            <a:extLst xmlns:a="http://schemas.openxmlformats.org/drawingml/2006/main">
              <a:ext uri="{FF2B5EF4-FFF2-40B4-BE49-F238E27FC236}">
                <a16:creationId xmlns:a16="http://schemas.microsoft.com/office/drawing/2014/main" id="{D04A63AB-44AA-4059-8872-87D5A0486BC6}"/>
              </a:ext>
            </a:extLst>
          </p:cNvPr>
          <p:cNvSpPr>
            <a:spLocks xmlns:a="http://schemas.openxmlformats.org/drawingml/2006/main" noGrp="1"/>
          </p:cNvSpPr>
          <p:nvPr/>
        </p:nvSpPr>
        <p:spPr>
          <a:xfrm xmlns:a="http://schemas.openxmlformats.org/drawingml/2006/main">
            <a:off x="8743950" y="1962150"/>
            <a:ext cx="226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YAML parse</a:t>
            </a:r>
          </a:p>
        </p:txBody>
      </p:sp>
      <p:sp>
        <p:nvSpPr>
          <p:cNvPr id="13" name="Rectangle 12">
            <a:extLst xmlns:a="http://schemas.openxmlformats.org/drawingml/2006/main">
              <a:ext uri="{FF2B5EF4-FFF2-40B4-BE49-F238E27FC236}">
                <a16:creationId xmlns:a16="http://schemas.microsoft.com/office/drawing/2014/main" id="{1E7EE8BB-F9D0-4A7D-B6B9-0CEC926A2025}"/>
              </a:ext>
            </a:extLst>
          </p:cNvPr>
          <p:cNvSpPr>
            <a:spLocks xmlns:a="http://schemas.openxmlformats.org/drawingml/2006/main" noGrp="1"/>
          </p:cNvSpPr>
          <p:nvPr/>
        </p:nvSpPr>
        <p:spPr>
          <a:xfrm xmlns:a="http://schemas.openxmlformats.org/drawingml/2006/main">
            <a:off x="8743950" y="2257425"/>
            <a:ext cx="2266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Readable syntax</a:t>
            </a:r>
          </a:p>
        </p:txBody>
      </p:sp>
      <p:sp>
        <p:nvSpPr>
          <p:cNvPr id="14" name="Rectangle: Rounded Corners 13">
            <a:extLst xmlns:a="http://schemas.openxmlformats.org/drawingml/2006/main">
              <a:ext uri="{FF2B5EF4-FFF2-40B4-BE49-F238E27FC236}">
                <a16:creationId xmlns:a16="http://schemas.microsoft.com/office/drawing/2014/main" id="{9956DD1D-ABA4-43E1-AB7C-0CF535EFAA4D}"/>
              </a:ext>
            </a:extLst>
          </p:cNvPr>
          <p:cNvSpPr>
            <a:spLocks xmlns:a="http://schemas.openxmlformats.org/drawingml/2006/main" noGrp="1"/>
          </p:cNvSpPr>
          <p:nvPr/>
        </p:nvSpPr>
        <p:spPr>
          <a:xfrm xmlns:a="http://schemas.openxmlformats.org/drawingml/2006/main">
            <a:off x="8039100" y="2895600"/>
            <a:ext cx="3276600" cy="838200"/>
          </a:xfrm>
          <a:prstGeom xmlns:a="http://schemas.openxmlformats.org/drawingml/2006/main" prst="roundRect">
            <a:avLst>
              <a:gd name="adj" fmla="val 13636"/>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0F2B9238-D342-43B1-A72C-C0372851EB67}"/>
              </a:ext>
            </a:extLst>
          </p:cNvPr>
          <p:cNvSpPr>
            <a:spLocks xmlns:a="http://schemas.openxmlformats.org/drawingml/2006/main" noGrp="1"/>
          </p:cNvSpPr>
          <p:nvPr/>
        </p:nvSpPr>
        <p:spPr>
          <a:xfrm xmlns:a="http://schemas.openxmlformats.org/drawingml/2006/main">
            <a:off x="8210550" y="311467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2</a:t>
            </a:r>
          </a:p>
        </p:txBody>
      </p:sp>
      <p:sp>
        <p:nvSpPr>
          <p:cNvPr id="16" name="Rectangle 15">
            <a:extLst xmlns:a="http://schemas.openxmlformats.org/drawingml/2006/main">
              <a:ext uri="{FF2B5EF4-FFF2-40B4-BE49-F238E27FC236}">
                <a16:creationId xmlns:a16="http://schemas.microsoft.com/office/drawing/2014/main" id="{8F61C7A5-977A-4422-9719-122A2608DEE9}"/>
              </a:ext>
            </a:extLst>
          </p:cNvPr>
          <p:cNvSpPr>
            <a:spLocks xmlns:a="http://schemas.openxmlformats.org/drawingml/2006/main" noGrp="1"/>
          </p:cNvSpPr>
          <p:nvPr/>
        </p:nvSpPr>
        <p:spPr>
          <a:xfrm xmlns:a="http://schemas.openxmlformats.org/drawingml/2006/main">
            <a:off x="8743950" y="3028950"/>
            <a:ext cx="226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JSON Schema</a:t>
            </a:r>
          </a:p>
        </p:txBody>
      </p:sp>
      <p:sp>
        <p:nvSpPr>
          <p:cNvPr id="17" name="Rectangle 16">
            <a:extLst xmlns:a="http://schemas.openxmlformats.org/drawingml/2006/main">
              <a:ext uri="{FF2B5EF4-FFF2-40B4-BE49-F238E27FC236}">
                <a16:creationId xmlns:a16="http://schemas.microsoft.com/office/drawing/2014/main" id="{B3CD1B32-0349-4E46-A9D5-746997258258}"/>
              </a:ext>
            </a:extLst>
          </p:cNvPr>
          <p:cNvSpPr>
            <a:spLocks xmlns:a="http://schemas.openxmlformats.org/drawingml/2006/main" noGrp="1"/>
          </p:cNvSpPr>
          <p:nvPr/>
        </p:nvSpPr>
        <p:spPr>
          <a:xfrm xmlns:a="http://schemas.openxmlformats.org/drawingml/2006/main">
            <a:off x="8743950" y="3324225"/>
            <a:ext cx="2266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Frozen fields and ranges</a:t>
            </a:r>
          </a:p>
        </p:txBody>
      </p:sp>
      <p:sp>
        <p:nvSpPr>
          <p:cNvPr id="18" name="Rectangle: Rounded Corners 17">
            <a:extLst xmlns:a="http://schemas.openxmlformats.org/drawingml/2006/main">
              <a:ext uri="{FF2B5EF4-FFF2-40B4-BE49-F238E27FC236}">
                <a16:creationId xmlns:a16="http://schemas.microsoft.com/office/drawing/2014/main" id="{15522A61-FA3B-4524-ADCA-7542E18C8D4C}"/>
              </a:ext>
            </a:extLst>
          </p:cNvPr>
          <p:cNvSpPr>
            <a:spLocks xmlns:a="http://schemas.openxmlformats.org/drawingml/2006/main" noGrp="1"/>
          </p:cNvSpPr>
          <p:nvPr/>
        </p:nvSpPr>
        <p:spPr>
          <a:xfrm xmlns:a="http://schemas.openxmlformats.org/drawingml/2006/main">
            <a:off x="8039100" y="3962400"/>
            <a:ext cx="3276600" cy="838200"/>
          </a:xfrm>
          <a:prstGeom xmlns:a="http://schemas.openxmlformats.org/drawingml/2006/main" prst="roundRect">
            <a:avLst>
              <a:gd name="adj" fmla="val 13636"/>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29CF6130-0113-41CE-9660-D8F47FF489F9}"/>
              </a:ext>
            </a:extLst>
          </p:cNvPr>
          <p:cNvSpPr>
            <a:spLocks xmlns:a="http://schemas.openxmlformats.org/drawingml/2006/main" noGrp="1"/>
          </p:cNvSpPr>
          <p:nvPr/>
        </p:nvSpPr>
        <p:spPr>
          <a:xfrm xmlns:a="http://schemas.openxmlformats.org/drawingml/2006/main">
            <a:off x="8210550" y="4181475"/>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3</a:t>
            </a:r>
          </a:p>
        </p:txBody>
      </p:sp>
      <p:sp>
        <p:nvSpPr>
          <p:cNvPr id="20" name="Rectangle 19">
            <a:extLst xmlns:a="http://schemas.openxmlformats.org/drawingml/2006/main">
              <a:ext uri="{FF2B5EF4-FFF2-40B4-BE49-F238E27FC236}">
                <a16:creationId xmlns:a16="http://schemas.microsoft.com/office/drawing/2014/main" id="{7C48A740-31D6-49C9-9427-AB6B0E0789BD}"/>
              </a:ext>
            </a:extLst>
          </p:cNvPr>
          <p:cNvSpPr>
            <a:spLocks xmlns:a="http://schemas.openxmlformats.org/drawingml/2006/main" noGrp="1"/>
          </p:cNvSpPr>
          <p:nvPr/>
        </p:nvSpPr>
        <p:spPr>
          <a:xfrm xmlns:a="http://schemas.openxmlformats.org/drawingml/2006/main">
            <a:off x="8743950" y="4095750"/>
            <a:ext cx="226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Python rules</a:t>
            </a:r>
          </a:p>
        </p:txBody>
      </p:sp>
      <p:sp>
        <p:nvSpPr>
          <p:cNvPr id="21" name="Rectangle 20">
            <a:extLst xmlns:a="http://schemas.openxmlformats.org/drawingml/2006/main">
              <a:ext uri="{FF2B5EF4-FFF2-40B4-BE49-F238E27FC236}">
                <a16:creationId xmlns:a16="http://schemas.microsoft.com/office/drawing/2014/main" id="{9EE0A410-D06E-4778-BFCC-262849423587}"/>
              </a:ext>
            </a:extLst>
          </p:cNvPr>
          <p:cNvSpPr>
            <a:spLocks xmlns:a="http://schemas.openxmlformats.org/drawingml/2006/main" noGrp="1"/>
          </p:cNvSpPr>
          <p:nvPr/>
        </p:nvSpPr>
        <p:spPr>
          <a:xfrm xmlns:a="http://schemas.openxmlformats.org/drawingml/2006/main">
            <a:off x="8743950" y="4391025"/>
            <a:ext cx="2266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Cross-field semantics</a:t>
            </a:r>
          </a:p>
        </p:txBody>
      </p:sp>
      <p:sp>
        <p:nvSpPr>
          <p:cNvPr id="22" name="Rectangle: Rounded Corners 21">
            <a:extLst xmlns:a="http://schemas.openxmlformats.org/drawingml/2006/main">
              <a:ext uri="{FF2B5EF4-FFF2-40B4-BE49-F238E27FC236}">
                <a16:creationId xmlns:a16="http://schemas.microsoft.com/office/drawing/2014/main" id="{05586C97-C141-41F2-ADD1-482172A38338}"/>
              </a:ext>
            </a:extLst>
          </p:cNvPr>
          <p:cNvSpPr>
            <a:spLocks xmlns:a="http://schemas.openxmlformats.org/drawingml/2006/main" noGrp="1"/>
          </p:cNvSpPr>
          <p:nvPr/>
        </p:nvSpPr>
        <p:spPr>
          <a:xfrm xmlns:a="http://schemas.openxmlformats.org/drawingml/2006/main">
            <a:off x="590550" y="5429250"/>
            <a:ext cx="10725150" cy="628650"/>
          </a:xfrm>
          <a:prstGeom xmlns:a="http://schemas.openxmlformats.org/drawingml/2006/main" prst="roundRect">
            <a:avLst>
              <a:gd name="adj" fmla="val 18182"/>
            </a:avLst>
          </a:prstGeom>
          <a:solidFill xmlns:a="http://schemas.openxmlformats.org/drawingml/2006/main">
            <a:srgbClr val="2129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1C3059B8-42CE-4CDC-8C03-0BB3C9F4EFD3}"/>
              </a:ext>
            </a:extLst>
          </p:cNvPr>
          <p:cNvSpPr>
            <a:spLocks xmlns:a="http://schemas.openxmlformats.org/drawingml/2006/main" noGrp="1"/>
          </p:cNvSpPr>
          <p:nvPr/>
        </p:nvSpPr>
        <p:spPr>
          <a:xfrm xmlns:a="http://schemas.openxmlformats.org/drawingml/2006/main">
            <a:off x="857250" y="560070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No machine learning. No LLM. Validation is rule-based, reproducible and testable.</a:t>
            </a:r>
          </a:p>
        </p:txBody>
      </p:sp>
      <p:sp>
        <p:nvSpPr>
          <p:cNvPr id="26" name="Verified evidence 11">
            <a:extLst xmlns:a="http://schemas.openxmlformats.org/drawingml/2006/main">
              <a:ext uri="{FF2B5EF4-FFF2-40B4-BE49-F238E27FC236}">
                <a16:creationId xmlns:a16="http://schemas.microsoft.com/office/drawing/2014/main" id="{C279DC84-CDBE-4B34-A16E-908FEB5AC0A2}"/>
              </a:ext>
            </a:extLst>
          </p:cNvPr>
          <p:cNvSpPr>
            <a:spLocks xmlns:a="http://schemas.openxmlformats.org/drawingml/2006/main" noGrp="1"/>
          </p:cNvSpPr>
          <p:nvPr/>
        </p:nvSpPr>
        <p:spPr>
          <a:xfrm xmlns:a="http://schemas.openxmlformats.org/drawingml/2006/main">
            <a:off x="590550" y="1761458"/>
            <a:ext cx="6953250" cy="3316034"/>
          </a:xfrm>
          <a:prstGeom xmlns:a="http://schemas.openxmlformats.org/drawingml/2006/main" prst="roundRect">
            <a:avLst>
              <a:gd name="adj" fmla="val 3447"/>
            </a:avLst>
          </a:prstGeom>
          <a:solidFill xmlns:a="http://schemas.openxmlformats.org/drawingml/2006/main">
            <a:srgbClr val="F7FAFC"/>
          </a:solidFill>
          <a:ln xmlns:a="http://schemas.openxmlformats.org/drawingml/2006/main" w="11430">
            <a:solidFill>
              <a:srgbClr val="8BA8BB"/>
            </a:solidFill>
            <a:prstDash val="solid"/>
          </a:ln>
        </p:spPr>
      </p:sp>
      <p:sp>
        <p:nvSpPr>
          <p:cNvPr id="27" name="Verified evidence header 11">
            <a:extLst xmlns:a="http://schemas.openxmlformats.org/drawingml/2006/main">
              <a:ext uri="{FF2B5EF4-FFF2-40B4-BE49-F238E27FC236}">
                <a16:creationId xmlns:a16="http://schemas.microsoft.com/office/drawing/2014/main" id="{10F5A49F-DE2A-4488-89FF-4FB01E44E487}"/>
              </a:ext>
            </a:extLst>
          </p:cNvPr>
          <p:cNvSpPr>
            <a:spLocks xmlns:a="http://schemas.openxmlformats.org/drawingml/2006/main" noGrp="1"/>
          </p:cNvSpPr>
          <p:nvPr/>
        </p:nvSpPr>
        <p:spPr>
          <a:xfrm xmlns:a="http://schemas.openxmlformats.org/drawingml/2006/main">
            <a:off x="590550" y="1761458"/>
            <a:ext cx="6953250"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28" name="Verified evidence title 11">
            <a:extLst xmlns:a="http://schemas.openxmlformats.org/drawingml/2006/main">
              <a:ext uri="{FF2B5EF4-FFF2-40B4-BE49-F238E27FC236}">
                <a16:creationId xmlns:a16="http://schemas.microsoft.com/office/drawing/2014/main" id="{FE724F30-E9F8-49C7-92F4-3A82152CA435}"/>
              </a:ext>
            </a:extLst>
          </p:cNvPr>
          <p:cNvSpPr>
            <a:spLocks xmlns:a="http://schemas.openxmlformats.org/drawingml/2006/main" noGrp="1"/>
          </p:cNvSpPr>
          <p:nvPr/>
        </p:nvSpPr>
        <p:spPr>
          <a:xfrm xmlns:a="http://schemas.openxmlformats.org/drawingml/2006/main">
            <a:off x="762000" y="1837658"/>
            <a:ext cx="661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REJECTION RESPONSE</a:t>
            </a:r>
          </a:p>
        </p:txBody>
      </p:sp>
      <p:sp>
        <p:nvSpPr>
          <p:cNvPr id="29" name="Verified evidence source 11">
            <a:extLst xmlns:a="http://schemas.openxmlformats.org/drawingml/2006/main">
              <a:ext uri="{FF2B5EF4-FFF2-40B4-BE49-F238E27FC236}">
                <a16:creationId xmlns:a16="http://schemas.microsoft.com/office/drawing/2014/main" id="{8121CF32-17BA-486C-BA45-AF4E80A84891}"/>
              </a:ext>
            </a:extLst>
          </p:cNvPr>
          <p:cNvSpPr>
            <a:spLocks xmlns:a="http://schemas.openxmlformats.org/drawingml/2006/main" noGrp="1"/>
          </p:cNvSpPr>
          <p:nvPr/>
        </p:nvSpPr>
        <p:spPr>
          <a:xfrm xmlns:a="http://schemas.openxmlformats.org/drawingml/2006/main">
            <a:off x="762000" y="2009108"/>
            <a:ext cx="6610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POST of intents/invalid/bad_sixth_constraint.yaml</a:t>
            </a:r>
          </a:p>
        </p:txBody>
      </p:sp>
      <p:sp>
        <p:nvSpPr>
          <p:cNvPr id="30" name="Verbatim output 11">
            <a:extLst xmlns:a="http://schemas.openxmlformats.org/drawingml/2006/main">
              <a:ext uri="{FF2B5EF4-FFF2-40B4-BE49-F238E27FC236}">
                <a16:creationId xmlns:a16="http://schemas.microsoft.com/office/drawing/2014/main" id="{BB5283AF-E4E4-41A4-A571-1F3F0C7CBFDB}"/>
              </a:ext>
            </a:extLst>
          </p:cNvPr>
          <p:cNvSpPr>
            <a:spLocks xmlns:a="http://schemas.openxmlformats.org/drawingml/2006/main" noGrp="1"/>
          </p:cNvSpPr>
          <p:nvPr/>
        </p:nvSpPr>
        <p:spPr>
          <a:xfrm xmlns:a="http://schemas.openxmlformats.org/drawingml/2006/main">
            <a:off x="762000" y="2313908"/>
            <a:ext cx="6610350" cy="2649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a:solidFill>
                  <a:srgbClr val="172033"/>
                </a:solidFill>
                <a:latin typeface="Consolas"/>
                <a:ea typeface="Consolas"/>
                <a:cs typeface="Consolas"/>
              </a:defRPr>
            </a:pPr>
            <a:r>
              <a:rPr sz="1050">
                <a:solidFill>
                  <a:srgbClr val="172033"/>
                </a:solidFill>
                <a:latin typeface="Consolas"/>
                <a:ea typeface="Consolas"/>
                <a:cs typeface="Consolas"/>
              </a:rPr>
              <a:t>HTTP/1.1 422 Unprocessable Entity</a:t>
            </a:r>
          </a:p>
          <a:p xmlns:a="http://schemas.openxmlformats.org/drawingml/2006/main">
            <a:pPr>
              <a:defRPr sz="1050">
                <a:solidFill>
                  <a:srgbClr val="172033"/>
                </a:solidFill>
                <a:latin typeface="Consolas"/>
                <a:ea typeface="Consolas"/>
                <a:cs typeface="Consolas"/>
              </a:defRPr>
            </a:pPr>
            <a:r>
              <a:rPr sz="1050">
                <a:solidFill>
                  <a:srgbClr val="172033"/>
                </a:solidFill>
                <a:latin typeface="Consolas"/>
                <a:ea typeface="Consolas"/>
                <a:cs typeface="Consolas"/>
              </a:rPr>
              <a:t>content-type: application/json</a:t>
            </a:r>
          </a:p>
          <a:p xmlns:a="http://schemas.openxmlformats.org/drawingml/2006/main">
            <a:r>
              <a:t/>
            </a:r>
          </a:p>
          <a:p xmlns:a="http://schemas.openxmlformats.org/drawingml/2006/main">
            <a:pPr>
              <a:defRPr sz="1050">
                <a:solidFill>
                  <a:srgbClr val="172033"/>
                </a:solidFill>
                <a:latin typeface="Consolas"/>
                <a:ea typeface="Consolas"/>
                <a:cs typeface="Consolas"/>
              </a:defRPr>
            </a:pPr>
            <a:r>
              <a:rPr sz="1050">
                <a:solidFill>
                  <a:srgbClr val="172033"/>
                </a:solidFill>
                <a:latin typeface="Consolas"/>
                <a:ea typeface="Consolas"/>
                <a:cs typeface="Consolas"/>
              </a:rPr>
              <a:t>[{"path":"intent.guarantee",</a:t>
            </a:r>
          </a:p>
          <a:p xmlns:a="http://schemas.openxmlformats.org/drawingml/2006/main">
            <a:pPr>
              <a:defRPr sz="1050">
                <a:solidFill>
                  <a:srgbClr val="172033"/>
                </a:solidFill>
                <a:latin typeface="Consolas"/>
                <a:ea typeface="Consolas"/>
                <a:cs typeface="Consolas"/>
              </a:defRPr>
            </a:pPr>
            <a:r>
              <a:rPr sz="1050">
                <a:solidFill>
                  <a:srgbClr val="172033"/>
                </a:solidFill>
                <a:latin typeface="Consolas"/>
                <a:ea typeface="Consolas"/>
                <a:cs typeface="Consolas"/>
              </a:rPr>
              <a:t>  "message":"Additional properties are not allowed</a:t>
            </a:r>
          </a:p>
          <a:p xmlns:a="http://schemas.openxmlformats.org/drawingml/2006/main">
            <a:pPr>
              <a:defRPr sz="1050">
                <a:solidFill>
                  <a:srgbClr val="172033"/>
                </a:solidFill>
                <a:latin typeface="Consolas"/>
                <a:ea typeface="Consolas"/>
                <a:cs typeface="Consolas"/>
              </a:defRPr>
            </a:pPr>
            <a:r>
              <a:rPr sz="1050">
                <a:solidFill>
                  <a:srgbClr val="172033"/>
                </a:solidFill>
                <a:latin typeface="Consolas"/>
                <a:ea typeface="Consolas"/>
                <a:cs typeface="Consolas"/>
              </a:rPr>
              <a:t>  ('max_jitter_ms' was unexpected)"}]</a:t>
            </a:r>
          </a:p>
        </p:txBody>
      </p:sp>
    </p:spTree>
    <p:extLst>
      <p:ext uri="{BB962C8B-B14F-4D97-AF65-F5344CB8AC3E}">
        <p14:creationId xmlns:p14="http://schemas.microsoft.com/office/powerpoint/2010/main" val="16119693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264EEB21-54CF-4E04-A551-A4E65AD66299}"/>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PROCESSING</a:t>
            </a:r>
          </a:p>
        </p:txBody>
      </p:sp>
      <p:sp>
        <p:nvSpPr>
          <p:cNvPr id="2" name="Rectangle 1">
            <a:extLst xmlns:a="http://schemas.openxmlformats.org/drawingml/2006/main">
              <a:ext uri="{FF2B5EF4-FFF2-40B4-BE49-F238E27FC236}">
                <a16:creationId xmlns:a16="http://schemas.microsoft.com/office/drawing/2014/main" id="{E6A9B623-1913-4ACF-A6D7-1C86AE7887A9}"/>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Constraint-based route selection</a:t>
            </a:r>
          </a:p>
        </p:txBody>
      </p:sp>
      <p:sp>
        <p:nvSpPr>
          <p:cNvPr id="3" name="Rectangle 2">
            <a:extLst xmlns:a="http://schemas.openxmlformats.org/drawingml/2006/main">
              <a:ext uri="{FF2B5EF4-FFF2-40B4-BE49-F238E27FC236}">
                <a16:creationId xmlns:a16="http://schemas.microsoft.com/office/drawing/2014/main" id="{CF4AA0FF-8617-4BBC-A349-96395768872E}"/>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Fixed pruning and ranking rules choose a feasible route or return a reason</a:t>
            </a:r>
          </a:p>
        </p:txBody>
      </p:sp>
      <p:sp>
        <p:nvSpPr>
          <p:cNvPr id="4" name="Rectangle 3">
            <a:extLst xmlns:a="http://schemas.openxmlformats.org/drawingml/2006/main">
              <a:ext uri="{FF2B5EF4-FFF2-40B4-BE49-F238E27FC236}">
                <a16:creationId xmlns:a16="http://schemas.microsoft.com/office/drawing/2014/main" id="{1A5D70DC-2DDC-4888-8772-78891804ED24}"/>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FB42236E-CB36-4915-ADA4-D2F0D3E14596}"/>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FF1978D-8F88-4CDF-B789-9A19847532B3}"/>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75080605-7504-4DC6-91F7-CC4484B50D58}"/>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12</a:t>
            </a:r>
          </a:p>
        </p:txBody>
      </p:sp>
      <p:sp>
        <p:nvSpPr>
          <p:cNvPr id="8" name="Rectangle: Rounded Corners 7">
            <a:extLst xmlns:a="http://schemas.openxmlformats.org/drawingml/2006/main">
              <a:ext uri="{FF2B5EF4-FFF2-40B4-BE49-F238E27FC236}">
                <a16:creationId xmlns:a16="http://schemas.microsoft.com/office/drawing/2014/main" id="{C7FAB68E-B72D-4F79-B911-DBD0F9B0B756}"/>
              </a:ext>
            </a:extLst>
          </p:cNvPr>
          <p:cNvSpPr>
            <a:spLocks xmlns:a="http://schemas.openxmlformats.org/drawingml/2006/main" noGrp="1"/>
          </p:cNvSpPr>
          <p:nvPr/>
        </p:nvSpPr>
        <p:spPr>
          <a:xfrm xmlns:a="http://schemas.openxmlformats.org/drawingml/2006/main">
            <a:off x="542925" y="1609725"/>
            <a:ext cx="5810250" cy="3657600"/>
          </a:xfrm>
          <a:prstGeom xmlns:a="http://schemas.openxmlformats.org/drawingml/2006/main" prst="roundRect">
            <a:avLst>
              <a:gd name="adj" fmla="val 3125"/>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30" name="Picture 21"/>
          <p:cNvPicPr>
            <a:picLocks xmlns:a="http://schemas.openxmlformats.org/drawingml/2006/main" noChangeAspect="1"/>
          </p:cNvPicPr>
          <p:nvPr/>
        </p:nvPicPr>
        <p:blipFill>
          <a:blip xmlns:r="http://schemas.openxmlformats.org/officeDocument/2006/relationships" xmlns:a="http://schemas.openxmlformats.org/drawingml/2006/main" r:embed="R85bbeff32f3e4dcf"/>
          <a:stretch xmlns:a="http://schemas.openxmlformats.org/drawingml/2006/main"/>
        </p:blipFill>
        <p:spPr>
          <a:xfrm xmlns:a="http://schemas.openxmlformats.org/drawingml/2006/main">
            <a:off x="642580" y="1657350"/>
            <a:ext cx="5610940" cy="3562350"/>
          </a:xfrm>
          <a:prstGeom xmlns:a="http://schemas.openxmlformats.org/drawingml/2006/main" prst="roundRect">
            <a:avLst>
              <a:gd name="adj" fmla="val 2139"/>
            </a:avLst>
          </a:prstGeom>
        </p:spPr>
      </p:pic>
      <p:graphicFrame>
        <p:nvGraphicFramePr>
          <p:cNvPr id="31" name="Table 22"/>
          <p:cNvGraphicFramePr/>
          <p:nvPr/>
        </p:nvGraphicFramePr>
        <p:xfrm>
          <a:off xmlns:a="http://schemas.openxmlformats.org/drawingml/2006/main" x="6610350" y="1752600"/>
          <a:ext xmlns:a="http://schemas.openxmlformats.org/drawingml/2006/main" cx="4800600" cy="2515553"/>
        </p:xfrm>
        <a:graphic xmlns:a="http://schemas.openxmlformats.org/drawingml/2006/main">
          <a:graphicData uri="http://schemas.openxmlformats.org/drawingml/2006/table">
            <a:tbl>
              <a:tblPr/>
              <a:tblGrid>
                <a:gridCol w="1047750"/>
                <a:gridCol w="1428750"/>
                <a:gridCol w="1333500"/>
                <a:gridCol w="990600"/>
              </a:tblGrid>
              <a:tr h="595313">
                <a:tc>
                  <a:txBody>
                    <a:bodyPr/>
                    <a:lstStyle/>
                    <a:p>
                      <a:r>
                        <a:rPr b="1">
                          <a:solidFill>
                            <a:srgbClr val="FFFFFF"/>
                          </a:solidFill>
                          <a:latin typeface="Calibri"/>
                          <a:ea typeface="Calibri"/>
                          <a:cs typeface="Calibri"/>
                        </a:rPr>
                        <a:t>Route</a:t>
                      </a:r>
                    </a:p>
                  </a:txBody>
                  <a:tcPr marL="91440" marR="91440" marT="45720" marB="45720">
                    <a:solidFill>
                      <a:srgbClr val="21295C"/>
                    </a:solidFill>
                  </a:tcPr>
                </a:tc>
                <a:tc>
                  <a:txBody>
                    <a:bodyPr/>
                    <a:lstStyle/>
                    <a:p>
                      <a:r>
                        <a:rPr b="1">
                          <a:solidFill>
                            <a:srgbClr val="FFFFFF"/>
                          </a:solidFill>
                          <a:latin typeface="Calibri"/>
                          <a:ea typeface="Calibri"/>
                          <a:cs typeface="Calibri"/>
                        </a:rPr>
                        <a:t>Bandwidth</a:t>
                      </a:r>
                    </a:p>
                  </a:txBody>
                  <a:tcPr marL="91440" marR="91440" marT="45720" marB="45720">
                    <a:solidFill>
                      <a:srgbClr val="21295C"/>
                    </a:solidFill>
                  </a:tcPr>
                </a:tc>
                <a:tc>
                  <a:txBody>
                    <a:bodyPr/>
                    <a:lstStyle/>
                    <a:p>
                      <a:r>
                        <a:rPr b="1">
                          <a:solidFill>
                            <a:srgbClr val="FFFFFF"/>
                          </a:solidFill>
                          <a:latin typeface="Calibri"/>
                          <a:ea typeface="Calibri"/>
                          <a:cs typeface="Calibri"/>
                        </a:rPr>
                        <a:t>Latency</a:t>
                      </a:r>
                    </a:p>
                  </a:txBody>
                  <a:tcPr marL="91440" marR="91440" marT="45720" marB="45720">
                    <a:solidFill>
                      <a:srgbClr val="21295C"/>
                    </a:solidFill>
                  </a:tcPr>
                </a:tc>
                <a:tc>
                  <a:txBody>
                    <a:bodyPr/>
                    <a:lstStyle/>
                    <a:p>
                      <a:r>
                        <a:rPr b="1">
                          <a:solidFill>
                            <a:srgbClr val="FFFFFF"/>
                          </a:solidFill>
                          <a:latin typeface="Calibri"/>
                          <a:ea typeface="Calibri"/>
                          <a:cs typeface="Calibri"/>
                        </a:rPr>
                        <a:t>Result</a:t>
                      </a:r>
                    </a:p>
                  </a:txBody>
                  <a:tcPr marL="91440" marR="91440" marT="45720" marB="45720">
                    <a:solidFill>
                      <a:srgbClr val="21295C"/>
                    </a:solidFill>
                  </a:tcPr>
                </a:tc>
              </a:tr>
              <a:tr h="595313">
                <a:tc>
                  <a:txBody>
                    <a:bodyPr/>
                    <a:lstStyle/>
                    <a:p>
                      <a:r>
                        <a:rPr b="1">
                          <a:solidFill>
                            <a:srgbClr val="172333"/>
                          </a:solidFill>
                          <a:latin typeface="Calibri"/>
                          <a:ea typeface="Calibri"/>
                          <a:cs typeface="Calibri"/>
                        </a:rPr>
                        <a:t>Northern</a:t>
                      </a:r>
                    </a:p>
                  </a:txBody>
                  <a:tcPr marL="91440" marR="91440" marT="45720" marB="45720">
                    <a:solidFill>
                      <a:srgbClr val="FFFFFF"/>
                    </a:solidFill>
                  </a:tcPr>
                </a:tc>
                <a:tc>
                  <a:txBody>
                    <a:bodyPr/>
                    <a:lstStyle/>
                    <a:p>
                      <a:r>
                        <a:rPr b="0">
                          <a:solidFill>
                            <a:srgbClr val="172333"/>
                          </a:solidFill>
                          <a:latin typeface="Calibri"/>
                          <a:ea typeface="Calibri"/>
                          <a:cs typeface="Calibri"/>
                        </a:rPr>
                        <a:t>100 &gt;= 20 PASS</a:t>
                      </a:r>
                    </a:p>
                  </a:txBody>
                  <a:tcPr marL="91440" marR="91440" marT="45720" marB="45720">
                    <a:solidFill>
                      <a:srgbClr val="FFFFFF"/>
                    </a:solidFill>
                  </a:tcPr>
                </a:tc>
                <a:tc>
                  <a:txBody>
                    <a:bodyPr/>
                    <a:lstStyle/>
                    <a:p>
                      <a:r>
                        <a:rPr b="0">
                          <a:solidFill>
                            <a:srgbClr val="172333"/>
                          </a:solidFill>
                          <a:latin typeface="Calibri"/>
                          <a:ea typeface="Calibri"/>
                          <a:cs typeface="Calibri"/>
                        </a:rPr>
                        <a:t>6 &lt;= 20 PASS</a:t>
                      </a:r>
                    </a:p>
                  </a:txBody>
                  <a:tcPr marL="91440" marR="91440" marT="45720" marB="45720">
                    <a:solidFill>
                      <a:srgbClr val="FFFFFF"/>
                    </a:solidFill>
                  </a:tcPr>
                </a:tc>
                <a:tc>
                  <a:txBody>
                    <a:bodyPr/>
                    <a:lstStyle/>
                    <a:p>
                      <a:r>
                        <a:rPr b="0">
                          <a:solidFill>
                            <a:srgbClr val="172333"/>
                          </a:solidFill>
                          <a:latin typeface="Calibri"/>
                          <a:ea typeface="Calibri"/>
                          <a:cs typeface="Calibri"/>
                        </a:rPr>
                        <a:t>survives</a:t>
                      </a:r>
                    </a:p>
                  </a:txBody>
                  <a:tcPr marL="91440" marR="91440" marT="45720" marB="45720">
                    <a:solidFill>
                      <a:srgbClr val="FFFFFF"/>
                    </a:solidFill>
                  </a:tcPr>
                </a:tc>
              </a:tr>
              <a:tr h="595313">
                <a:tc>
                  <a:txBody>
                    <a:bodyPr/>
                    <a:lstStyle/>
                    <a:p>
                      <a:r>
                        <a:rPr b="1">
                          <a:solidFill>
                            <a:srgbClr val="172333"/>
                          </a:solidFill>
                          <a:latin typeface="Calibri"/>
                          <a:ea typeface="Calibri"/>
                          <a:cs typeface="Calibri"/>
                        </a:rPr>
                        <a:t>Middle</a:t>
                      </a:r>
                    </a:p>
                  </a:txBody>
                  <a:tcPr marL="91440" marR="91440" marT="45720" marB="45720">
                    <a:solidFill>
                      <a:srgbClr val="F4F7F9"/>
                    </a:solidFill>
                  </a:tcPr>
                </a:tc>
                <a:tc>
                  <a:txBody>
                    <a:bodyPr/>
                    <a:lstStyle/>
                    <a:p>
                      <a:r>
                        <a:rPr b="0">
                          <a:solidFill>
                            <a:srgbClr val="172333"/>
                          </a:solidFill>
                          <a:latin typeface="Calibri"/>
                          <a:ea typeface="Calibri"/>
                          <a:cs typeface="Calibri"/>
                        </a:rPr>
                        <a:t>50 &gt;= 20 PASS</a:t>
                      </a:r>
                    </a:p>
                  </a:txBody>
                  <a:tcPr marL="91440" marR="91440" marT="45720" marB="45720">
                    <a:solidFill>
                      <a:srgbClr val="F4F7F9"/>
                    </a:solidFill>
                  </a:tcPr>
                </a:tc>
                <a:tc>
                  <a:txBody>
                    <a:bodyPr/>
                    <a:lstStyle/>
                    <a:p>
                      <a:r>
                        <a:rPr b="0">
                          <a:solidFill>
                            <a:srgbClr val="172333"/>
                          </a:solidFill>
                          <a:latin typeface="Calibri"/>
                          <a:ea typeface="Calibri"/>
                          <a:cs typeface="Calibri"/>
                        </a:rPr>
                        <a:t>15 &lt;= 20 PASS</a:t>
                      </a:r>
                    </a:p>
                  </a:txBody>
                  <a:tcPr marL="91440" marR="91440" marT="45720" marB="45720">
                    <a:solidFill>
                      <a:srgbClr val="F4F7F9"/>
                    </a:solidFill>
                  </a:tcPr>
                </a:tc>
                <a:tc>
                  <a:txBody>
                    <a:bodyPr/>
                    <a:lstStyle/>
                    <a:p>
                      <a:r>
                        <a:rPr b="0">
                          <a:solidFill>
                            <a:srgbClr val="172333"/>
                          </a:solidFill>
                          <a:latin typeface="Calibri"/>
                          <a:ea typeface="Calibri"/>
                          <a:cs typeface="Calibri"/>
                        </a:rPr>
                        <a:t>survives</a:t>
                      </a:r>
                    </a:p>
                  </a:txBody>
                  <a:tcPr marL="91440" marR="91440" marT="45720" marB="45720">
                    <a:solidFill>
                      <a:srgbClr val="F4F7F9"/>
                    </a:solidFill>
                  </a:tcPr>
                </a:tc>
              </a:tr>
              <a:tr h="595313">
                <a:tc>
                  <a:txBody>
                    <a:bodyPr/>
                    <a:lstStyle/>
                    <a:p>
                      <a:r>
                        <a:rPr b="1">
                          <a:solidFill>
                            <a:srgbClr val="172333"/>
                          </a:solidFill>
                          <a:latin typeface="Calibri"/>
                          <a:ea typeface="Calibri"/>
                          <a:cs typeface="Calibri"/>
                        </a:rPr>
                        <a:t>Southern</a:t>
                      </a:r>
                    </a:p>
                  </a:txBody>
                  <a:tcPr marL="91440" marR="91440" marT="45720" marB="45720">
                    <a:solidFill>
                      <a:srgbClr val="FFFFFF"/>
                    </a:solidFill>
                  </a:tcPr>
                </a:tc>
                <a:tc>
                  <a:txBody>
                    <a:bodyPr/>
                    <a:lstStyle/>
                    <a:p>
                      <a:r>
                        <a:rPr b="0">
                          <a:solidFill>
                            <a:srgbClr val="172333"/>
                          </a:solidFill>
                          <a:latin typeface="Calibri"/>
                          <a:ea typeface="Calibri"/>
                          <a:cs typeface="Calibri"/>
                        </a:rPr>
                        <a:t>40 &gt;= 20 PASS</a:t>
                      </a:r>
                    </a:p>
                  </a:txBody>
                  <a:tcPr marL="91440" marR="91440" marT="45720" marB="45720">
                    <a:solidFill>
                      <a:srgbClr val="FFFFFF"/>
                    </a:solidFill>
                  </a:tcPr>
                </a:tc>
                <a:tc>
                  <a:txBody>
                    <a:bodyPr/>
                    <a:lstStyle/>
                    <a:p>
                      <a:r>
                        <a:rPr b="0">
                          <a:solidFill>
                            <a:srgbClr val="172333"/>
                          </a:solidFill>
                          <a:latin typeface="Calibri"/>
                          <a:ea typeface="Calibri"/>
                          <a:cs typeface="Calibri"/>
                        </a:rPr>
                        <a:t>24 &gt; 20 FAIL</a:t>
                      </a:r>
                    </a:p>
                  </a:txBody>
                  <a:tcPr marL="91440" marR="91440" marT="45720" marB="45720">
                    <a:solidFill>
                      <a:srgbClr val="FFFFFF"/>
                    </a:solidFill>
                  </a:tcPr>
                </a:tc>
                <a:tc>
                  <a:txBody>
                    <a:bodyPr/>
                    <a:lstStyle/>
                    <a:p>
                      <a:r>
                        <a:rPr b="0">
                          <a:solidFill>
                            <a:srgbClr val="172333"/>
                          </a:solidFill>
                          <a:latin typeface="Calibri"/>
                          <a:ea typeface="Calibri"/>
                          <a:cs typeface="Calibri"/>
                        </a:rPr>
                        <a:t>pruned</a:t>
                      </a:r>
                    </a:p>
                  </a:txBody>
                  <a:tcPr marL="91440" marR="91440" marT="45720" marB="45720">
                    <a:solidFill>
                      <a:srgbClr val="FFFFFF"/>
                    </a:solidFill>
                  </a:tcPr>
                </a:tc>
              </a:tr>
            </a:tbl>
          </a:graphicData>
        </a:graphic>
      </p:graphicFrame>
      <p:sp>
        <p:nvSpPr>
          <p:cNvPr id="11" name="Rectangle: Rounded Corners 10">
            <a:extLst xmlns:a="http://schemas.openxmlformats.org/drawingml/2006/main">
              <a:ext uri="{FF2B5EF4-FFF2-40B4-BE49-F238E27FC236}">
                <a16:creationId xmlns:a16="http://schemas.microsoft.com/office/drawing/2014/main" id="{C0A6BF8A-A084-475C-8747-7B5FF9305EBD}"/>
              </a:ext>
            </a:extLst>
          </p:cNvPr>
          <p:cNvSpPr>
            <a:spLocks xmlns:a="http://schemas.openxmlformats.org/drawingml/2006/main" noGrp="1"/>
          </p:cNvSpPr>
          <p:nvPr/>
        </p:nvSpPr>
        <p:spPr>
          <a:xfrm xmlns:a="http://schemas.openxmlformats.org/drawingml/2006/main">
            <a:off x="6610350" y="4343400"/>
            <a:ext cx="4800600" cy="914400"/>
          </a:xfrm>
          <a:prstGeom xmlns:a="http://schemas.openxmlformats.org/drawingml/2006/main" prst="roundRect">
            <a:avLst>
              <a:gd name="adj" fmla="val 10417"/>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13C418F3-A28E-4669-8956-AA0FE91DCFA3}"/>
              </a:ext>
            </a:extLst>
          </p:cNvPr>
          <p:cNvSpPr>
            <a:spLocks xmlns:a="http://schemas.openxmlformats.org/drawingml/2006/main" noGrp="1"/>
          </p:cNvSpPr>
          <p:nvPr/>
        </p:nvSpPr>
        <p:spPr>
          <a:xfrm xmlns:a="http://schemas.openxmlformats.org/drawingml/2006/main">
            <a:off x="6838950" y="4524375"/>
            <a:ext cx="4343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8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Two routes survive. The wider 100 Mbps bottleneck selects the northern route.</a:t>
            </a:r>
          </a:p>
        </p:txBody>
      </p:sp>
      <p:sp>
        <p:nvSpPr>
          <p:cNvPr id="13" name="Rectangle 12">
            <a:extLst xmlns:a="http://schemas.openxmlformats.org/drawingml/2006/main">
              <a:ext uri="{FF2B5EF4-FFF2-40B4-BE49-F238E27FC236}">
                <a16:creationId xmlns:a16="http://schemas.microsoft.com/office/drawing/2014/main" id="{69E984CC-5F66-4C09-9F4C-011C22870D26}"/>
              </a:ext>
            </a:extLst>
          </p:cNvPr>
          <p:cNvSpPr>
            <a:spLocks xmlns:a="http://schemas.openxmlformats.org/drawingml/2006/main" noGrp="1"/>
          </p:cNvSpPr>
          <p:nvPr/>
        </p:nvSpPr>
        <p:spPr>
          <a:xfrm xmlns:a="http://schemas.openxmlformats.org/drawingml/2006/main">
            <a:off x="742950" y="55435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Pruning order: avoid links, latency, bandwidth, isolation. Ranking: bottleneck, delay, hops, link name.</a:t>
            </a:r>
          </a:p>
        </p:txBody>
      </p:sp>
      <p:sp>
        <p:nvSpPr>
          <p:cNvPr id="17" name="Verified evidence 12">
            <a:extLst xmlns:a="http://schemas.openxmlformats.org/drawingml/2006/main">
              <a:ext uri="{FF2B5EF4-FFF2-40B4-BE49-F238E27FC236}">
                <a16:creationId xmlns:a16="http://schemas.microsoft.com/office/drawing/2014/main" id="{DE798D21-9A1F-485C-B65D-5BCA2049E3B5}"/>
              </a:ext>
            </a:extLst>
          </p:cNvPr>
          <p:cNvSpPr>
            <a:spLocks xmlns:a="http://schemas.openxmlformats.org/drawingml/2006/main" noGrp="1"/>
          </p:cNvSpPr>
          <p:nvPr/>
        </p:nvSpPr>
        <p:spPr>
          <a:xfrm xmlns:a="http://schemas.openxmlformats.org/drawingml/2006/main">
            <a:off x="642556" y="1657350"/>
            <a:ext cx="5610987" cy="3562350"/>
          </a:xfrm>
          <a:prstGeom xmlns:a="http://schemas.openxmlformats.org/drawingml/2006/main" prst="roundRect">
            <a:avLst>
              <a:gd name="adj" fmla="val 3209"/>
            </a:avLst>
          </a:prstGeom>
          <a:solidFill xmlns:a="http://schemas.openxmlformats.org/drawingml/2006/main">
            <a:srgbClr val="F7FAFC"/>
          </a:solidFill>
          <a:ln xmlns:a="http://schemas.openxmlformats.org/drawingml/2006/main" w="11430">
            <a:solidFill>
              <a:srgbClr val="8BA8BB"/>
            </a:solidFill>
            <a:prstDash val="solid"/>
          </a:ln>
        </p:spPr>
      </p:sp>
      <p:sp>
        <p:nvSpPr>
          <p:cNvPr id="18" name="Verified evidence header 12">
            <a:extLst xmlns:a="http://schemas.openxmlformats.org/drawingml/2006/main">
              <a:ext uri="{FF2B5EF4-FFF2-40B4-BE49-F238E27FC236}">
                <a16:creationId xmlns:a16="http://schemas.microsoft.com/office/drawing/2014/main" id="{4839D2F8-1C0A-4574-B94F-7A7AE9C67BCD}"/>
              </a:ext>
            </a:extLst>
          </p:cNvPr>
          <p:cNvSpPr>
            <a:spLocks xmlns:a="http://schemas.openxmlformats.org/drawingml/2006/main" noGrp="1"/>
          </p:cNvSpPr>
          <p:nvPr/>
        </p:nvSpPr>
        <p:spPr>
          <a:xfrm xmlns:a="http://schemas.openxmlformats.org/drawingml/2006/main">
            <a:off x="642556" y="1657350"/>
            <a:ext cx="5610987"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19" name="Verified evidence title 12">
            <a:extLst xmlns:a="http://schemas.openxmlformats.org/drawingml/2006/main">
              <a:ext uri="{FF2B5EF4-FFF2-40B4-BE49-F238E27FC236}">
                <a16:creationId xmlns:a16="http://schemas.microsoft.com/office/drawing/2014/main" id="{C0960E44-5117-442C-870B-0AF25B9BF4E4}"/>
              </a:ext>
            </a:extLst>
          </p:cNvPr>
          <p:cNvSpPr>
            <a:spLocks xmlns:a="http://schemas.openxmlformats.org/drawingml/2006/main" noGrp="1"/>
          </p:cNvSpPr>
          <p:nvPr/>
        </p:nvSpPr>
        <p:spPr>
          <a:xfrm xmlns:a="http://schemas.openxmlformats.org/drawingml/2006/main">
            <a:off x="814006" y="1733550"/>
            <a:ext cx="5268087"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SOFTWARE DEMO OUTPUT</a:t>
            </a:r>
          </a:p>
        </p:txBody>
      </p:sp>
      <p:sp>
        <p:nvSpPr>
          <p:cNvPr id="20" name="Verified evidence source 12">
            <a:extLst xmlns:a="http://schemas.openxmlformats.org/drawingml/2006/main">
              <a:ext uri="{FF2B5EF4-FFF2-40B4-BE49-F238E27FC236}">
                <a16:creationId xmlns:a16="http://schemas.microsoft.com/office/drawing/2014/main" id="{AC066562-8DAB-459E-9DC0-351EABD84F11}"/>
              </a:ext>
            </a:extLst>
          </p:cNvPr>
          <p:cNvSpPr>
            <a:spLocks xmlns:a="http://schemas.openxmlformats.org/drawingml/2006/main" noGrp="1"/>
          </p:cNvSpPr>
          <p:nvPr/>
        </p:nvSpPr>
        <p:spPr>
          <a:xfrm xmlns:a="http://schemas.openxmlformats.org/drawingml/2006/main">
            <a:off x="814006" y="1905000"/>
            <a:ext cx="5268087"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Command: python demo_st4.py</a:t>
            </a:r>
          </a:p>
        </p:txBody>
      </p:sp>
      <p:sp>
        <p:nvSpPr>
          <p:cNvPr id="21" name="Verbatim output 12">
            <a:extLst xmlns:a="http://schemas.openxmlformats.org/drawingml/2006/main">
              <a:ext uri="{FF2B5EF4-FFF2-40B4-BE49-F238E27FC236}">
                <a16:creationId xmlns:a16="http://schemas.microsoft.com/office/drawing/2014/main" id="{B16EF168-7A3F-4EF1-B548-B1B73FA37A9B}"/>
              </a:ext>
            </a:extLst>
          </p:cNvPr>
          <p:cNvSpPr>
            <a:spLocks xmlns:a="http://schemas.openxmlformats.org/drawingml/2006/main" noGrp="1"/>
          </p:cNvSpPr>
          <p:nvPr/>
        </p:nvSpPr>
        <p:spPr>
          <a:xfrm xmlns:a="http://schemas.openxmlformats.org/drawingml/2006/main">
            <a:off x="814006" y="2209800"/>
            <a:ext cx="5268087"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validation : accepted</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promise    : 20 Mbps, 20 ms, 0.5% loss</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chosen path: s1 -&gt; s2 -&gt; s3 -&gt; s7</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delivers   : 100.0 Mbps, 6.0 ms</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links used : s1-s2, s2-s3, s3-s7</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computed in: 0.5 ms  (budget is 200 ms)</a:t>
            </a:r>
          </a:p>
          <a:p xmlns:a="http://schemas.openxmlformats.org/drawingml/2006/main">
            <a:r>
              <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path found : None</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why not    :</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s3-s7                  insufficient bandwidth: 100 &lt; 500</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s3-s2-s1-s4-s5-s7      exceeds max_latency_ms: 19 &gt; 5</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s3-s2-s1-s6-s7         exceeds max_latency_ms: 28 &gt; 5</a:t>
            </a:r>
          </a:p>
          <a:p xmlns:a="http://schemas.openxmlformats.org/drawingml/2006/main">
            <a:r>
              <a:t/>
            </a:r>
          </a:p>
          <a:p xmlns:a="http://schemas.openxmlformats.org/drawingml/2006/main">
            <a:pPr>
              <a:defRPr sz="810">
                <a:solidFill>
                  <a:srgbClr val="172033"/>
                </a:solidFill>
                <a:latin typeface="Consolas"/>
                <a:ea typeface="Consolas"/>
                <a:cs typeface="Consolas"/>
              </a:defRPr>
            </a:pPr>
            <a:r>
              <a:rPr sz="810">
                <a:solidFill>
                  <a:srgbClr val="172033"/>
                </a:solidFill>
                <a:latin typeface="Consolas"/>
                <a:ea typeface="Consolas"/>
                <a:cs typeface="Consolas"/>
              </a:rPr>
              <a:t>No silent failure. Every refusal explains itself.</a:t>
            </a:r>
          </a:p>
        </p:txBody>
      </p:sp>
    </p:spTree>
    <p:extLst>
      <p:ext uri="{BB962C8B-B14F-4D97-AF65-F5344CB8AC3E}">
        <p14:creationId xmlns:p14="http://schemas.microsoft.com/office/powerpoint/2010/main" val="18019347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C445CDEF-9342-4CF3-AA16-A03A7E2A2B03}"/>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PROCESSING</a:t>
            </a:r>
          </a:p>
        </p:txBody>
      </p:sp>
      <p:sp>
        <p:nvSpPr>
          <p:cNvPr id="2" name="Rectangle 1">
            <a:extLst xmlns:a="http://schemas.openxmlformats.org/drawingml/2006/main">
              <a:ext uri="{FF2B5EF4-FFF2-40B4-BE49-F238E27FC236}">
                <a16:creationId xmlns:a16="http://schemas.microsoft.com/office/drawing/2014/main" id="{229974C8-1046-4611-B066-FCA477AB2705}"/>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Flow rule and queue installation</a:t>
            </a:r>
          </a:p>
        </p:txBody>
      </p:sp>
      <p:sp>
        <p:nvSpPr>
          <p:cNvPr id="3" name="Rectangle 2">
            <a:extLst xmlns:a="http://schemas.openxmlformats.org/drawingml/2006/main">
              <a:ext uri="{FF2B5EF4-FFF2-40B4-BE49-F238E27FC236}">
                <a16:creationId xmlns:a16="http://schemas.microsoft.com/office/drawing/2014/main" id="{181CE116-EBA3-4049-A4E7-399CAEECE033}"/>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OpenFlow selects the route; an HTB queue is created, but flow rules are not yet bound to it</a:t>
            </a:r>
          </a:p>
        </p:txBody>
      </p:sp>
      <p:sp>
        <p:nvSpPr>
          <p:cNvPr id="4" name="Rectangle 3">
            <a:extLst xmlns:a="http://schemas.openxmlformats.org/drawingml/2006/main">
              <a:ext uri="{FF2B5EF4-FFF2-40B4-BE49-F238E27FC236}">
                <a16:creationId xmlns:a16="http://schemas.microsoft.com/office/drawing/2014/main" id="{14F18B9A-C81F-49FC-B037-F5054767A0B2}"/>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B47E3E59-AC59-4BAC-8C3C-C46F16E5F20B}"/>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C81902B-61A0-4BEA-A125-F32581E1BB7E}"/>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EF0459DB-B16C-4AFE-9195-91A619D55A1C}"/>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13</a:t>
            </a:r>
          </a:p>
        </p:txBody>
      </p:sp>
      <p:sp>
        <p:nvSpPr>
          <p:cNvPr id="8" name="Rectangle 7">
            <a:extLst xmlns:a="http://schemas.openxmlformats.org/drawingml/2006/main">
              <a:ext uri="{FF2B5EF4-FFF2-40B4-BE49-F238E27FC236}">
                <a16:creationId xmlns:a16="http://schemas.microsoft.com/office/drawing/2014/main" id="{3B42CB13-B930-4CE0-A82D-490C4F755198}"/>
              </a:ext>
            </a:extLst>
          </p:cNvPr>
          <p:cNvSpPr>
            <a:spLocks xmlns:a="http://schemas.openxmlformats.org/drawingml/2006/main" noGrp="1"/>
          </p:cNvSpPr>
          <p:nvPr/>
        </p:nvSpPr>
        <p:spPr>
          <a:xfrm xmlns:a="http://schemas.openxmlformats.org/drawingml/2006/main">
            <a:off x="685800" y="1866900"/>
            <a:ext cx="171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065A82"/>
                </a:solidFill>
                <a:latin typeface="Cambria"/>
                <a:ea typeface="Cambria"/>
                <a:cs typeface="Cambria"/>
              </a:defRPr>
            </a:pPr>
            <a:r>
              <a:rPr b="1">
                <a:solidFill>
                  <a:srgbClr val="065A82"/>
                </a:solidFill>
                <a:latin typeface="Cambria"/>
                <a:ea typeface="Cambria"/>
                <a:cs typeface="Cambria"/>
              </a:rPr>
              <a:t>8</a:t>
            </a:r>
          </a:p>
        </p:txBody>
      </p:sp>
      <p:sp>
        <p:nvSpPr>
          <p:cNvPr id="9" name="Rectangle 8">
            <a:extLst xmlns:a="http://schemas.openxmlformats.org/drawingml/2006/main">
              <a:ext uri="{FF2B5EF4-FFF2-40B4-BE49-F238E27FC236}">
                <a16:creationId xmlns:a16="http://schemas.microsoft.com/office/drawing/2014/main" id="{4EA492C2-32A5-4EB7-8E31-C1A4EE12FF91}"/>
              </a:ext>
            </a:extLst>
          </p:cNvPr>
          <p:cNvSpPr>
            <a:spLocks xmlns:a="http://schemas.openxmlformats.org/drawingml/2006/main" noGrp="1"/>
          </p:cNvSpPr>
          <p:nvPr/>
        </p:nvSpPr>
        <p:spPr>
          <a:xfrm xmlns:a="http://schemas.openxmlformats.org/drawingml/2006/main">
            <a:off x="685800" y="27813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flow rules</a:t>
            </a:r>
          </a:p>
        </p:txBody>
      </p:sp>
      <p:sp>
        <p:nvSpPr>
          <p:cNvPr id="10" name="Rectangle 9">
            <a:extLst xmlns:a="http://schemas.openxmlformats.org/drawingml/2006/main">
              <a:ext uri="{FF2B5EF4-FFF2-40B4-BE49-F238E27FC236}">
                <a16:creationId xmlns:a16="http://schemas.microsoft.com/office/drawing/2014/main" id="{BE8DE410-EEF9-44CE-AB89-4A4740DFA0E2}"/>
              </a:ext>
            </a:extLst>
          </p:cNvPr>
          <p:cNvSpPr>
            <a:spLocks xmlns:a="http://schemas.openxmlformats.org/drawingml/2006/main" noGrp="1"/>
          </p:cNvSpPr>
          <p:nvPr/>
        </p:nvSpPr>
        <p:spPr>
          <a:xfrm xmlns:a="http://schemas.openxmlformats.org/drawingml/2006/main">
            <a:off x="685800" y="31623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7994"/>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4 switches x 2 directions</a:t>
            </a:r>
          </a:p>
        </p:txBody>
      </p:sp>
      <p:sp>
        <p:nvSpPr>
          <p:cNvPr id="11" name="Rectangle: Rounded Corners 10">
            <a:extLst xmlns:a="http://schemas.openxmlformats.org/drawingml/2006/main">
              <a:ext uri="{FF2B5EF4-FFF2-40B4-BE49-F238E27FC236}">
                <a16:creationId xmlns:a16="http://schemas.microsoft.com/office/drawing/2014/main" id="{0E5251DF-7BD5-47A8-8122-E6ED5291B908}"/>
              </a:ext>
            </a:extLst>
          </p:cNvPr>
          <p:cNvSpPr>
            <a:spLocks xmlns:a="http://schemas.openxmlformats.org/drawingml/2006/main" noGrp="1"/>
          </p:cNvSpPr>
          <p:nvPr/>
        </p:nvSpPr>
        <p:spPr>
          <a:xfrm xmlns:a="http://schemas.openxmlformats.org/drawingml/2006/main">
            <a:off x="2724150" y="1752600"/>
            <a:ext cx="4000500" cy="2114550"/>
          </a:xfrm>
          <a:prstGeom xmlns:a="http://schemas.openxmlformats.org/drawingml/2006/main" prst="roundRect">
            <a:avLst>
              <a:gd name="adj" fmla="val 5405"/>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930AFA70-04EF-4387-88BD-C5713C069C99}"/>
              </a:ext>
            </a:extLst>
          </p:cNvPr>
          <p:cNvSpPr>
            <a:spLocks xmlns:a="http://schemas.openxmlformats.org/drawingml/2006/main" noGrp="1"/>
          </p:cNvSpPr>
          <p:nvPr/>
        </p:nvSpPr>
        <p:spPr>
          <a:xfrm xmlns:a="http://schemas.openxmlformats.org/drawingml/2006/main">
            <a:off x="2952750" y="19431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MATCH</a:t>
            </a:r>
          </a:p>
        </p:txBody>
      </p:sp>
      <p:sp>
        <p:nvSpPr>
          <p:cNvPr id="13" name="Rectangle 12">
            <a:extLst xmlns:a="http://schemas.openxmlformats.org/drawingml/2006/main">
              <a:ext uri="{FF2B5EF4-FFF2-40B4-BE49-F238E27FC236}">
                <a16:creationId xmlns:a16="http://schemas.microsoft.com/office/drawing/2014/main" id="{5C210192-4D7D-4C0A-A4E6-DD24AB642307}"/>
              </a:ext>
            </a:extLst>
          </p:cNvPr>
          <p:cNvSpPr>
            <a:spLocks xmlns:a="http://schemas.openxmlformats.org/drawingml/2006/main" noGrp="1"/>
          </p:cNvSpPr>
          <p:nvPr/>
        </p:nvSpPr>
        <p:spPr>
          <a:xfrm xmlns:a="http://schemas.openxmlformats.org/drawingml/2006/main">
            <a:off x="2952750" y="2266950"/>
            <a:ext cx="3429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2"/>
          </a:bodyPr>
          <a:lstStyle xmlns:a="http://schemas.openxmlformats.org/drawingml/2006/main"/>
          <a:p xmlns:a="http://schemas.openxmlformats.org/drawingml/2006/main">
            <a:pPr>
              <a:buNone/>
              <a:defRPr b="0">
                <a:solidFill>
                  <a:srgbClr val="172333"/>
                </a:solidFill>
                <a:latin typeface="Courier New"/>
                <a:ea typeface="Courier New"/>
                <a:cs typeface="Courier New"/>
              </a:defRPr>
            </a:pPr>
            <a:r>
              <a:rPr b="0">
                <a:solidFill>
                  <a:srgbClr val="172333"/>
                </a:solidFill>
                <a:latin typeface="Courier New"/>
                <a:ea typeface="Courier New"/>
                <a:cs typeface="Courier New"/>
              </a:rPr>
              <a:t>eth_type 0x0800     IPv4</a:t>
            </a:r>
          </a:p>
          <a:p xmlns:a="http://schemas.openxmlformats.org/drawingml/2006/main">
            <a:pPr>
              <a:buNone/>
              <a:defRPr b="0">
                <a:solidFill>
                  <a:srgbClr val="172333"/>
                </a:solidFill>
                <a:latin typeface="Courier New"/>
                <a:ea typeface="Courier New"/>
                <a:cs typeface="Courier New"/>
              </a:defRPr>
            </a:pPr>
            <a:r>
              <a:rPr b="0">
                <a:solidFill>
                  <a:srgbClr val="172333"/>
                </a:solidFill>
                <a:latin typeface="Courier New"/>
                <a:ea typeface="Courier New"/>
                <a:cs typeface="Courier New"/>
              </a:rPr>
              <a:t>ipv4_src / ipv4_dst  endpoints</a:t>
            </a:r>
          </a:p>
          <a:p xmlns:a="http://schemas.openxmlformats.org/drawingml/2006/main">
            <a:pPr>
              <a:buNone/>
              <a:defRPr b="0">
                <a:solidFill>
                  <a:srgbClr val="172333"/>
                </a:solidFill>
                <a:latin typeface="Courier New"/>
                <a:ea typeface="Courier New"/>
                <a:cs typeface="Courier New"/>
              </a:defRPr>
            </a:pPr>
            <a:r>
              <a:rPr b="0">
                <a:solidFill>
                  <a:srgbClr val="172333"/>
                </a:solidFill>
                <a:latin typeface="Courier New"/>
                <a:ea typeface="Courier New"/>
                <a:cs typeface="Courier New"/>
              </a:rPr>
              <a:t>ip_proto 17          UDP</a:t>
            </a:r>
          </a:p>
          <a:p xmlns:a="http://schemas.openxmlformats.org/drawingml/2006/main">
            <a:pPr>
              <a:buNone/>
              <a:defRPr b="0">
                <a:solidFill>
                  <a:srgbClr val="172333"/>
                </a:solidFill>
                <a:latin typeface="Courier New"/>
                <a:ea typeface="Courier New"/>
                <a:cs typeface="Courier New"/>
              </a:defRPr>
            </a:pPr>
            <a:r>
              <a:rPr b="0">
                <a:solidFill>
                  <a:srgbClr val="172333"/>
                </a:solidFill>
                <a:latin typeface="Courier New"/>
                <a:ea typeface="Courier New"/>
                <a:cs typeface="Courier New"/>
              </a:rPr>
              <a:t>udp_dst 5001         service</a:t>
            </a:r>
          </a:p>
        </p:txBody>
      </p:sp>
      <p:sp>
        <p:nvSpPr>
          <p:cNvPr id="14" name="Rectangle: Rounded Corners 13">
            <a:extLst xmlns:a="http://schemas.openxmlformats.org/drawingml/2006/main">
              <a:ext uri="{FF2B5EF4-FFF2-40B4-BE49-F238E27FC236}">
                <a16:creationId xmlns:a16="http://schemas.microsoft.com/office/drawing/2014/main" id="{EA8E0C46-27D2-415A-83F0-8500BD36AD99}"/>
              </a:ext>
            </a:extLst>
          </p:cNvPr>
          <p:cNvSpPr>
            <a:spLocks xmlns:a="http://schemas.openxmlformats.org/drawingml/2006/main" noGrp="1"/>
          </p:cNvSpPr>
          <p:nvPr/>
        </p:nvSpPr>
        <p:spPr>
          <a:xfrm xmlns:a="http://schemas.openxmlformats.org/drawingml/2006/main">
            <a:off x="7086600" y="1752600"/>
            <a:ext cx="4343400" cy="2114550"/>
          </a:xfrm>
          <a:prstGeom xmlns:a="http://schemas.openxmlformats.org/drawingml/2006/main" prst="roundRect">
            <a:avLst>
              <a:gd name="adj" fmla="val 5405"/>
            </a:avLst>
          </a:prstGeom>
          <a:solidFill xmlns:a="http://schemas.openxmlformats.org/drawingml/2006/main">
            <a:srgbClr val="FBEDE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DB1AC602-536E-401C-B343-D20AAD074791}"/>
              </a:ext>
            </a:extLst>
          </p:cNvPr>
          <p:cNvSpPr>
            <a:spLocks xmlns:a="http://schemas.openxmlformats.org/drawingml/2006/main" noGrp="1"/>
          </p:cNvSpPr>
          <p:nvPr/>
        </p:nvSpPr>
        <p:spPr>
          <a:xfrm xmlns:a="http://schemas.openxmlformats.org/drawingml/2006/main">
            <a:off x="7334250" y="19431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QUEUE CONFIGURATION</a:t>
            </a:r>
          </a:p>
        </p:txBody>
      </p:sp>
      <p:sp>
        <p:nvSpPr>
          <p:cNvPr id="16" name="Rectangle 15">
            <a:extLst xmlns:a="http://schemas.openxmlformats.org/drawingml/2006/main">
              <a:ext uri="{FF2B5EF4-FFF2-40B4-BE49-F238E27FC236}">
                <a16:creationId xmlns:a16="http://schemas.microsoft.com/office/drawing/2014/main" id="{7F5ED161-231B-4A1F-A265-02F4A90A2103}"/>
              </a:ext>
            </a:extLst>
          </p:cNvPr>
          <p:cNvSpPr>
            <a:spLocks xmlns:a="http://schemas.openxmlformats.org/drawingml/2006/main" noGrp="1"/>
          </p:cNvSpPr>
          <p:nvPr/>
        </p:nvSpPr>
        <p:spPr>
          <a:xfrm xmlns:a="http://schemas.openxmlformats.org/drawingml/2006/main">
            <a:off x="7334250" y="23241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102"/>
          </a:bodyPr>
          <a:lstStyle xmlns:a="http://schemas.openxmlformats.org/drawingml/2006/main"/>
          <a:p xmlns:a="http://schemas.openxmlformats.org/drawingml/2006/main">
            <a:pPr>
              <a:buNone/>
              <a:defRPr b="1">
                <a:solidFill>
                  <a:srgbClr val="C1440E"/>
                </a:solidFill>
                <a:latin typeface="Cambria"/>
                <a:ea typeface="Cambria"/>
                <a:cs typeface="Cambria"/>
              </a:defRPr>
            </a:pPr>
            <a:r>
              <a:rPr b="1">
                <a:solidFill>
                  <a:srgbClr val="C1440E"/>
                </a:solidFill>
                <a:latin typeface="Cambria"/>
                <a:ea typeface="Cambria"/>
                <a:cs typeface="Cambria"/>
              </a:rPr>
              <a:t>20 Mbps queue</a:t>
            </a:r>
          </a:p>
        </p:txBody>
      </p:sp>
      <p:sp>
        <p:nvSpPr>
          <p:cNvPr id="17" name="Rectangle 16">
            <a:extLst xmlns:a="http://schemas.openxmlformats.org/drawingml/2006/main">
              <a:ext uri="{FF2B5EF4-FFF2-40B4-BE49-F238E27FC236}">
                <a16:creationId xmlns:a16="http://schemas.microsoft.com/office/drawing/2014/main" id="{D539A820-C1C3-4EBB-A40F-B2372A5B9737}"/>
              </a:ext>
            </a:extLst>
          </p:cNvPr>
          <p:cNvSpPr>
            <a:spLocks xmlns:a="http://schemas.openxmlformats.org/drawingml/2006/main" noGrp="1"/>
          </p:cNvSpPr>
          <p:nvPr/>
        </p:nvSpPr>
        <p:spPr>
          <a:xfrm xmlns:a="http://schemas.openxmlformats.org/drawingml/2006/main">
            <a:off x="7334250" y="28575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20,000,000 bits per second</a:t>
            </a:r>
          </a:p>
        </p:txBody>
      </p:sp>
      <p:sp>
        <p:nvSpPr>
          <p:cNvPr id="18" name="Rectangle 17">
            <a:extLst xmlns:a="http://schemas.openxmlformats.org/drawingml/2006/main">
              <a:ext uri="{FF2B5EF4-FFF2-40B4-BE49-F238E27FC236}">
                <a16:creationId xmlns:a16="http://schemas.microsoft.com/office/drawing/2014/main" id="{0271AD03-02FA-47EE-8B04-B805D623AA5C}"/>
              </a:ext>
            </a:extLst>
          </p:cNvPr>
          <p:cNvSpPr>
            <a:spLocks xmlns:a="http://schemas.openxmlformats.org/drawingml/2006/main" noGrp="1"/>
          </p:cNvSpPr>
          <p:nvPr/>
        </p:nvSpPr>
        <p:spPr>
          <a:xfrm xmlns:a="http://schemas.openxmlformats.org/drawingml/2006/main">
            <a:off x="7334250" y="32956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135"/>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Queue attached to s1-eth2; SET_QUEUE binding remains future work</a:t>
            </a:r>
          </a:p>
        </p:txBody>
      </p:sp>
      <p:sp>
        <p:nvSpPr>
          <p:cNvPr id="19" name="Rectangle: Rounded Corners 18">
            <a:extLst xmlns:a="http://schemas.openxmlformats.org/drawingml/2006/main">
              <a:ext uri="{FF2B5EF4-FFF2-40B4-BE49-F238E27FC236}">
                <a16:creationId xmlns:a16="http://schemas.microsoft.com/office/drawing/2014/main" id="{A3CA06CC-A7FD-45C8-B383-CCD6E7DF3B90}"/>
              </a:ext>
            </a:extLst>
          </p:cNvPr>
          <p:cNvSpPr>
            <a:spLocks xmlns:a="http://schemas.openxmlformats.org/drawingml/2006/main" noGrp="1"/>
          </p:cNvSpPr>
          <p:nvPr/>
        </p:nvSpPr>
        <p:spPr>
          <a:xfrm xmlns:a="http://schemas.openxmlformats.org/drawingml/2006/main">
            <a:off x="685800" y="4267200"/>
            <a:ext cx="10744200" cy="990600"/>
          </a:xfrm>
          <a:prstGeom xmlns:a="http://schemas.openxmlformats.org/drawingml/2006/main" prst="roundRect">
            <a:avLst>
              <a:gd name="adj" fmla="val 11538"/>
            </a:avLst>
          </a:prstGeom>
          <a:solidFill xmlns:a="http://schemas.openxmlformats.org/drawingml/2006/main">
            <a:srgbClr val="2129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599B2ADF-57F8-44E1-967F-EF57DF2E39F0}"/>
              </a:ext>
            </a:extLst>
          </p:cNvPr>
          <p:cNvSpPr>
            <a:spLocks xmlns:a="http://schemas.openxmlformats.org/drawingml/2006/main" noGrp="1"/>
          </p:cNvSpPr>
          <p:nvPr/>
        </p:nvSpPr>
        <p:spPr>
          <a:xfrm xmlns:a="http://schemas.openxmlformats.org/drawingml/2006/main">
            <a:off x="895350" y="44386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7FDDD7"/>
                </a:solidFill>
                <a:latin typeface="Calibri"/>
                <a:ea typeface="Calibri"/>
                <a:cs typeface="Calibri"/>
              </a:defRPr>
            </a:pPr>
            <a:r>
              <a:rPr b="1">
                <a:solidFill>
                  <a:srgbClr val="7FDDD7"/>
                </a:solidFill>
                <a:latin typeface="Calibri"/>
                <a:ea typeface="Calibri"/>
                <a:cs typeface="Calibri"/>
              </a:rPr>
              <a:t>COOKIE</a:t>
            </a:r>
          </a:p>
        </p:txBody>
      </p:sp>
      <p:sp>
        <p:nvSpPr>
          <p:cNvPr id="21" name="Rectangle 20">
            <a:extLst xmlns:a="http://schemas.openxmlformats.org/drawingml/2006/main">
              <a:ext uri="{FF2B5EF4-FFF2-40B4-BE49-F238E27FC236}">
                <a16:creationId xmlns:a16="http://schemas.microsoft.com/office/drawing/2014/main" id="{41AD94EE-B116-4E22-91E1-94762C155072}"/>
              </a:ext>
            </a:extLst>
          </p:cNvPr>
          <p:cNvSpPr>
            <a:spLocks xmlns:a="http://schemas.openxmlformats.org/drawingml/2006/main" noGrp="1"/>
          </p:cNvSpPr>
          <p:nvPr/>
        </p:nvSpPr>
        <p:spPr>
          <a:xfrm xmlns:a="http://schemas.openxmlformats.org/drawingml/2006/main">
            <a:off x="895350" y="46958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FFFFFF"/>
                </a:solidFill>
                <a:latin typeface="Courier New"/>
                <a:ea typeface="Courier New"/>
                <a:cs typeface="Courier New"/>
              </a:defRPr>
            </a:pPr>
            <a:r>
              <a:rPr b="1">
                <a:solidFill>
                  <a:srgbClr val="FFFFFF"/>
                </a:solidFill>
                <a:latin typeface="Courier New"/>
                <a:ea typeface="Courier New"/>
                <a:cs typeface="Courier New"/>
              </a:rPr>
              <a:t>0xf886b2decd34ea5</a:t>
            </a:r>
          </a:p>
        </p:txBody>
      </p:sp>
      <p:sp>
        <p:nvSpPr>
          <p:cNvPr id="22" name="Rectangle 21">
            <a:extLst xmlns:a="http://schemas.openxmlformats.org/drawingml/2006/main">
              <a:ext uri="{FF2B5EF4-FFF2-40B4-BE49-F238E27FC236}">
                <a16:creationId xmlns:a16="http://schemas.microsoft.com/office/drawing/2014/main" id="{7C5AEF05-CDD3-4E5D-B85E-2EEBAE2FF25B}"/>
              </a:ext>
            </a:extLst>
          </p:cNvPr>
          <p:cNvSpPr>
            <a:spLocks xmlns:a="http://schemas.openxmlformats.org/drawingml/2006/main" noGrp="1"/>
          </p:cNvSpPr>
          <p:nvPr/>
        </p:nvSpPr>
        <p:spPr>
          <a:xfrm xmlns:a="http://schemas.openxmlformats.org/drawingml/2006/main">
            <a:off x="4267200" y="45529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28"/>
          </a:bodyPr>
          <a:lstStyle xmlns:a="http://schemas.openxmlformats.org/drawingml/2006/main"/>
          <a:p xmlns:a="http://schemas.openxmlformats.org/drawingml/2006/main">
            <a:pPr>
              <a:buNone/>
              <a:defRPr b="0">
                <a:solidFill>
                  <a:srgbClr val="FFFFFF"/>
                </a:solidFill>
                <a:latin typeface="Calibri"/>
                <a:ea typeface="Calibri"/>
                <a:cs typeface="Calibri"/>
              </a:defRPr>
            </a:pPr>
            <a:r>
              <a:rPr b="0">
                <a:solidFill>
                  <a:srgbClr val="FFFFFF"/>
                </a:solidFill>
                <a:latin typeface="Calibri"/>
                <a:ea typeface="Calibri"/>
                <a:cs typeface="Calibri"/>
              </a:rPr>
              <a:t>Deterministic 64-bit tag derived from INT-001. It finds, counts and removes only this intent's rules.</a:t>
            </a:r>
          </a:p>
        </p:txBody>
      </p:sp>
      <p:sp>
        <p:nvSpPr>
          <p:cNvPr id="23" name="Rectangle 22">
            <a:extLst xmlns:a="http://schemas.openxmlformats.org/drawingml/2006/main">
              <a:ext uri="{FF2B5EF4-FFF2-40B4-BE49-F238E27FC236}">
                <a16:creationId xmlns:a16="http://schemas.microsoft.com/office/drawing/2014/main" id="{3EA495AC-2544-4E1E-9A01-8AF4D8CB2EFA}"/>
              </a:ext>
            </a:extLst>
          </p:cNvPr>
          <p:cNvSpPr>
            <a:spLocks xmlns:a="http://schemas.openxmlformats.org/drawingml/2006/main" noGrp="1"/>
          </p:cNvSpPr>
          <p:nvPr/>
        </p:nvSpPr>
        <p:spPr>
          <a:xfrm xmlns:a="http://schemas.openxmlformats.org/drawingml/2006/main">
            <a:off x="685800" y="563880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A priority-0 table-miss rule sends unmatched packets to the controller.</a:t>
            </a:r>
          </a:p>
        </p:txBody>
      </p:sp>
    </p:spTree>
    <p:extLst>
      <p:ext uri="{BB962C8B-B14F-4D97-AF65-F5344CB8AC3E}">
        <p14:creationId xmlns:p14="http://schemas.microsoft.com/office/powerpoint/2010/main" val="3939950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4DC47DAD-2DB1-41AA-9841-57218A3ABA07}"/>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OUTPUT</a:t>
            </a:r>
          </a:p>
        </p:txBody>
      </p:sp>
      <p:sp>
        <p:nvSpPr>
          <p:cNvPr id="2" name="Rectangle 1">
            <a:extLst xmlns:a="http://schemas.openxmlformats.org/drawingml/2006/main">
              <a:ext uri="{FF2B5EF4-FFF2-40B4-BE49-F238E27FC236}">
                <a16:creationId xmlns:a16="http://schemas.microsoft.com/office/drawing/2014/main" id="{0953BED3-0456-44AA-B575-34551B8C1316}"/>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Live validation on Scenario S1</a:t>
            </a:r>
          </a:p>
        </p:txBody>
      </p:sp>
      <p:sp>
        <p:nvSpPr>
          <p:cNvPr id="3" name="Rectangle 2">
            <a:extLst xmlns:a="http://schemas.openxmlformats.org/drawingml/2006/main">
              <a:ext uri="{FF2B5EF4-FFF2-40B4-BE49-F238E27FC236}">
                <a16:creationId xmlns:a16="http://schemas.microsoft.com/office/drawing/2014/main" id="{443D225A-721A-4A14-9173-2F26D5CB5D1A}"/>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The saved 24 Sep 2026 run verifies the path, rules, queue and persisted measurements</a:t>
            </a:r>
          </a:p>
        </p:txBody>
      </p:sp>
      <p:sp>
        <p:nvSpPr>
          <p:cNvPr id="4" name="Rectangle 3">
            <a:extLst xmlns:a="http://schemas.openxmlformats.org/drawingml/2006/main">
              <a:ext uri="{FF2B5EF4-FFF2-40B4-BE49-F238E27FC236}">
                <a16:creationId xmlns:a16="http://schemas.microsoft.com/office/drawing/2014/main" id="{CBB6AFEF-ADE4-4F8C-A445-065F290E0AC3}"/>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133D1BBC-6918-4CB4-9A86-1E911F84B91E}"/>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F662AAB-4918-4EC2-8C5C-CC3B6C118E35}"/>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17B98A1F-CCF8-4B8F-AB72-71397B061993}"/>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14</a:t>
            </a:r>
          </a:p>
        </p:txBody>
      </p:sp>
      <p:sp>
        <p:nvSpPr>
          <p:cNvPr id="8" name="Rectangle: Rounded Corners 7">
            <a:extLst xmlns:a="http://schemas.openxmlformats.org/drawingml/2006/main">
              <a:ext uri="{FF2B5EF4-FFF2-40B4-BE49-F238E27FC236}">
                <a16:creationId xmlns:a16="http://schemas.microsoft.com/office/drawing/2014/main" id="{DFE8E939-3DCE-4C26-861B-D09ECB36E849}"/>
              </a:ext>
            </a:extLst>
          </p:cNvPr>
          <p:cNvSpPr>
            <a:spLocks xmlns:a="http://schemas.openxmlformats.org/drawingml/2006/main" noGrp="1"/>
          </p:cNvSpPr>
          <p:nvPr/>
        </p:nvSpPr>
        <p:spPr>
          <a:xfrm xmlns:a="http://schemas.openxmlformats.org/drawingml/2006/main">
            <a:off x="542925" y="1628775"/>
            <a:ext cx="7639050" cy="4476750"/>
          </a:xfrm>
          <a:prstGeom xmlns:a="http://schemas.openxmlformats.org/drawingml/2006/main" prst="roundRect">
            <a:avLst>
              <a:gd name="adj" fmla="val 2553"/>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37" name="Picture 29"/>
          <p:cNvPicPr>
            <a:picLocks xmlns:a="http://schemas.openxmlformats.org/drawingml/2006/main" noChangeAspect="1"/>
          </p:cNvPicPr>
          <p:nvPr/>
        </p:nvPicPr>
        <p:blipFill>
          <a:blip xmlns:r="http://schemas.openxmlformats.org/officeDocument/2006/relationships" xmlns:a="http://schemas.openxmlformats.org/drawingml/2006/main" r:embed="Ra0a439e86a844ea6"/>
          <a:stretch xmlns:a="http://schemas.openxmlformats.org/drawingml/2006/main"/>
        </p:blipFill>
        <p:spPr>
          <a:xfrm xmlns:a="http://schemas.openxmlformats.org/drawingml/2006/main">
            <a:off x="542925" y="1647825"/>
            <a:ext cx="7543151" cy="4381500"/>
          </a:xfrm>
          <a:prstGeom xmlns:a="http://schemas.openxmlformats.org/drawingml/2006/main" prst="roundRect">
            <a:avLst>
              <a:gd name="adj" fmla="val 1739"/>
            </a:avLst>
          </a:prstGeom>
        </p:spPr>
      </p:pic>
      <p:sp>
        <p:nvSpPr>
          <p:cNvPr id="10" name="Rectangle 9">
            <a:extLst xmlns:a="http://schemas.openxmlformats.org/drawingml/2006/main">
              <a:ext uri="{FF2B5EF4-FFF2-40B4-BE49-F238E27FC236}">
                <a16:creationId xmlns:a16="http://schemas.microsoft.com/office/drawing/2014/main" id="{702B7ACC-8D0B-42B6-8023-7BD86B245FF8}"/>
              </a:ext>
            </a:extLst>
          </p:cNvPr>
          <p:cNvSpPr>
            <a:spLocks xmlns:a="http://schemas.openxmlformats.org/drawingml/2006/main" noGrp="1"/>
          </p:cNvSpPr>
          <p:nvPr/>
        </p:nvSpPr>
        <p:spPr>
          <a:xfrm xmlns:a="http://schemas.openxmlformats.org/drawingml/2006/main">
            <a:off x="8534400" y="180975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EACH CHECK PROVES</a:t>
            </a:r>
          </a:p>
        </p:txBody>
      </p:sp>
      <p:sp>
        <p:nvSpPr>
          <p:cNvPr id="11" name="Rectangle: Rounded Corners 10">
            <a:extLst xmlns:a="http://schemas.openxmlformats.org/drawingml/2006/main">
              <a:ext uri="{FF2B5EF4-FFF2-40B4-BE49-F238E27FC236}">
                <a16:creationId xmlns:a16="http://schemas.microsoft.com/office/drawing/2014/main" id="{69C08CA9-04D9-45D2-BB9F-59A27392141B}"/>
              </a:ext>
            </a:extLst>
          </p:cNvPr>
          <p:cNvSpPr>
            <a:spLocks xmlns:a="http://schemas.openxmlformats.org/drawingml/2006/main" noGrp="1"/>
          </p:cNvSpPr>
          <p:nvPr/>
        </p:nvSpPr>
        <p:spPr>
          <a:xfrm xmlns:a="http://schemas.openxmlformats.org/drawingml/2006/main">
            <a:off x="8496300" y="2171700"/>
            <a:ext cx="2914650" cy="514350"/>
          </a:xfrm>
          <a:prstGeom xmlns:a="http://schemas.openxmlformats.org/drawingml/2006/main" prst="roundRect">
            <a:avLst>
              <a:gd name="adj" fmla="val 1666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91013FF7-B4E9-4AE1-9A15-09A1DC986206}"/>
              </a:ext>
            </a:extLst>
          </p:cNvPr>
          <p:cNvSpPr>
            <a:spLocks xmlns:a="http://schemas.openxmlformats.org/drawingml/2006/main" noGrp="1"/>
          </p:cNvSpPr>
          <p:nvPr/>
        </p:nvSpPr>
        <p:spPr>
          <a:xfrm xmlns:a="http://schemas.openxmlformats.org/drawingml/2006/main">
            <a:off x="8648700" y="2305050"/>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  HTTP 201: API accepted INT-001</a:t>
            </a:r>
          </a:p>
        </p:txBody>
      </p:sp>
      <p:sp>
        <p:nvSpPr>
          <p:cNvPr id="13" name="Rectangle: Rounded Corners 12">
            <a:extLst xmlns:a="http://schemas.openxmlformats.org/drawingml/2006/main">
              <a:ext uri="{FF2B5EF4-FFF2-40B4-BE49-F238E27FC236}">
                <a16:creationId xmlns:a16="http://schemas.microsoft.com/office/drawing/2014/main" id="{86675F1B-6C9C-4C0A-B44A-9D04CFE0EE22}"/>
              </a:ext>
            </a:extLst>
          </p:cNvPr>
          <p:cNvSpPr>
            <a:spLocks xmlns:a="http://schemas.openxmlformats.org/drawingml/2006/main" noGrp="1"/>
          </p:cNvSpPr>
          <p:nvPr/>
        </p:nvSpPr>
        <p:spPr>
          <a:xfrm xmlns:a="http://schemas.openxmlformats.org/drawingml/2006/main">
            <a:off x="8496300" y="2838450"/>
            <a:ext cx="2914650" cy="514350"/>
          </a:xfrm>
          <a:prstGeom xmlns:a="http://schemas.openxmlformats.org/drawingml/2006/main" prst="roundRect">
            <a:avLst>
              <a:gd name="adj" fmla="val 1666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CC4CD082-6CA3-44DD-9C4B-E703300DC489}"/>
              </a:ext>
            </a:extLst>
          </p:cNvPr>
          <p:cNvSpPr>
            <a:spLocks xmlns:a="http://schemas.openxmlformats.org/drawingml/2006/main" noGrp="1"/>
          </p:cNvSpPr>
          <p:nvPr/>
        </p:nvSpPr>
        <p:spPr>
          <a:xfrm xmlns:a="http://schemas.openxmlformats.org/drawingml/2006/main">
            <a:off x="8648700" y="2971800"/>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  Cookie: intent rules reached s1</a:t>
            </a:r>
          </a:p>
        </p:txBody>
      </p:sp>
      <p:sp>
        <p:nvSpPr>
          <p:cNvPr id="15" name="Rectangle: Rounded Corners 14">
            <a:extLst xmlns:a="http://schemas.openxmlformats.org/drawingml/2006/main">
              <a:ext uri="{FF2B5EF4-FFF2-40B4-BE49-F238E27FC236}">
                <a16:creationId xmlns:a16="http://schemas.microsoft.com/office/drawing/2014/main" id="{580918DE-8492-40AD-B36C-0EB404A26502}"/>
              </a:ext>
            </a:extLst>
          </p:cNvPr>
          <p:cNvSpPr>
            <a:spLocks xmlns:a="http://schemas.openxmlformats.org/drawingml/2006/main" noGrp="1"/>
          </p:cNvSpPr>
          <p:nvPr/>
        </p:nvSpPr>
        <p:spPr>
          <a:xfrm xmlns:a="http://schemas.openxmlformats.org/drawingml/2006/main">
            <a:off x="8496300" y="3505200"/>
            <a:ext cx="2914650" cy="514350"/>
          </a:xfrm>
          <a:prstGeom xmlns:a="http://schemas.openxmlformats.org/drawingml/2006/main" prst="roundRect">
            <a:avLst>
              <a:gd name="adj" fmla="val 1666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7F440541-7DC8-4D07-92B2-09A5413825EC}"/>
              </a:ext>
            </a:extLst>
          </p:cNvPr>
          <p:cNvSpPr>
            <a:spLocks xmlns:a="http://schemas.openxmlformats.org/drawingml/2006/main" noGrp="1"/>
          </p:cNvSpPr>
          <p:nvPr/>
        </p:nvSpPr>
        <p:spPr>
          <a:xfrm xmlns:a="http://schemas.openxmlformats.org/drawingml/2006/main">
            <a:off x="8648700" y="3638550"/>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  HTB: 20 Mbps queue exists</a:t>
            </a:r>
          </a:p>
        </p:txBody>
      </p:sp>
      <p:sp>
        <p:nvSpPr>
          <p:cNvPr id="17" name="Rectangle: Rounded Corners 16">
            <a:extLst xmlns:a="http://schemas.openxmlformats.org/drawingml/2006/main">
              <a:ext uri="{FF2B5EF4-FFF2-40B4-BE49-F238E27FC236}">
                <a16:creationId xmlns:a16="http://schemas.microsoft.com/office/drawing/2014/main" id="{6ACA1357-803C-4CB4-87DA-918DA66DAB46}"/>
              </a:ext>
            </a:extLst>
          </p:cNvPr>
          <p:cNvSpPr>
            <a:spLocks xmlns:a="http://schemas.openxmlformats.org/drawingml/2006/main" noGrp="1"/>
          </p:cNvSpPr>
          <p:nvPr/>
        </p:nvSpPr>
        <p:spPr>
          <a:xfrm xmlns:a="http://schemas.openxmlformats.org/drawingml/2006/main">
            <a:off x="8496300" y="4171950"/>
            <a:ext cx="2914650" cy="514350"/>
          </a:xfrm>
          <a:prstGeom xmlns:a="http://schemas.openxmlformats.org/drawingml/2006/main" prst="roundRect">
            <a:avLst>
              <a:gd name="adj" fmla="val 1666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B6E9AF4-6554-427B-B5E5-49C0920098C6}"/>
              </a:ext>
            </a:extLst>
          </p:cNvPr>
          <p:cNvSpPr>
            <a:spLocks xmlns:a="http://schemas.openxmlformats.org/drawingml/2006/main" noGrp="1"/>
          </p:cNvSpPr>
          <p:nvPr/>
        </p:nvSpPr>
        <p:spPr>
          <a:xfrm xmlns:a="http://schemas.openxmlformats.org/drawingml/2006/main">
            <a:off x="8648700" y="4305300"/>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  s2: northern route is installed</a:t>
            </a:r>
          </a:p>
        </p:txBody>
      </p:sp>
      <p:sp>
        <p:nvSpPr>
          <p:cNvPr id="19" name="Rectangle: Rounded Corners 18">
            <a:extLst xmlns:a="http://schemas.openxmlformats.org/drawingml/2006/main">
              <a:ext uri="{FF2B5EF4-FFF2-40B4-BE49-F238E27FC236}">
                <a16:creationId xmlns:a16="http://schemas.microsoft.com/office/drawing/2014/main" id="{DBE4817C-2C9A-49E8-9DD5-EBD4ED375008}"/>
              </a:ext>
            </a:extLst>
          </p:cNvPr>
          <p:cNvSpPr>
            <a:spLocks xmlns:a="http://schemas.openxmlformats.org/drawingml/2006/main" noGrp="1"/>
          </p:cNvSpPr>
          <p:nvPr/>
        </p:nvSpPr>
        <p:spPr>
          <a:xfrm xmlns:a="http://schemas.openxmlformats.org/drawingml/2006/main">
            <a:off x="8496300" y="4838700"/>
            <a:ext cx="2914650" cy="514350"/>
          </a:xfrm>
          <a:prstGeom xmlns:a="http://schemas.openxmlformats.org/drawingml/2006/main" prst="roundRect">
            <a:avLst>
              <a:gd name="adj" fmla="val 1666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B0B7149C-8303-4704-9387-1A6145EEF68A}"/>
              </a:ext>
            </a:extLst>
          </p:cNvPr>
          <p:cNvSpPr>
            <a:spLocks xmlns:a="http://schemas.openxmlformats.org/drawingml/2006/main" noGrp="1"/>
          </p:cNvSpPr>
          <p:nvPr/>
        </p:nvSpPr>
        <p:spPr>
          <a:xfrm xmlns:a="http://schemas.openxmlformats.org/drawingml/2006/main">
            <a:off x="8648700" y="4972050"/>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  5 rows: telemetry reached SQLite</a:t>
            </a:r>
          </a:p>
        </p:txBody>
      </p:sp>
      <p:sp>
        <p:nvSpPr>
          <p:cNvPr id="21" name="Rectangle 20">
            <a:extLst xmlns:a="http://schemas.openxmlformats.org/drawingml/2006/main">
              <a:ext uri="{FF2B5EF4-FFF2-40B4-BE49-F238E27FC236}">
                <a16:creationId xmlns:a16="http://schemas.microsoft.com/office/drawing/2014/main" id="{71EA666E-7CF2-4640-9A5D-89AE3C61FC5D}"/>
              </a:ext>
            </a:extLst>
          </p:cNvPr>
          <p:cNvSpPr>
            <a:spLocks xmlns:a="http://schemas.openxmlformats.org/drawingml/2006/main" noGrp="1"/>
          </p:cNvSpPr>
          <p:nvPr/>
        </p:nvSpPr>
        <p:spPr>
          <a:xfrm xmlns:a="http://schemas.openxmlformats.org/drawingml/2006/main">
            <a:off x="8496300" y="56769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598"/>
          </a:bodyPr>
          <a:lstStyle xmlns:a="http://schemas.openxmlformats.org/drawingml/2006/main"/>
          <a:p xmlns:a="http://schemas.openxmlformats.org/drawingml/2006/main">
            <a:pPr>
              <a:buNone/>
              <a:defRPr b="1">
                <a:solidFill>
                  <a:srgbClr val="065A82"/>
                </a:solidFill>
                <a:latin typeface="Calibri"/>
                <a:ea typeface="Calibri"/>
                <a:cs typeface="Calibri"/>
              </a:defRPr>
            </a:pPr>
            <a:r>
              <a:rPr b="1">
                <a:solidFill>
                  <a:srgbClr val="065A82"/>
                </a:solidFill>
                <a:latin typeface="Calibri"/>
                <a:ea typeface="Calibri"/>
                <a:cs typeface="Calibri"/>
              </a:rPr>
              <a:t>Virtual datapath: Docker + Mininet + Open vSwitch + Ryu</a:t>
            </a:r>
          </a:p>
        </p:txBody>
      </p:sp>
      <p:sp>
        <p:nvSpPr>
          <p:cNvPr id="24" name="Verified evidence 14">
            <a:extLst xmlns:a="http://schemas.openxmlformats.org/drawingml/2006/main">
              <a:ext uri="{FF2B5EF4-FFF2-40B4-BE49-F238E27FC236}">
                <a16:creationId xmlns:a16="http://schemas.microsoft.com/office/drawing/2014/main" id="{228EB50E-C9EE-439B-993F-290F46D68E66}"/>
              </a:ext>
            </a:extLst>
          </p:cNvPr>
          <p:cNvSpPr>
            <a:spLocks xmlns:a="http://schemas.openxmlformats.org/drawingml/2006/main" noGrp="1"/>
          </p:cNvSpPr>
          <p:nvPr/>
        </p:nvSpPr>
        <p:spPr>
          <a:xfrm xmlns:a="http://schemas.openxmlformats.org/drawingml/2006/main">
            <a:off x="542925" y="1647825"/>
            <a:ext cx="7543133" cy="4381500"/>
          </a:xfrm>
          <a:prstGeom xmlns:a="http://schemas.openxmlformats.org/drawingml/2006/main" prst="roundRect">
            <a:avLst>
              <a:gd name="adj" fmla="val 2609"/>
            </a:avLst>
          </a:prstGeom>
          <a:solidFill xmlns:a="http://schemas.openxmlformats.org/drawingml/2006/main">
            <a:srgbClr val="F7FAFC"/>
          </a:solidFill>
          <a:ln xmlns:a="http://schemas.openxmlformats.org/drawingml/2006/main" w="11430">
            <a:solidFill>
              <a:srgbClr val="8BA8BB"/>
            </a:solidFill>
            <a:prstDash val="solid"/>
          </a:ln>
        </p:spPr>
      </p:sp>
      <p:sp>
        <p:nvSpPr>
          <p:cNvPr id="25" name="Verified evidence header 14">
            <a:extLst xmlns:a="http://schemas.openxmlformats.org/drawingml/2006/main">
              <a:ext uri="{FF2B5EF4-FFF2-40B4-BE49-F238E27FC236}">
                <a16:creationId xmlns:a16="http://schemas.microsoft.com/office/drawing/2014/main" id="{E6D15268-A12E-4D12-B33B-2CE80F788942}"/>
              </a:ext>
            </a:extLst>
          </p:cNvPr>
          <p:cNvSpPr>
            <a:spLocks xmlns:a="http://schemas.openxmlformats.org/drawingml/2006/main" noGrp="1"/>
          </p:cNvSpPr>
          <p:nvPr/>
        </p:nvSpPr>
        <p:spPr>
          <a:xfrm xmlns:a="http://schemas.openxmlformats.org/drawingml/2006/main">
            <a:off x="542925" y="1647825"/>
            <a:ext cx="7543133"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26" name="Verified evidence title 14">
            <a:extLst xmlns:a="http://schemas.openxmlformats.org/drawingml/2006/main">
              <a:ext uri="{FF2B5EF4-FFF2-40B4-BE49-F238E27FC236}">
                <a16:creationId xmlns:a16="http://schemas.microsoft.com/office/drawing/2014/main" id="{AAC3939B-FE8D-4E7F-B155-396AD3A962CB}"/>
              </a:ext>
            </a:extLst>
          </p:cNvPr>
          <p:cNvSpPr>
            <a:spLocks xmlns:a="http://schemas.openxmlformats.org/drawingml/2006/main" noGrp="1"/>
          </p:cNvSpPr>
          <p:nvPr/>
        </p:nvSpPr>
        <p:spPr>
          <a:xfrm xmlns:a="http://schemas.openxmlformats.org/drawingml/2006/main">
            <a:off x="714375" y="1724025"/>
            <a:ext cx="720023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SAVED LIVE RUN</a:t>
            </a:r>
          </a:p>
        </p:txBody>
      </p:sp>
      <p:sp>
        <p:nvSpPr>
          <p:cNvPr id="27" name="Verified evidence source 14">
            <a:extLst xmlns:a="http://schemas.openxmlformats.org/drawingml/2006/main">
              <a:ext uri="{FF2B5EF4-FFF2-40B4-BE49-F238E27FC236}">
                <a16:creationId xmlns:a16="http://schemas.microsoft.com/office/drawing/2014/main" id="{B41A305B-381F-4BC8-BF20-9AE548D59CDF}"/>
              </a:ext>
            </a:extLst>
          </p:cNvPr>
          <p:cNvSpPr>
            <a:spLocks xmlns:a="http://schemas.openxmlformats.org/drawingml/2006/main" noGrp="1"/>
          </p:cNvSpPr>
          <p:nvPr/>
        </p:nvSpPr>
        <p:spPr>
          <a:xfrm xmlns:a="http://schemas.openxmlformats.org/drawingml/2006/main">
            <a:off x="714375" y="1895475"/>
            <a:ext cx="7200233"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experiments/results/s1_run.log - 24 Sep 2026</a:t>
            </a:r>
          </a:p>
        </p:txBody>
      </p:sp>
      <p:sp>
        <p:nvSpPr>
          <p:cNvPr id="28" name="Verbatim output 14">
            <a:extLst xmlns:a="http://schemas.openxmlformats.org/drawingml/2006/main">
              <a:ext uri="{FF2B5EF4-FFF2-40B4-BE49-F238E27FC236}">
                <a16:creationId xmlns:a16="http://schemas.microsoft.com/office/drawing/2014/main" id="{9EC3A1DB-668E-494D-9715-8F692E7C7A0E}"/>
              </a:ext>
            </a:extLst>
          </p:cNvPr>
          <p:cNvSpPr>
            <a:spLocks xmlns:a="http://schemas.openxmlformats.org/drawingml/2006/main" noGrp="1"/>
          </p:cNvSpPr>
          <p:nvPr/>
        </p:nvSpPr>
        <p:spPr>
          <a:xfrm xmlns:a="http://schemas.openxmlformats.org/drawingml/2006/main">
            <a:off x="714375" y="2200275"/>
            <a:ext cx="7200233"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[1/6] Starting Ryu Controller ===</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[2/6] Starting M1 REST API ===</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[3/6] Starting Mininet Topology ===</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[4/6] Submitting Intent INT-001 ===</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PASS: Intent submitted successfully (HTTP 201)</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[5/6] Verification Checks ===</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PASS: Flow rules with cookie found on s1 (2 rules)</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PASS: 20 Mbps HTB queue attached to s1-eth2</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PASS: Traffic route traverses s2</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(northern route s1-s2-s3-s7 verified)</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[6/6] Live Telemetry ===</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sample delay_ms=7.535409 jitter_ms=None loss_pct=0.0 status=green event=none</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sample delay_ms=7.197173 jitter_ms=0.338236 loss_pct=0.0 status=amber event=none</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sample delay_ms=7.379792 jitter_ms=0.182619 loss_pct=0.0 status=amber event=none</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sample delay_ms=7.332988 jitter_ms=0.046804 loss_pct=0.0 status=red event=sla.violated</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sample delay_ms=7.643121 jitter_ms=0.310133 loss_pct=0.0 status=red event=none</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PASS: 5 live measurements persisted (4 complete samples)</a:t>
            </a:r>
          </a:p>
          <a:p xmlns:a="http://schemas.openxmlformats.org/drawingml/2006/main">
            <a:pPr>
              <a:defRPr sz="705">
                <a:solidFill>
                  <a:srgbClr val="172033"/>
                </a:solidFill>
                <a:latin typeface="Consolas"/>
                <a:ea typeface="Consolas"/>
                <a:cs typeface="Consolas"/>
              </a:defRPr>
            </a:pPr>
            <a:r>
              <a:rPr sz="705">
                <a:solidFill>
                  <a:srgbClr val="172033"/>
                </a:solidFill>
                <a:latin typeface="Consolas"/>
                <a:ea typeface="Consolas"/>
                <a:cs typeface="Consolas"/>
              </a:rPr>
              <a:t>=== SCENARIO S1: ALL ST-1 THROUGH ST-6 CHECKS PASSED ===</a:t>
            </a:r>
          </a:p>
        </p:txBody>
      </p:sp>
    </p:spTree>
    <p:extLst>
      <p:ext uri="{BB962C8B-B14F-4D97-AF65-F5344CB8AC3E}">
        <p14:creationId xmlns:p14="http://schemas.microsoft.com/office/powerpoint/2010/main" val="4750793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BD55861C-5BFC-4F68-86D1-4D2946C2FB42}"/>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OUTPUT</a:t>
            </a:r>
          </a:p>
        </p:txBody>
      </p:sp>
      <p:sp>
        <p:nvSpPr>
          <p:cNvPr id="2" name="Rectangle 1">
            <a:extLst xmlns:a="http://schemas.openxmlformats.org/drawingml/2006/main">
              <a:ext uri="{FF2B5EF4-FFF2-40B4-BE49-F238E27FC236}">
                <a16:creationId xmlns:a16="http://schemas.microsoft.com/office/drawing/2014/main" id="{6824681A-C283-4328-A0DA-0F39DFC182CA}"/>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Persisted telemetry</a:t>
            </a:r>
          </a:p>
        </p:txBody>
      </p:sp>
      <p:sp>
        <p:nvSpPr>
          <p:cNvPr id="3" name="Rectangle 2">
            <a:extLst xmlns:a="http://schemas.openxmlformats.org/drawingml/2006/main">
              <a:ext uri="{FF2B5EF4-FFF2-40B4-BE49-F238E27FC236}">
                <a16:creationId xmlns:a16="http://schemas.microsoft.com/office/drawing/2014/main" id="{18FB51EC-4AB3-45F9-A19A-8B1745C6683E}"/>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Five persisted samples from the 24 Sep 2026 live run expose both evidence and the event gap</a:t>
            </a:r>
          </a:p>
        </p:txBody>
      </p:sp>
      <p:sp>
        <p:nvSpPr>
          <p:cNvPr id="4" name="Rectangle 3">
            <a:extLst xmlns:a="http://schemas.openxmlformats.org/drawingml/2006/main">
              <a:ext uri="{FF2B5EF4-FFF2-40B4-BE49-F238E27FC236}">
                <a16:creationId xmlns:a16="http://schemas.microsoft.com/office/drawing/2014/main" id="{2A413E0D-6A56-4927-BFC9-02835A67E73A}"/>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7514A2A0-7F5A-4D40-88F1-0D0C2DF702D2}"/>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7E651400-685E-47BA-B1F5-D0C0339AB745}"/>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17DE4EFF-E987-4637-A9D3-1D81A0DF0DD1}"/>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15</a:t>
            </a:r>
          </a:p>
        </p:txBody>
      </p:sp>
      <p:sp>
        <p:nvSpPr>
          <p:cNvPr id="8" name="Rectangle: Rounded Corners 7">
            <a:extLst xmlns:a="http://schemas.openxmlformats.org/drawingml/2006/main">
              <a:ext uri="{FF2B5EF4-FFF2-40B4-BE49-F238E27FC236}">
                <a16:creationId xmlns:a16="http://schemas.microsoft.com/office/drawing/2014/main" id="{C72076C9-7818-4B81-A52F-5C9AF1623728}"/>
              </a:ext>
            </a:extLst>
          </p:cNvPr>
          <p:cNvSpPr>
            <a:spLocks xmlns:a="http://schemas.openxmlformats.org/drawingml/2006/main" noGrp="1"/>
          </p:cNvSpPr>
          <p:nvPr/>
        </p:nvSpPr>
        <p:spPr>
          <a:xfrm xmlns:a="http://schemas.openxmlformats.org/drawingml/2006/main">
            <a:off x="542925" y="1628775"/>
            <a:ext cx="6305550" cy="3695700"/>
          </a:xfrm>
          <a:prstGeom xmlns:a="http://schemas.openxmlformats.org/drawingml/2006/main" prst="roundRect">
            <a:avLst>
              <a:gd name="adj" fmla="val 3093"/>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30" name="Picture 21"/>
          <p:cNvPicPr>
            <a:picLocks xmlns:a="http://schemas.openxmlformats.org/drawingml/2006/main" noChangeAspect="1"/>
          </p:cNvPicPr>
          <p:nvPr/>
        </p:nvPicPr>
        <p:blipFill>
          <a:blip xmlns:r="http://schemas.openxmlformats.org/officeDocument/2006/relationships" xmlns:a="http://schemas.openxmlformats.org/drawingml/2006/main" r:embed="R58d3c70555214fbd"/>
          <a:stretch xmlns:a="http://schemas.openxmlformats.org/drawingml/2006/main"/>
        </p:blipFill>
        <p:spPr>
          <a:xfrm xmlns:a="http://schemas.openxmlformats.org/drawingml/2006/main">
            <a:off x="598334" y="1676400"/>
            <a:ext cx="6194732" cy="3600450"/>
          </a:xfrm>
          <a:prstGeom xmlns:a="http://schemas.openxmlformats.org/drawingml/2006/main" prst="roundRect">
            <a:avLst>
              <a:gd name="adj" fmla="val 2116"/>
            </a:avLst>
          </a:prstGeom>
        </p:spPr>
      </p:pic>
      <p:graphicFrame>
        <p:nvGraphicFramePr>
          <p:cNvPr id="31" name="Table 22"/>
          <p:cNvGraphicFramePr/>
          <p:nvPr/>
        </p:nvGraphicFramePr>
        <p:xfrm>
          <a:off xmlns:a="http://schemas.openxmlformats.org/drawingml/2006/main" x="7143750" y="1809750"/>
          <a:ext xmlns:a="http://schemas.openxmlformats.org/drawingml/2006/main" cx="4286250" cy="3097530"/>
        </p:xfrm>
        <a:graphic xmlns:a="http://schemas.openxmlformats.org/drawingml/2006/main">
          <a:graphicData uri="http://schemas.openxmlformats.org/drawingml/2006/table">
            <a:tbl>
              <a:tblPr/>
              <a:tblGrid>
                <a:gridCol w="1104900"/>
                <a:gridCol w="1352550"/>
                <a:gridCol w="1828800"/>
              </a:tblGrid>
              <a:tr h="537210">
                <a:tc>
                  <a:txBody>
                    <a:bodyPr/>
                    <a:lstStyle/>
                    <a:p>
                      <a:r>
                        <a:rPr b="1">
                          <a:solidFill>
                            <a:srgbClr val="FFFFFF"/>
                          </a:solidFill>
                          <a:latin typeface="Calibri"/>
                          <a:ea typeface="Calibri"/>
                          <a:cs typeface="Calibri"/>
                        </a:rPr>
                        <a:t>Metric</a:t>
                      </a:r>
                    </a:p>
                  </a:txBody>
                  <a:tcPr marL="91440" marR="91440" marT="45720" marB="45720">
                    <a:solidFill>
                      <a:srgbClr val="21295C"/>
                    </a:solidFill>
                  </a:tcPr>
                </a:tc>
                <a:tc>
                  <a:txBody>
                    <a:bodyPr/>
                    <a:lstStyle/>
                    <a:p>
                      <a:r>
                        <a:rPr b="1">
                          <a:solidFill>
                            <a:srgbClr val="FFFFFF"/>
                          </a:solidFill>
                          <a:latin typeface="Calibri"/>
                          <a:ea typeface="Calibri"/>
                          <a:cs typeface="Calibri"/>
                        </a:rPr>
                        <a:t>Observed</a:t>
                      </a:r>
                    </a:p>
                  </a:txBody>
                  <a:tcPr marL="91440" marR="91440" marT="45720" marB="45720">
                    <a:solidFill>
                      <a:srgbClr val="21295C"/>
                    </a:solidFill>
                  </a:tcPr>
                </a:tc>
                <a:tc>
                  <a:txBody>
                    <a:bodyPr/>
                    <a:lstStyle/>
                    <a:p>
                      <a:r>
                        <a:rPr b="1">
                          <a:solidFill>
                            <a:srgbClr val="FFFFFF"/>
                          </a:solidFill>
                          <a:latin typeface="Calibri"/>
                          <a:ea typeface="Calibri"/>
                          <a:cs typeface="Calibri"/>
                        </a:rPr>
                        <a:t>Interpretation</a:t>
                      </a:r>
                    </a:p>
                  </a:txBody>
                  <a:tcPr marL="91440" marR="91440" marT="45720" marB="45720">
                    <a:solidFill>
                      <a:srgbClr val="21295C"/>
                    </a:solidFill>
                  </a:tcPr>
                </a:tc>
              </a:tr>
              <a:tr h="537210">
                <a:tc>
                  <a:txBody>
                    <a:bodyPr/>
                    <a:lstStyle/>
                    <a:p>
                      <a:r>
                        <a:rPr b="1">
                          <a:solidFill>
                            <a:srgbClr val="172333"/>
                          </a:solidFill>
                          <a:latin typeface="Calibri"/>
                          <a:ea typeface="Calibri"/>
                          <a:cs typeface="Calibri"/>
                        </a:rPr>
                        <a:t>Delay</a:t>
                      </a:r>
                    </a:p>
                  </a:txBody>
                  <a:tcPr marL="91440" marR="91440" marT="45720" marB="45720">
                    <a:solidFill>
                      <a:srgbClr val="FFFFFF"/>
                    </a:solidFill>
                  </a:tcPr>
                </a:tc>
                <a:tc>
                  <a:txBody>
                    <a:bodyPr/>
                    <a:lstStyle/>
                    <a:p>
                      <a:r>
                        <a:rPr b="0">
                          <a:solidFill>
                            <a:srgbClr val="172333"/>
                          </a:solidFill>
                          <a:latin typeface="Calibri"/>
                          <a:ea typeface="Calibri"/>
                          <a:cs typeface="Calibri"/>
                        </a:rPr>
                        <a:t>7.197-7.643 ms</a:t>
                      </a:r>
                    </a:p>
                  </a:txBody>
                  <a:tcPr marL="91440" marR="91440" marT="45720" marB="45720">
                    <a:solidFill>
                      <a:srgbClr val="FFFFFF"/>
                    </a:solidFill>
                  </a:tcPr>
                </a:tc>
                <a:tc>
                  <a:txBody>
                    <a:bodyPr/>
                    <a:lstStyle/>
                    <a:p>
                      <a:r>
                        <a:rPr b="0">
                          <a:solidFill>
                            <a:srgbClr val="172333"/>
                          </a:solidFill>
                          <a:latin typeface="Calibri"/>
                          <a:ea typeface="Calibri"/>
                          <a:cs typeface="Calibri"/>
                        </a:rPr>
                        <a:t>Near 6 ms design budget</a:t>
                      </a:r>
                    </a:p>
                  </a:txBody>
                  <a:tcPr marL="91440" marR="91440" marT="45720" marB="45720">
                    <a:solidFill>
                      <a:srgbClr val="FFFFFF"/>
                    </a:solidFill>
                  </a:tcPr>
                </a:tc>
              </a:tr>
              <a:tr h="537210">
                <a:tc>
                  <a:txBody>
                    <a:bodyPr/>
                    <a:lstStyle/>
                    <a:p>
                      <a:r>
                        <a:rPr b="1">
                          <a:solidFill>
                            <a:srgbClr val="172333"/>
                          </a:solidFill>
                          <a:latin typeface="Calibri"/>
                          <a:ea typeface="Calibri"/>
                          <a:cs typeface="Calibri"/>
                        </a:rPr>
                        <a:t>Jitter</a:t>
                      </a:r>
                    </a:p>
                  </a:txBody>
                  <a:tcPr marL="91440" marR="91440" marT="45720" marB="45720">
                    <a:solidFill>
                      <a:srgbClr val="F4F7F9"/>
                    </a:solidFill>
                  </a:tcPr>
                </a:tc>
                <a:tc>
                  <a:txBody>
                    <a:bodyPr/>
                    <a:lstStyle/>
                    <a:p>
                      <a:r>
                        <a:rPr b="0">
                          <a:solidFill>
                            <a:srgbClr val="172333"/>
                          </a:solidFill>
                          <a:latin typeface="Calibri"/>
                          <a:ea typeface="Calibri"/>
                          <a:cs typeface="Calibri"/>
                        </a:rPr>
                        <a:t>0.047-0.338 ms</a:t>
                      </a:r>
                    </a:p>
                  </a:txBody>
                  <a:tcPr marL="91440" marR="91440" marT="45720" marB="45720">
                    <a:solidFill>
                      <a:srgbClr val="F4F7F9"/>
                    </a:solidFill>
                  </a:tcPr>
                </a:tc>
                <a:tc>
                  <a:txBody>
                    <a:bodyPr/>
                    <a:lstStyle/>
                    <a:p>
                      <a:r>
                        <a:rPr b="0">
                          <a:solidFill>
                            <a:srgbClr val="172333"/>
                          </a:solidFill>
                          <a:latin typeface="Calibri"/>
                          <a:ea typeface="Calibri"/>
                          <a:cs typeface="Calibri"/>
                        </a:rPr>
                        <a:t>Low variation</a:t>
                      </a:r>
                    </a:p>
                  </a:txBody>
                  <a:tcPr marL="91440" marR="91440" marT="45720" marB="45720">
                    <a:solidFill>
                      <a:srgbClr val="F4F7F9"/>
                    </a:solidFill>
                  </a:tcPr>
                </a:tc>
              </a:tr>
              <a:tr h="537210">
                <a:tc>
                  <a:txBody>
                    <a:bodyPr/>
                    <a:lstStyle/>
                    <a:p>
                      <a:r>
                        <a:rPr b="1">
                          <a:solidFill>
                            <a:srgbClr val="172333"/>
                          </a:solidFill>
                          <a:latin typeface="Calibri"/>
                          <a:ea typeface="Calibri"/>
                          <a:cs typeface="Calibri"/>
                        </a:rPr>
                        <a:t>Loss</a:t>
                      </a:r>
                    </a:p>
                  </a:txBody>
                  <a:tcPr marL="91440" marR="91440" marT="45720" marB="45720">
                    <a:solidFill>
                      <a:srgbClr val="FFFFFF"/>
                    </a:solidFill>
                  </a:tcPr>
                </a:tc>
                <a:tc>
                  <a:txBody>
                    <a:bodyPr/>
                    <a:lstStyle/>
                    <a:p>
                      <a:r>
                        <a:rPr b="0">
                          <a:solidFill>
                            <a:srgbClr val="172333"/>
                          </a:solidFill>
                          <a:latin typeface="Calibri"/>
                          <a:ea typeface="Calibri"/>
                          <a:cs typeface="Calibri"/>
                        </a:rPr>
                        <a:t>0.0%</a:t>
                      </a:r>
                    </a:p>
                  </a:txBody>
                  <a:tcPr marL="91440" marR="91440" marT="45720" marB="45720">
                    <a:solidFill>
                      <a:srgbClr val="FFFFFF"/>
                    </a:solidFill>
                  </a:tcPr>
                </a:tc>
                <a:tc>
                  <a:txBody>
                    <a:bodyPr/>
                    <a:lstStyle/>
                    <a:p>
                      <a:r>
                        <a:rPr b="0">
                          <a:solidFill>
                            <a:srgbClr val="172333"/>
                          </a:solidFill>
                          <a:latin typeface="Calibri"/>
                          <a:ea typeface="Calibri"/>
                          <a:cs typeface="Calibri"/>
                        </a:rPr>
                        <a:t>All probes returned</a:t>
                      </a:r>
                    </a:p>
                  </a:txBody>
                  <a:tcPr marL="91440" marR="91440" marT="45720" marB="45720">
                    <a:solidFill>
                      <a:srgbClr val="FFFFFF"/>
                    </a:solidFill>
                  </a:tcPr>
                </a:tc>
              </a:tr>
              <a:tr h="537210">
                <a:tc>
                  <a:txBody>
                    <a:bodyPr/>
                    <a:lstStyle/>
                    <a:p>
                      <a:r>
                        <a:rPr b="1">
                          <a:solidFill>
                            <a:srgbClr val="172333"/>
                          </a:solidFill>
                          <a:latin typeface="Calibri"/>
                          <a:ea typeface="Calibri"/>
                          <a:cs typeface="Calibri"/>
                        </a:rPr>
                        <a:t>Rate</a:t>
                      </a:r>
                    </a:p>
                  </a:txBody>
                  <a:tcPr marL="91440" marR="91440" marT="45720" marB="45720">
                    <a:solidFill>
                      <a:srgbClr val="F4F7F9"/>
                    </a:solidFill>
                  </a:tcPr>
                </a:tc>
                <a:tc>
                  <a:txBody>
                    <a:bodyPr/>
                    <a:lstStyle/>
                    <a:p>
                      <a:r>
                        <a:rPr b="0">
                          <a:solidFill>
                            <a:srgbClr val="172333"/>
                          </a:solidFill>
                          <a:latin typeface="Calibri"/>
                          <a:ea typeface="Calibri"/>
                          <a:cs typeface="Calibri"/>
                        </a:rPr>
                        <a:t>0.4-0.8 kbps</a:t>
                      </a:r>
                    </a:p>
                  </a:txBody>
                  <a:tcPr marL="91440" marR="91440" marT="45720" marB="45720">
                    <a:solidFill>
                      <a:srgbClr val="F4F7F9"/>
                    </a:solidFill>
                  </a:tcPr>
                </a:tc>
                <a:tc>
                  <a:txBody>
                    <a:bodyPr/>
                    <a:lstStyle/>
                    <a:p>
                      <a:r>
                        <a:rPr b="0">
                          <a:solidFill>
                            <a:srgbClr val="172333"/>
                          </a:solidFill>
                          <a:latin typeface="Calibri"/>
                          <a:ea typeface="Calibri"/>
                          <a:cs typeface="Calibri"/>
                        </a:rPr>
                        <a:t>Probe load</a:t>
                      </a:r>
                    </a:p>
                  </a:txBody>
                  <a:tcPr marL="91440" marR="91440" marT="45720" marB="45720">
                    <a:solidFill>
                      <a:srgbClr val="F4F7F9"/>
                    </a:solidFill>
                  </a:tcPr>
                </a:tc>
              </a:tr>
            </a:tbl>
          </a:graphicData>
        </a:graphic>
      </p:graphicFrame>
      <p:sp>
        <p:nvSpPr>
          <p:cNvPr id="11" name="Rectangle: Rounded Corners 10">
            <a:extLst xmlns:a="http://schemas.openxmlformats.org/drawingml/2006/main">
              <a:ext uri="{FF2B5EF4-FFF2-40B4-BE49-F238E27FC236}">
                <a16:creationId xmlns:a16="http://schemas.microsoft.com/office/drawing/2014/main" id="{EC844DC1-8715-49D5-A03C-E64ACB63791A}"/>
              </a:ext>
            </a:extLst>
          </p:cNvPr>
          <p:cNvSpPr>
            <a:spLocks xmlns:a="http://schemas.openxmlformats.org/drawingml/2006/main" noGrp="1"/>
          </p:cNvSpPr>
          <p:nvPr/>
        </p:nvSpPr>
        <p:spPr>
          <a:xfrm xmlns:a="http://schemas.openxmlformats.org/drawingml/2006/main">
            <a:off x="7143750" y="4762500"/>
            <a:ext cx="4286250" cy="742950"/>
          </a:xfrm>
          <a:prstGeom xmlns:a="http://schemas.openxmlformats.org/drawingml/2006/main" prst="roundRect">
            <a:avLst>
              <a:gd name="adj" fmla="val 12821"/>
            </a:avLst>
          </a:prstGeom>
          <a:solidFill xmlns:a="http://schemas.openxmlformats.org/drawingml/2006/main">
            <a:srgbClr val="FBEDE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59E308EC-68EB-451D-99C5-E3C00CC7C03A}"/>
              </a:ext>
            </a:extLst>
          </p:cNvPr>
          <p:cNvSpPr>
            <a:spLocks xmlns:a="http://schemas.openxmlformats.org/drawingml/2006/main" noGrp="1"/>
          </p:cNvSpPr>
          <p:nvPr/>
        </p:nvSpPr>
        <p:spPr>
          <a:xfrm xmlns:a="http://schemas.openxmlformats.org/drawingml/2006/main">
            <a:off x="7334250" y="49434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9835"/>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Database counts: intents 1 | paths 1 | measurements 5 | events 0</a:t>
            </a:r>
          </a:p>
        </p:txBody>
      </p:sp>
      <p:sp>
        <p:nvSpPr>
          <p:cNvPr id="13" name="Rectangle 12">
            <a:extLst xmlns:a="http://schemas.openxmlformats.org/drawingml/2006/main">
              <a:ext uri="{FF2B5EF4-FFF2-40B4-BE49-F238E27FC236}">
                <a16:creationId xmlns:a16="http://schemas.microsoft.com/office/drawing/2014/main" id="{F7AF9B73-4CFB-4E3C-BFAC-1E95B185CA36}"/>
              </a:ext>
            </a:extLst>
          </p:cNvPr>
          <p:cNvSpPr>
            <a:spLocks xmlns:a="http://schemas.openxmlformats.org/drawingml/2006/main" noGrp="1"/>
          </p:cNvSpPr>
          <p:nvPr/>
        </p:nvSpPr>
        <p:spPr>
          <a:xfrm xmlns:a="http://schemas.openxmlformats.org/drawingml/2006/main">
            <a:off x="1143000" y="56959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The delay corroborates the selected route. The zero event count exposes the ST-7 integration gap.</a:t>
            </a:r>
          </a:p>
        </p:txBody>
      </p:sp>
      <p:sp>
        <p:nvSpPr>
          <p:cNvPr id="17" name="Verified evidence 15">
            <a:extLst xmlns:a="http://schemas.openxmlformats.org/drawingml/2006/main">
              <a:ext uri="{FF2B5EF4-FFF2-40B4-BE49-F238E27FC236}">
                <a16:creationId xmlns:a16="http://schemas.microsoft.com/office/drawing/2014/main" id="{A127BA86-59EF-46C3-BA04-4E0D6F0785D8}"/>
              </a:ext>
            </a:extLst>
          </p:cNvPr>
          <p:cNvSpPr>
            <a:spLocks xmlns:a="http://schemas.openxmlformats.org/drawingml/2006/main" noGrp="1"/>
          </p:cNvSpPr>
          <p:nvPr/>
        </p:nvSpPr>
        <p:spPr>
          <a:xfrm xmlns:a="http://schemas.openxmlformats.org/drawingml/2006/main">
            <a:off x="598361" y="1676400"/>
            <a:ext cx="6194774" cy="3600450"/>
          </a:xfrm>
          <a:prstGeom xmlns:a="http://schemas.openxmlformats.org/drawingml/2006/main" prst="roundRect">
            <a:avLst>
              <a:gd name="adj" fmla="val 3175"/>
            </a:avLst>
          </a:prstGeom>
          <a:solidFill xmlns:a="http://schemas.openxmlformats.org/drawingml/2006/main">
            <a:srgbClr val="F7FAFC"/>
          </a:solidFill>
          <a:ln xmlns:a="http://schemas.openxmlformats.org/drawingml/2006/main" w="11430">
            <a:solidFill>
              <a:srgbClr val="8BA8BB"/>
            </a:solidFill>
            <a:prstDash val="solid"/>
          </a:ln>
        </p:spPr>
      </p:sp>
      <p:sp>
        <p:nvSpPr>
          <p:cNvPr id="18" name="Verified evidence header 15">
            <a:extLst xmlns:a="http://schemas.openxmlformats.org/drawingml/2006/main">
              <a:ext uri="{FF2B5EF4-FFF2-40B4-BE49-F238E27FC236}">
                <a16:creationId xmlns:a16="http://schemas.microsoft.com/office/drawing/2014/main" id="{026DA783-4217-419F-8A06-3E535BDC3D85}"/>
              </a:ext>
            </a:extLst>
          </p:cNvPr>
          <p:cNvSpPr>
            <a:spLocks xmlns:a="http://schemas.openxmlformats.org/drawingml/2006/main" noGrp="1"/>
          </p:cNvSpPr>
          <p:nvPr/>
        </p:nvSpPr>
        <p:spPr>
          <a:xfrm xmlns:a="http://schemas.openxmlformats.org/drawingml/2006/main">
            <a:off x="598361" y="1676400"/>
            <a:ext cx="6194774"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19" name="Verified evidence title 15">
            <a:extLst xmlns:a="http://schemas.openxmlformats.org/drawingml/2006/main">
              <a:ext uri="{FF2B5EF4-FFF2-40B4-BE49-F238E27FC236}">
                <a16:creationId xmlns:a16="http://schemas.microsoft.com/office/drawing/2014/main" id="{9DF95575-01F8-4A8E-B024-4F189AC7EAA5}"/>
              </a:ext>
            </a:extLst>
          </p:cNvPr>
          <p:cNvSpPr>
            <a:spLocks xmlns:a="http://schemas.openxmlformats.org/drawingml/2006/main" noGrp="1"/>
          </p:cNvSpPr>
          <p:nvPr/>
        </p:nvSpPr>
        <p:spPr>
          <a:xfrm xmlns:a="http://schemas.openxmlformats.org/drawingml/2006/main">
            <a:off x="769810" y="1752600"/>
            <a:ext cx="5851874"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DATABASE QUERY OUTPUT</a:t>
            </a:r>
          </a:p>
        </p:txBody>
      </p:sp>
      <p:sp>
        <p:nvSpPr>
          <p:cNvPr id="20" name="Verified evidence source 15">
            <a:extLst xmlns:a="http://schemas.openxmlformats.org/drawingml/2006/main">
              <a:ext uri="{FF2B5EF4-FFF2-40B4-BE49-F238E27FC236}">
                <a16:creationId xmlns:a16="http://schemas.microsoft.com/office/drawing/2014/main" id="{E0FD63B0-68DE-4B98-9C8B-57FC3CD8D720}"/>
              </a:ext>
            </a:extLst>
          </p:cNvPr>
          <p:cNvSpPr>
            <a:spLocks xmlns:a="http://schemas.openxmlformats.org/drawingml/2006/main" noGrp="1"/>
          </p:cNvSpPr>
          <p:nvPr/>
        </p:nvSpPr>
        <p:spPr>
          <a:xfrm xmlns:a="http://schemas.openxmlformats.org/drawingml/2006/main">
            <a:off x="769810" y="1924050"/>
            <a:ext cx="5851874"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Python sqlite3 query: experiments/results/state.db</a:t>
            </a:r>
          </a:p>
        </p:txBody>
      </p:sp>
      <p:sp>
        <p:nvSpPr>
          <p:cNvPr id="21" name="Verbatim output 15">
            <a:extLst xmlns:a="http://schemas.openxmlformats.org/drawingml/2006/main">
              <a:ext uri="{FF2B5EF4-FFF2-40B4-BE49-F238E27FC236}">
                <a16:creationId xmlns:a16="http://schemas.microsoft.com/office/drawing/2014/main" id="{E5B4B242-888D-45A9-8314-E19C6205C812}"/>
              </a:ext>
            </a:extLst>
          </p:cNvPr>
          <p:cNvSpPr>
            <a:spLocks xmlns:a="http://schemas.openxmlformats.org/drawingml/2006/main" noGrp="1"/>
          </p:cNvSpPr>
          <p:nvPr/>
        </p:nvSpPr>
        <p:spPr>
          <a:xfrm xmlns:a="http://schemas.openxmlformats.org/drawingml/2006/main">
            <a:off x="769810" y="2228850"/>
            <a:ext cx="5851874"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intent_id | delay_ms | jitter_ms | loss_pct | throughput_mbps</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INT-001 | 7.535409 | None     | 0.0 | None</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INT-001 | 7.197173 | 0.338236 | 0.0 | 0.000383580</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INT-001 | 7.379792 | 0.182619 | 0.0 | 0.000383445</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INT-001 | 7.332988 | 0.046804 | 0.0 | 0.000767234</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INT-001 | 7.643121 | 0.310133 | 0.0 | 0.000767212</a:t>
            </a:r>
          </a:p>
          <a:p xmlns:a="http://schemas.openxmlformats.org/drawingml/2006/main">
            <a:r>
              <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intents 1</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paths 1</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measurements 5</a:t>
            </a:r>
          </a:p>
          <a:p xmlns:a="http://schemas.openxmlformats.org/drawingml/2006/main">
            <a:pPr>
              <a:defRPr sz="840">
                <a:solidFill>
                  <a:srgbClr val="172033"/>
                </a:solidFill>
                <a:latin typeface="Consolas"/>
                <a:ea typeface="Consolas"/>
                <a:cs typeface="Consolas"/>
              </a:defRPr>
            </a:pPr>
            <a:r>
              <a:rPr sz="840">
                <a:solidFill>
                  <a:srgbClr val="172033"/>
                </a:solidFill>
                <a:latin typeface="Consolas"/>
                <a:ea typeface="Consolas"/>
                <a:cs typeface="Consolas"/>
              </a:rPr>
              <a:t>events 0</a:t>
            </a:r>
          </a:p>
        </p:txBody>
      </p:sp>
    </p:spTree>
    <p:extLst>
      <p:ext uri="{BB962C8B-B14F-4D97-AF65-F5344CB8AC3E}">
        <p14:creationId xmlns:p14="http://schemas.microsoft.com/office/powerpoint/2010/main" val="18101659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8A7B3360-FAAA-4CF0-B878-0AFCC84BAB39}"/>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ANALYSIS</a:t>
            </a:r>
          </a:p>
        </p:txBody>
      </p:sp>
      <p:sp>
        <p:nvSpPr>
          <p:cNvPr id="2" name="Rectangle 1">
            <a:extLst xmlns:a="http://schemas.openxmlformats.org/drawingml/2006/main">
              <a:ext uri="{FF2B5EF4-FFF2-40B4-BE49-F238E27FC236}">
                <a16:creationId xmlns:a16="http://schemas.microsoft.com/office/drawing/2014/main" id="{AF9CF599-3307-453C-AF3C-CC83064178A6}"/>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Interpreting the bandwidth violation</a:t>
            </a:r>
          </a:p>
        </p:txBody>
      </p:sp>
      <p:sp>
        <p:nvSpPr>
          <p:cNvPr id="3" name="Rectangle 2">
            <a:extLst xmlns:a="http://schemas.openxmlformats.org/drawingml/2006/main">
              <a:ext uri="{FF2B5EF4-FFF2-40B4-BE49-F238E27FC236}">
                <a16:creationId xmlns:a16="http://schemas.microsoft.com/office/drawing/2014/main" id="{EB3DFE42-E4F9-45D9-AE97-285DEA14F61E}"/>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The detector measured the offered load correctly; the scenario did not generate a 20 Mbps workload</a:t>
            </a:r>
          </a:p>
        </p:txBody>
      </p:sp>
      <p:sp>
        <p:nvSpPr>
          <p:cNvPr id="4" name="Rectangle 3">
            <a:extLst xmlns:a="http://schemas.openxmlformats.org/drawingml/2006/main">
              <a:ext uri="{FF2B5EF4-FFF2-40B4-BE49-F238E27FC236}">
                <a16:creationId xmlns:a16="http://schemas.microsoft.com/office/drawing/2014/main" id="{1151419E-014D-4496-BA96-D36C64335C7A}"/>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9F2E0F7-E57E-425C-879D-132AF8F27A84}"/>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ADE6721-D24A-49AF-BD91-8F97DAD4E9CE}"/>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EDD3F589-0059-4821-9855-F76850771452}"/>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16</a:t>
            </a:r>
          </a:p>
        </p:txBody>
      </p:sp>
      <p:sp>
        <p:nvSpPr>
          <p:cNvPr id="8" name="Rectangle: Rounded Corners 7">
            <a:extLst xmlns:a="http://schemas.openxmlformats.org/drawingml/2006/main">
              <a:ext uri="{FF2B5EF4-FFF2-40B4-BE49-F238E27FC236}">
                <a16:creationId xmlns:a16="http://schemas.microsoft.com/office/drawing/2014/main" id="{4ADA7BFE-8F5C-4787-9CBA-35BDA80D4346}"/>
              </a:ext>
            </a:extLst>
          </p:cNvPr>
          <p:cNvSpPr>
            <a:spLocks xmlns:a="http://schemas.openxmlformats.org/drawingml/2006/main" noGrp="1"/>
          </p:cNvSpPr>
          <p:nvPr/>
        </p:nvSpPr>
        <p:spPr>
          <a:xfrm xmlns:a="http://schemas.openxmlformats.org/drawingml/2006/main">
            <a:off x="457200" y="1981200"/>
            <a:ext cx="1885950" cy="914400"/>
          </a:xfrm>
          <a:prstGeom xmlns:a="http://schemas.openxmlformats.org/drawingml/2006/main" prst="roundRect">
            <a:avLst>
              <a:gd name="adj" fmla="val 12500"/>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74A1955E-6A90-4239-8580-3B22669D3185}"/>
              </a:ext>
            </a:extLst>
          </p:cNvPr>
          <p:cNvSpPr>
            <a:spLocks xmlns:a="http://schemas.openxmlformats.org/drawingml/2006/main" noGrp="1"/>
          </p:cNvSpPr>
          <p:nvPr/>
        </p:nvSpPr>
        <p:spPr>
          <a:xfrm xmlns:a="http://schemas.openxmlformats.org/drawingml/2006/main">
            <a:off x="609600" y="2171700"/>
            <a:ext cx="1581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8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Promise</a:t>
            </a:r>
          </a:p>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&gt;= 20 Mbps</a:t>
            </a:r>
          </a:p>
        </p:txBody>
      </p:sp>
      <p:sp>
        <p:nvSpPr>
          <p:cNvPr id="10" name="Rectangle 9">
            <a:extLst xmlns:a="http://schemas.openxmlformats.org/drawingml/2006/main">
              <a:ext uri="{FF2B5EF4-FFF2-40B4-BE49-F238E27FC236}">
                <a16:creationId xmlns:a16="http://schemas.microsoft.com/office/drawing/2014/main" id="{A413701B-60FD-4C8D-8931-862B54972119}"/>
              </a:ext>
            </a:extLst>
          </p:cNvPr>
          <p:cNvSpPr>
            <a:spLocks xmlns:a="http://schemas.openxmlformats.org/drawingml/2006/main" noGrp="1"/>
          </p:cNvSpPr>
          <p:nvPr/>
        </p:nvSpPr>
        <p:spPr>
          <a:xfrm xmlns:a="http://schemas.openxmlformats.org/drawingml/2006/main">
            <a:off x="2400300" y="2247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11" name="Rectangle: Rounded Corners 10">
            <a:extLst xmlns:a="http://schemas.openxmlformats.org/drawingml/2006/main">
              <a:ext uri="{FF2B5EF4-FFF2-40B4-BE49-F238E27FC236}">
                <a16:creationId xmlns:a16="http://schemas.microsoft.com/office/drawing/2014/main" id="{6F4A3A7D-B4B6-41BF-A10A-F57068A59EF5}"/>
              </a:ext>
            </a:extLst>
          </p:cNvPr>
          <p:cNvSpPr>
            <a:spLocks xmlns:a="http://schemas.openxmlformats.org/drawingml/2006/main" noGrp="1"/>
          </p:cNvSpPr>
          <p:nvPr/>
        </p:nvSpPr>
        <p:spPr>
          <a:xfrm xmlns:a="http://schemas.openxmlformats.org/drawingml/2006/main">
            <a:off x="2800350" y="1981200"/>
            <a:ext cx="1885950" cy="914400"/>
          </a:xfrm>
          <a:prstGeom xmlns:a="http://schemas.openxmlformats.org/drawingml/2006/main" prst="roundRect">
            <a:avLst>
              <a:gd name="adj" fmla="val 12500"/>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1BB8E2AD-0B15-4C7E-B526-5DA7915F50D4}"/>
              </a:ext>
            </a:extLst>
          </p:cNvPr>
          <p:cNvSpPr>
            <a:spLocks xmlns:a="http://schemas.openxmlformats.org/drawingml/2006/main" noGrp="1"/>
          </p:cNvSpPr>
          <p:nvPr/>
        </p:nvSpPr>
        <p:spPr>
          <a:xfrm xmlns:a="http://schemas.openxmlformats.org/drawingml/2006/main">
            <a:off x="2952750" y="2171700"/>
            <a:ext cx="1581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8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Read counters</a:t>
            </a:r>
          </a:p>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1 second apart</a:t>
            </a:r>
          </a:p>
        </p:txBody>
      </p:sp>
      <p:sp>
        <p:nvSpPr>
          <p:cNvPr id="13" name="Rectangle 12">
            <a:extLst xmlns:a="http://schemas.openxmlformats.org/drawingml/2006/main">
              <a:ext uri="{FF2B5EF4-FFF2-40B4-BE49-F238E27FC236}">
                <a16:creationId xmlns:a16="http://schemas.microsoft.com/office/drawing/2014/main" id="{F5897E99-2F8A-4203-A46B-5AA5222FE766}"/>
              </a:ext>
            </a:extLst>
          </p:cNvPr>
          <p:cNvSpPr>
            <a:spLocks xmlns:a="http://schemas.openxmlformats.org/drawingml/2006/main" noGrp="1"/>
          </p:cNvSpPr>
          <p:nvPr/>
        </p:nvSpPr>
        <p:spPr>
          <a:xfrm xmlns:a="http://schemas.openxmlformats.org/drawingml/2006/main">
            <a:off x="4743450" y="2247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14" name="Rectangle: Rounded Corners 13">
            <a:extLst xmlns:a="http://schemas.openxmlformats.org/drawingml/2006/main">
              <a:ext uri="{FF2B5EF4-FFF2-40B4-BE49-F238E27FC236}">
                <a16:creationId xmlns:a16="http://schemas.microsoft.com/office/drawing/2014/main" id="{5552E659-4B6A-4800-886D-71B3BE3B6264}"/>
              </a:ext>
            </a:extLst>
          </p:cNvPr>
          <p:cNvSpPr>
            <a:spLocks xmlns:a="http://schemas.openxmlformats.org/drawingml/2006/main" noGrp="1"/>
          </p:cNvSpPr>
          <p:nvPr/>
        </p:nvSpPr>
        <p:spPr>
          <a:xfrm xmlns:a="http://schemas.openxmlformats.org/drawingml/2006/main">
            <a:off x="5143500" y="1981200"/>
            <a:ext cx="1885950" cy="914400"/>
          </a:xfrm>
          <a:prstGeom xmlns:a="http://schemas.openxmlformats.org/drawingml/2006/main" prst="roundRect">
            <a:avLst>
              <a:gd name="adj" fmla="val 12500"/>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DCCB587F-3C9D-4641-8FEC-8A03944087FC}"/>
              </a:ext>
            </a:extLst>
          </p:cNvPr>
          <p:cNvSpPr>
            <a:spLocks xmlns:a="http://schemas.openxmlformats.org/drawingml/2006/main" noGrp="1"/>
          </p:cNvSpPr>
          <p:nvPr/>
        </p:nvSpPr>
        <p:spPr>
          <a:xfrm xmlns:a="http://schemas.openxmlformats.org/drawingml/2006/main">
            <a:off x="5295900" y="2171700"/>
            <a:ext cx="1581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8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Probe sends</a:t>
            </a:r>
          </a:p>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one small packet</a:t>
            </a:r>
          </a:p>
        </p:txBody>
      </p:sp>
      <p:sp>
        <p:nvSpPr>
          <p:cNvPr id="16" name="Rectangle 15">
            <a:extLst xmlns:a="http://schemas.openxmlformats.org/drawingml/2006/main">
              <a:ext uri="{FF2B5EF4-FFF2-40B4-BE49-F238E27FC236}">
                <a16:creationId xmlns:a16="http://schemas.microsoft.com/office/drawing/2014/main" id="{BFC6D112-1AC0-4702-9FAA-9DE575D8FDCE}"/>
              </a:ext>
            </a:extLst>
          </p:cNvPr>
          <p:cNvSpPr>
            <a:spLocks xmlns:a="http://schemas.openxmlformats.org/drawingml/2006/main" noGrp="1"/>
          </p:cNvSpPr>
          <p:nvPr/>
        </p:nvSpPr>
        <p:spPr>
          <a:xfrm xmlns:a="http://schemas.openxmlformats.org/drawingml/2006/main">
            <a:off x="7086600" y="2247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17" name="Rectangle: Rounded Corners 16">
            <a:extLst xmlns:a="http://schemas.openxmlformats.org/drawingml/2006/main">
              <a:ext uri="{FF2B5EF4-FFF2-40B4-BE49-F238E27FC236}">
                <a16:creationId xmlns:a16="http://schemas.microsoft.com/office/drawing/2014/main" id="{7842A9C6-ABB1-40E4-90AA-B94E92CCC449}"/>
              </a:ext>
            </a:extLst>
          </p:cNvPr>
          <p:cNvSpPr>
            <a:spLocks xmlns:a="http://schemas.openxmlformats.org/drawingml/2006/main" noGrp="1"/>
          </p:cNvSpPr>
          <p:nvPr/>
        </p:nvSpPr>
        <p:spPr>
          <a:xfrm xmlns:a="http://schemas.openxmlformats.org/drawingml/2006/main">
            <a:off x="7486650" y="1981200"/>
            <a:ext cx="1885950" cy="914400"/>
          </a:xfrm>
          <a:prstGeom xmlns:a="http://schemas.openxmlformats.org/drawingml/2006/main" prst="roundRect">
            <a:avLst>
              <a:gd name="adj" fmla="val 12500"/>
            </a:avLst>
          </a:prstGeom>
          <a:solidFill xmlns:a="http://schemas.openxmlformats.org/drawingml/2006/main">
            <a:srgbClr val="E8EFF4"/>
          </a:solidFill>
          <a:ln xmlns:a="http://schemas.openxmlformats.org/drawingml/2006/main" w="9525">
            <a:solidFill>
              <a:srgbClr val="1C7293"/>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0547D8D2-B081-4727-9C10-61785C92C072}"/>
              </a:ext>
            </a:extLst>
          </p:cNvPr>
          <p:cNvSpPr>
            <a:spLocks xmlns:a="http://schemas.openxmlformats.org/drawingml/2006/main" noGrp="1"/>
          </p:cNvSpPr>
          <p:nvPr/>
        </p:nvSpPr>
        <p:spPr>
          <a:xfrm xmlns:a="http://schemas.openxmlformats.org/drawingml/2006/main">
            <a:off x="7639050" y="2171700"/>
            <a:ext cx="1581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8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Observed</a:t>
            </a:r>
          </a:p>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0.001 Mbps</a:t>
            </a:r>
          </a:p>
        </p:txBody>
      </p:sp>
      <p:sp>
        <p:nvSpPr>
          <p:cNvPr id="19" name="Rectangle 18">
            <a:extLst xmlns:a="http://schemas.openxmlformats.org/drawingml/2006/main">
              <a:ext uri="{FF2B5EF4-FFF2-40B4-BE49-F238E27FC236}">
                <a16:creationId xmlns:a16="http://schemas.microsoft.com/office/drawing/2014/main" id="{C8E2E887-C184-41FD-BDE5-E0EC0F7638A1}"/>
              </a:ext>
            </a:extLst>
          </p:cNvPr>
          <p:cNvSpPr>
            <a:spLocks xmlns:a="http://schemas.openxmlformats.org/drawingml/2006/main" noGrp="1"/>
          </p:cNvSpPr>
          <p:nvPr/>
        </p:nvSpPr>
        <p:spPr>
          <a:xfrm xmlns:a="http://schemas.openxmlformats.org/drawingml/2006/main">
            <a:off x="9429750" y="2247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a:t>
            </a:r>
          </a:p>
        </p:txBody>
      </p:sp>
      <p:sp>
        <p:nvSpPr>
          <p:cNvPr id="20" name="Rectangle: Rounded Corners 19">
            <a:extLst xmlns:a="http://schemas.openxmlformats.org/drawingml/2006/main">
              <a:ext uri="{FF2B5EF4-FFF2-40B4-BE49-F238E27FC236}">
                <a16:creationId xmlns:a16="http://schemas.microsoft.com/office/drawing/2014/main" id="{FC2512C9-FEB4-40D0-8B5B-96DBD3B4ECA1}"/>
              </a:ext>
            </a:extLst>
          </p:cNvPr>
          <p:cNvSpPr>
            <a:spLocks xmlns:a="http://schemas.openxmlformats.org/drawingml/2006/main" noGrp="1"/>
          </p:cNvSpPr>
          <p:nvPr/>
        </p:nvSpPr>
        <p:spPr>
          <a:xfrm xmlns:a="http://schemas.openxmlformats.org/drawingml/2006/main">
            <a:off x="9829800" y="1981200"/>
            <a:ext cx="1885950" cy="914400"/>
          </a:xfrm>
          <a:prstGeom xmlns:a="http://schemas.openxmlformats.org/drawingml/2006/main" prst="roundRect">
            <a:avLst>
              <a:gd name="adj" fmla="val 12500"/>
            </a:avLst>
          </a:prstGeom>
          <a:solidFill xmlns:a="http://schemas.openxmlformats.org/drawingml/2006/main">
            <a:srgbClr val="FBEDE6"/>
          </a:solidFill>
          <a:ln xmlns:a="http://schemas.openxmlformats.org/drawingml/2006/main" w="9525">
            <a:solidFill>
              <a:srgbClr val="C1440E"/>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6D4E2F43-6627-45BD-BC3D-EE5D3C0C778D}"/>
              </a:ext>
            </a:extLst>
          </p:cNvPr>
          <p:cNvSpPr>
            <a:spLocks xmlns:a="http://schemas.openxmlformats.org/drawingml/2006/main" noGrp="1"/>
          </p:cNvSpPr>
          <p:nvPr/>
        </p:nvSpPr>
        <p:spPr>
          <a:xfrm xmlns:a="http://schemas.openxmlformats.org/drawingml/2006/main">
            <a:off x="9982200" y="2171700"/>
            <a:ext cx="1581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083"/>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Violation</a:t>
            </a:r>
          </a:p>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confirmed</a:t>
            </a:r>
          </a:p>
        </p:txBody>
      </p:sp>
      <p:sp>
        <p:nvSpPr>
          <p:cNvPr id="22" name="Rectangle: Rounded Corners 21">
            <a:extLst xmlns:a="http://schemas.openxmlformats.org/drawingml/2006/main">
              <a:ext uri="{FF2B5EF4-FFF2-40B4-BE49-F238E27FC236}">
                <a16:creationId xmlns:a16="http://schemas.microsoft.com/office/drawing/2014/main" id="{65472388-BE71-4C53-BA7B-975BEE31D87E}"/>
              </a:ext>
            </a:extLst>
          </p:cNvPr>
          <p:cNvSpPr>
            <a:spLocks xmlns:a="http://schemas.openxmlformats.org/drawingml/2006/main" noGrp="1"/>
          </p:cNvSpPr>
          <p:nvPr/>
        </p:nvSpPr>
        <p:spPr>
          <a:xfrm xmlns:a="http://schemas.openxmlformats.org/drawingml/2006/main">
            <a:off x="819150" y="3467100"/>
            <a:ext cx="10553700" cy="1543050"/>
          </a:xfrm>
          <a:prstGeom xmlns:a="http://schemas.openxmlformats.org/drawingml/2006/main" prst="roundRect">
            <a:avLst>
              <a:gd name="adj" fmla="val 8642"/>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A5085CA3-9580-4D20-BD2A-76C3CD5735CE}"/>
              </a:ext>
            </a:extLst>
          </p:cNvPr>
          <p:cNvSpPr>
            <a:spLocks xmlns:a="http://schemas.openxmlformats.org/drawingml/2006/main" noGrp="1"/>
          </p:cNvSpPr>
          <p:nvPr/>
        </p:nvSpPr>
        <p:spPr>
          <a:xfrm xmlns:a="http://schemas.openxmlformats.org/drawingml/2006/main">
            <a:off x="1066800" y="36957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065A82"/>
                </a:solidFill>
                <a:latin typeface="Cambria"/>
                <a:ea typeface="Cambria"/>
                <a:cs typeface="Cambria"/>
              </a:defRPr>
            </a:pPr>
            <a:r>
              <a:rPr b="1">
                <a:solidFill>
                  <a:srgbClr val="065A82"/>
                </a:solidFill>
                <a:latin typeface="Cambria"/>
                <a:ea typeface="Cambria"/>
                <a:cs typeface="Cambria"/>
              </a:rPr>
              <a:t>Van analogy</a:t>
            </a:r>
          </a:p>
        </p:txBody>
      </p:sp>
      <p:sp>
        <p:nvSpPr>
          <p:cNvPr id="24" name="Rectangle 23">
            <a:extLst xmlns:a="http://schemas.openxmlformats.org/drawingml/2006/main">
              <a:ext uri="{FF2B5EF4-FFF2-40B4-BE49-F238E27FC236}">
                <a16:creationId xmlns:a16="http://schemas.microsoft.com/office/drawing/2014/main" id="{6619F726-680A-43C0-81DA-56A511099A92}"/>
              </a:ext>
            </a:extLst>
          </p:cNvPr>
          <p:cNvSpPr>
            <a:spLocks xmlns:a="http://schemas.openxmlformats.org/drawingml/2006/main" noGrp="1"/>
          </p:cNvSpPr>
          <p:nvPr/>
        </p:nvSpPr>
        <p:spPr>
          <a:xfrm xmlns:a="http://schemas.openxmlformats.org/drawingml/2006/main">
            <a:off x="1066800" y="4095750"/>
            <a:ext cx="979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A van is rated for one tonne. One envelope is placed inside. The scale reports less than one tonne. The scale works; the load never tested the van's capacity.</a:t>
            </a:r>
          </a:p>
        </p:txBody>
      </p:sp>
      <p:sp>
        <p:nvSpPr>
          <p:cNvPr id="25" name="Rectangle 24">
            <a:extLst xmlns:a="http://schemas.openxmlformats.org/drawingml/2006/main">
              <a:ext uri="{FF2B5EF4-FFF2-40B4-BE49-F238E27FC236}">
                <a16:creationId xmlns:a16="http://schemas.microsoft.com/office/drawing/2014/main" id="{6737512A-4032-4086-ADE7-9D993647296E}"/>
              </a:ext>
            </a:extLst>
          </p:cNvPr>
          <p:cNvSpPr>
            <a:spLocks xmlns:a="http://schemas.openxmlformats.org/drawingml/2006/main" noGrp="1"/>
          </p:cNvSpPr>
          <p:nvPr/>
        </p:nvSpPr>
        <p:spPr>
          <a:xfrm xmlns:a="http://schemas.openxmlformats.org/drawingml/2006/main">
            <a:off x="914400" y="54483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Proven: live measurement and violation detection</a:t>
            </a:r>
          </a:p>
        </p:txBody>
      </p:sp>
      <p:sp>
        <p:nvSpPr>
          <p:cNvPr id="26" name="Rectangle 25">
            <a:extLst xmlns:a="http://schemas.openxmlformats.org/drawingml/2006/main">
              <a:ext uri="{FF2B5EF4-FFF2-40B4-BE49-F238E27FC236}">
                <a16:creationId xmlns:a16="http://schemas.microsoft.com/office/drawing/2014/main" id="{34ADADE6-4861-46F6-96D3-E921EEFD0195}"/>
              </a:ext>
            </a:extLst>
          </p:cNvPr>
          <p:cNvSpPr>
            <a:spLocks xmlns:a="http://schemas.openxmlformats.org/drawingml/2006/main" noGrp="1"/>
          </p:cNvSpPr>
          <p:nvPr/>
        </p:nvSpPr>
        <p:spPr>
          <a:xfrm xmlns:a="http://schemas.openxmlformats.org/drawingml/2006/main">
            <a:off x="6343650" y="54483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Not proven: sustained 20 Mbps application throughput</a:t>
            </a:r>
          </a:p>
        </p:txBody>
      </p:sp>
    </p:spTree>
    <p:extLst>
      <p:ext uri="{BB962C8B-B14F-4D97-AF65-F5344CB8AC3E}">
        <p14:creationId xmlns:p14="http://schemas.microsoft.com/office/powerpoint/2010/main" val="8041804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8667D0DD-2E43-4648-AE28-61943DAD4978}"/>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VERIFICATION</a:t>
            </a:r>
          </a:p>
        </p:txBody>
      </p:sp>
      <p:sp>
        <p:nvSpPr>
          <p:cNvPr id="2" name="Rectangle 1">
            <a:extLst xmlns:a="http://schemas.openxmlformats.org/drawingml/2006/main">
              <a:ext uri="{FF2B5EF4-FFF2-40B4-BE49-F238E27FC236}">
                <a16:creationId xmlns:a16="http://schemas.microsoft.com/office/drawing/2014/main" id="{EDC1FFFB-9DE0-463B-957C-2977607C9614}"/>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Automated test coverage</a:t>
            </a:r>
          </a:p>
        </p:txBody>
      </p:sp>
      <p:sp>
        <p:nvSpPr>
          <p:cNvPr id="3" name="Rectangle 2">
            <a:extLst xmlns:a="http://schemas.openxmlformats.org/drawingml/2006/main">
              <a:ext uri="{FF2B5EF4-FFF2-40B4-BE49-F238E27FC236}">
                <a16:creationId xmlns:a16="http://schemas.microsoft.com/office/drawing/2014/main" id="{2DAF9078-05C8-4A3E-ABFC-94E2D95BADF9}"/>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Software tests provide broad behavioral coverage; one complete scenario provides live-network evidence</a:t>
            </a:r>
          </a:p>
        </p:txBody>
      </p:sp>
      <p:sp>
        <p:nvSpPr>
          <p:cNvPr id="4" name="Rectangle 3">
            <a:extLst xmlns:a="http://schemas.openxmlformats.org/drawingml/2006/main">
              <a:ext uri="{FF2B5EF4-FFF2-40B4-BE49-F238E27FC236}">
                <a16:creationId xmlns:a16="http://schemas.microsoft.com/office/drawing/2014/main" id="{B11B746B-6FC1-4F49-800D-3FD948886B07}"/>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137F8563-909C-447A-9341-91DF4DD4C67E}"/>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7B2B1DE5-5DB1-4913-82BA-85685792E875}"/>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5590EEFA-4313-488C-B2E6-3B44FD9484FD}"/>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17</a:t>
            </a:r>
          </a:p>
        </p:txBody>
      </p:sp>
      <p:sp>
        <p:nvSpPr>
          <p:cNvPr id="8" name="Rectangle: Rounded Corners 7">
            <a:extLst xmlns:a="http://schemas.openxmlformats.org/drawingml/2006/main">
              <a:ext uri="{FF2B5EF4-FFF2-40B4-BE49-F238E27FC236}">
                <a16:creationId xmlns:a16="http://schemas.microsoft.com/office/drawing/2014/main" id="{41EC2087-F22C-4DFA-88DF-EA55AA226198}"/>
              </a:ext>
            </a:extLst>
          </p:cNvPr>
          <p:cNvSpPr>
            <a:spLocks xmlns:a="http://schemas.openxmlformats.org/drawingml/2006/main" noGrp="1"/>
          </p:cNvSpPr>
          <p:nvPr/>
        </p:nvSpPr>
        <p:spPr>
          <a:xfrm xmlns:a="http://schemas.openxmlformats.org/drawingml/2006/main">
            <a:off x="542925" y="1609725"/>
            <a:ext cx="6781800" cy="2571750"/>
          </a:xfrm>
          <a:prstGeom xmlns:a="http://schemas.openxmlformats.org/drawingml/2006/main" prst="roundRect">
            <a:avLst>
              <a:gd name="adj" fmla="val 4444"/>
            </a:avLst>
          </a:prstGeom>
          <a:solidFill xmlns:a="http://schemas.openxmlformats.org/drawingml/2006/main">
            <a:srgbClr val="E8EFF4"/>
          </a:solidFill>
          <a:ln xmlns:a="http://schemas.openxmlformats.org/drawingml/2006/main" w="9525">
            <a:solidFill>
              <a:srgbClr val="CDD7DF"/>
            </a:solidFill>
            <a:prstDash val="solid"/>
          </a:ln>
        </p:spPr>
        <p:txBody>
          <a:bodyPr xmlns:a="http://schemas.openxmlformats.org/drawingml/2006/main"/>
          <a:lstStyle xmlns:a="http://schemas.openxmlformats.org/drawingml/2006/main"/>
          <a:p xmlns:a="http://schemas.openxmlformats.org/drawingml/2006/main">
            <a:endParaRPr/>
          </a:p>
        </p:txBody>
      </p:sp>
      <p:pic>
        <p:nvPicPr>
          <p:cNvPr id="34" name="Picture 25"/>
          <p:cNvPicPr>
            <a:picLocks xmlns:a="http://schemas.openxmlformats.org/drawingml/2006/main" noChangeAspect="1"/>
          </p:cNvPicPr>
          <p:nvPr/>
        </p:nvPicPr>
        <p:blipFill>
          <a:blip xmlns:r="http://schemas.openxmlformats.org/officeDocument/2006/relationships" xmlns:a="http://schemas.openxmlformats.org/drawingml/2006/main" r:embed="R340cf85ecb4147f8"/>
          <a:stretch xmlns:a="http://schemas.openxmlformats.org/drawingml/2006/main"/>
        </p:blipFill>
        <p:spPr>
          <a:xfrm xmlns:a="http://schemas.openxmlformats.org/drawingml/2006/main">
            <a:off x="613562" y="1657350"/>
            <a:ext cx="6640527" cy="2476500"/>
          </a:xfrm>
          <a:prstGeom xmlns:a="http://schemas.openxmlformats.org/drawingml/2006/main" prst="roundRect">
            <a:avLst>
              <a:gd name="adj" fmla="val 3077"/>
            </a:avLst>
          </a:prstGeom>
        </p:spPr>
      </p:pic>
      <p:graphicFrame>
        <p:nvGraphicFramePr>
          <p:cNvPr id="35" name="Table 26"/>
          <p:cNvGraphicFramePr/>
          <p:nvPr/>
        </p:nvGraphicFramePr>
        <p:xfrm>
          <a:off xmlns:a="http://schemas.openxmlformats.org/drawingml/2006/main" x="7639050" y="1695450"/>
          <a:ext xmlns:a="http://schemas.openxmlformats.org/drawingml/2006/main" cx="3619500" cy="2926080"/>
        </p:xfrm>
        <a:graphic xmlns:a="http://schemas.openxmlformats.org/drawingml/2006/main">
          <a:graphicData uri="http://schemas.openxmlformats.org/drawingml/2006/table">
            <a:tbl>
              <a:tblPr/>
              <a:tblGrid>
                <a:gridCol w="2552700"/>
                <a:gridCol w="1066800"/>
              </a:tblGrid>
              <a:tr h="335756">
                <a:tc>
                  <a:txBody>
                    <a:bodyPr/>
                    <a:lstStyle/>
                    <a:p>
                      <a:r>
                        <a:rPr b="1">
                          <a:solidFill>
                            <a:srgbClr val="FFFFFF"/>
                          </a:solidFill>
                          <a:latin typeface="Calibri"/>
                          <a:ea typeface="Calibri"/>
                          <a:cs typeface="Calibri"/>
                        </a:rPr>
                        <a:t>Test area</a:t>
                      </a:r>
                    </a:p>
                  </a:txBody>
                  <a:tcPr marL="91440" marR="91440" marT="45720" marB="45720">
                    <a:solidFill>
                      <a:srgbClr val="21295C"/>
                    </a:solidFill>
                  </a:tcPr>
                </a:tc>
                <a:tc>
                  <a:txBody>
                    <a:bodyPr/>
                    <a:lstStyle/>
                    <a:p>
                      <a:r>
                        <a:rPr b="1">
                          <a:solidFill>
                            <a:srgbClr val="FFFFFF"/>
                          </a:solidFill>
                          <a:latin typeface="Calibri"/>
                          <a:ea typeface="Calibri"/>
                          <a:cs typeface="Calibri"/>
                        </a:rPr>
                        <a:t>Cases</a:t>
                      </a:r>
                    </a:p>
                  </a:txBody>
                  <a:tcPr marL="91440" marR="91440" marT="45720" marB="45720">
                    <a:solidFill>
                      <a:srgbClr val="21295C"/>
                    </a:solidFill>
                  </a:tcPr>
                </a:tc>
              </a:tr>
              <a:tr h="335756">
                <a:tc>
                  <a:txBody>
                    <a:bodyPr/>
                    <a:lstStyle/>
                    <a:p>
                      <a:r>
                        <a:rPr b="1">
                          <a:solidFill>
                            <a:srgbClr val="172333"/>
                          </a:solidFill>
                          <a:latin typeface="Calibri"/>
                          <a:ea typeface="Calibri"/>
                          <a:cs typeface="Calibri"/>
                        </a:rPr>
                        <a:t>Intent validation</a:t>
                      </a:r>
                    </a:p>
                  </a:txBody>
                  <a:tcPr marL="91440" marR="91440" marT="45720" marB="45720">
                    <a:solidFill>
                      <a:srgbClr val="FFFFFF"/>
                    </a:solidFill>
                  </a:tcPr>
                </a:tc>
                <a:tc>
                  <a:txBody>
                    <a:bodyPr/>
                    <a:lstStyle/>
                    <a:p>
                      <a:r>
                        <a:rPr b="0">
                          <a:solidFill>
                            <a:srgbClr val="172333"/>
                          </a:solidFill>
                          <a:latin typeface="Calibri"/>
                          <a:ea typeface="Calibri"/>
                          <a:cs typeface="Calibri"/>
                        </a:rPr>
                        <a:t>50</a:t>
                      </a:r>
                    </a:p>
                  </a:txBody>
                  <a:tcPr marL="91440" marR="91440" marT="45720" marB="45720">
                    <a:solidFill>
                      <a:srgbClr val="FFFFFF"/>
                    </a:solidFill>
                  </a:tcPr>
                </a:tc>
              </a:tr>
              <a:tr h="335756">
                <a:tc>
                  <a:txBody>
                    <a:bodyPr/>
                    <a:lstStyle/>
                    <a:p>
                      <a:r>
                        <a:rPr b="1">
                          <a:solidFill>
                            <a:srgbClr val="172333"/>
                          </a:solidFill>
                          <a:latin typeface="Calibri"/>
                          <a:ea typeface="Calibri"/>
                          <a:cs typeface="Calibri"/>
                        </a:rPr>
                        <a:t>Telemetry</a:t>
                      </a:r>
                    </a:p>
                  </a:txBody>
                  <a:tcPr marL="91440" marR="91440" marT="45720" marB="45720">
                    <a:solidFill>
                      <a:srgbClr val="F4F7F9"/>
                    </a:solidFill>
                  </a:tcPr>
                </a:tc>
                <a:tc>
                  <a:txBody>
                    <a:bodyPr/>
                    <a:lstStyle/>
                    <a:p>
                      <a:r>
                        <a:rPr b="0">
                          <a:solidFill>
                            <a:srgbClr val="172333"/>
                          </a:solidFill>
                          <a:latin typeface="Calibri"/>
                          <a:ea typeface="Calibri"/>
                          <a:cs typeface="Calibri"/>
                        </a:rPr>
                        <a:t>48</a:t>
                      </a:r>
                    </a:p>
                  </a:txBody>
                  <a:tcPr marL="91440" marR="91440" marT="45720" marB="45720">
                    <a:solidFill>
                      <a:srgbClr val="F4F7F9"/>
                    </a:solidFill>
                  </a:tcPr>
                </a:tc>
              </a:tr>
              <a:tr h="335756">
                <a:tc>
                  <a:txBody>
                    <a:bodyPr/>
                    <a:lstStyle/>
                    <a:p>
                      <a:r>
                        <a:rPr b="1">
                          <a:solidFill>
                            <a:srgbClr val="172333"/>
                          </a:solidFill>
                          <a:latin typeface="Calibri"/>
                          <a:ea typeface="Calibri"/>
                          <a:cs typeface="Calibri"/>
                        </a:rPr>
                        <a:t>Enforcement</a:t>
                      </a:r>
                    </a:p>
                  </a:txBody>
                  <a:tcPr marL="91440" marR="91440" marT="45720" marB="45720">
                    <a:solidFill>
                      <a:srgbClr val="FFFFFF"/>
                    </a:solidFill>
                  </a:tcPr>
                </a:tc>
                <a:tc>
                  <a:txBody>
                    <a:bodyPr/>
                    <a:lstStyle/>
                    <a:p>
                      <a:r>
                        <a:rPr b="0">
                          <a:solidFill>
                            <a:srgbClr val="172333"/>
                          </a:solidFill>
                          <a:latin typeface="Calibri"/>
                          <a:ea typeface="Calibri"/>
                          <a:cs typeface="Calibri"/>
                        </a:rPr>
                        <a:t>42</a:t>
                      </a:r>
                    </a:p>
                  </a:txBody>
                  <a:tcPr marL="91440" marR="91440" marT="45720" marB="45720">
                    <a:solidFill>
                      <a:srgbClr val="FFFFFF"/>
                    </a:solidFill>
                  </a:tcPr>
                </a:tc>
              </a:tr>
              <a:tr h="335756">
                <a:tc>
                  <a:txBody>
                    <a:bodyPr/>
                    <a:lstStyle/>
                    <a:p>
                      <a:r>
                        <a:rPr b="1">
                          <a:solidFill>
                            <a:srgbClr val="172333"/>
                          </a:solidFill>
                          <a:latin typeface="Calibri"/>
                          <a:ea typeface="Calibri"/>
                          <a:cs typeface="Calibri"/>
                        </a:rPr>
                        <a:t>Common interfaces</a:t>
                      </a:r>
                    </a:p>
                  </a:txBody>
                  <a:tcPr marL="91440" marR="91440" marT="45720" marB="45720">
                    <a:solidFill>
                      <a:srgbClr val="F4F7F9"/>
                    </a:solidFill>
                  </a:tcPr>
                </a:tc>
                <a:tc>
                  <a:txBody>
                    <a:bodyPr/>
                    <a:lstStyle/>
                    <a:p>
                      <a:r>
                        <a:rPr b="0">
                          <a:solidFill>
                            <a:srgbClr val="172333"/>
                          </a:solidFill>
                          <a:latin typeface="Calibri"/>
                          <a:ea typeface="Calibri"/>
                          <a:cs typeface="Calibri"/>
                        </a:rPr>
                        <a:t>32</a:t>
                      </a:r>
                    </a:p>
                  </a:txBody>
                  <a:tcPr marL="91440" marR="91440" marT="45720" marB="45720">
                    <a:solidFill>
                      <a:srgbClr val="F4F7F9"/>
                    </a:solidFill>
                  </a:tcPr>
                </a:tc>
              </a:tr>
              <a:tr h="335756">
                <a:tc>
                  <a:txBody>
                    <a:bodyPr/>
                    <a:lstStyle/>
                    <a:p>
                      <a:r>
                        <a:rPr b="1">
                          <a:solidFill>
                            <a:srgbClr val="172333"/>
                          </a:solidFill>
                          <a:latin typeface="Calibri"/>
                          <a:ea typeface="Calibri"/>
                          <a:cs typeface="Calibri"/>
                        </a:rPr>
                        <a:t>Pathing and API</a:t>
                      </a:r>
                    </a:p>
                  </a:txBody>
                  <a:tcPr marL="91440" marR="91440" marT="45720" marB="45720">
                    <a:solidFill>
                      <a:srgbClr val="FFFFFF"/>
                    </a:solidFill>
                  </a:tcPr>
                </a:tc>
                <a:tc>
                  <a:txBody>
                    <a:bodyPr/>
                    <a:lstStyle/>
                    <a:p>
                      <a:r>
                        <a:rPr b="0">
                          <a:solidFill>
                            <a:srgbClr val="172333"/>
                          </a:solidFill>
                          <a:latin typeface="Calibri"/>
                          <a:ea typeface="Calibri"/>
                          <a:cs typeface="Calibri"/>
                        </a:rPr>
                        <a:t>32</a:t>
                      </a:r>
                    </a:p>
                  </a:txBody>
                  <a:tcPr marL="91440" marR="91440" marT="45720" marB="45720">
                    <a:solidFill>
                      <a:srgbClr val="FFFFFF"/>
                    </a:solidFill>
                  </a:tcPr>
                </a:tc>
              </a:tr>
              <a:tr h="335756">
                <a:tc>
                  <a:txBody>
                    <a:bodyPr/>
                    <a:lstStyle/>
                    <a:p>
                      <a:r>
                        <a:rPr b="1">
                          <a:solidFill>
                            <a:srgbClr val="172333"/>
                          </a:solidFill>
                          <a:latin typeface="Calibri"/>
                          <a:ea typeface="Calibri"/>
                          <a:cs typeface="Calibri"/>
                        </a:rPr>
                        <a:t>Control loop</a:t>
                      </a:r>
                    </a:p>
                  </a:txBody>
                  <a:tcPr marL="91440" marR="91440" marT="45720" marB="45720">
                    <a:solidFill>
                      <a:srgbClr val="F4F7F9"/>
                    </a:solidFill>
                  </a:tcPr>
                </a:tc>
                <a:tc>
                  <a:txBody>
                    <a:bodyPr/>
                    <a:lstStyle/>
                    <a:p>
                      <a:r>
                        <a:rPr b="0">
                          <a:solidFill>
                            <a:srgbClr val="172333"/>
                          </a:solidFill>
                          <a:latin typeface="Calibri"/>
                          <a:ea typeface="Calibri"/>
                          <a:cs typeface="Calibri"/>
                        </a:rPr>
                        <a:t>25</a:t>
                      </a:r>
                    </a:p>
                  </a:txBody>
                  <a:tcPr marL="91440" marR="91440" marT="45720" marB="45720">
                    <a:solidFill>
                      <a:srgbClr val="F4F7F9"/>
                    </a:solidFill>
                  </a:tcPr>
                </a:tc>
              </a:tr>
              <a:tr h="335756">
                <a:tc>
                  <a:txBody>
                    <a:bodyPr/>
                    <a:lstStyle/>
                    <a:p>
                      <a:r>
                        <a:rPr b="1">
                          <a:solidFill>
                            <a:srgbClr val="172333"/>
                          </a:solidFill>
                          <a:latin typeface="Calibri"/>
                          <a:ea typeface="Calibri"/>
                          <a:cs typeface="Calibri"/>
                        </a:rPr>
                        <a:t>Topology</a:t>
                      </a:r>
                    </a:p>
                  </a:txBody>
                  <a:tcPr marL="91440" marR="91440" marT="45720" marB="45720">
                    <a:solidFill>
                      <a:srgbClr val="FFFFFF"/>
                    </a:solidFill>
                  </a:tcPr>
                </a:tc>
                <a:tc>
                  <a:txBody>
                    <a:bodyPr/>
                    <a:lstStyle/>
                    <a:p>
                      <a:r>
                        <a:rPr b="0">
                          <a:solidFill>
                            <a:srgbClr val="172333"/>
                          </a:solidFill>
                          <a:latin typeface="Calibri"/>
                          <a:ea typeface="Calibri"/>
                          <a:cs typeface="Calibri"/>
                        </a:rPr>
                        <a:t>19</a:t>
                      </a:r>
                    </a:p>
                  </a:txBody>
                  <a:tcPr marL="91440" marR="91440" marT="45720" marB="45720">
                    <a:solidFill>
                      <a:srgbClr val="FFFFFF"/>
                    </a:solidFill>
                  </a:tcPr>
                </a:tc>
              </a:tr>
            </a:tbl>
          </a:graphicData>
        </a:graphic>
      </p:graphicFrame>
      <p:sp>
        <p:nvSpPr>
          <p:cNvPr id="11" name="Rectangle: Rounded Corners 10">
            <a:extLst xmlns:a="http://schemas.openxmlformats.org/drawingml/2006/main">
              <a:ext uri="{FF2B5EF4-FFF2-40B4-BE49-F238E27FC236}">
                <a16:creationId xmlns:a16="http://schemas.microsoft.com/office/drawing/2014/main" id="{D2B916E4-840C-4191-A388-C88FEFD9B4CA}"/>
              </a:ext>
            </a:extLst>
          </p:cNvPr>
          <p:cNvSpPr>
            <a:spLocks xmlns:a="http://schemas.openxmlformats.org/drawingml/2006/main" noGrp="1"/>
          </p:cNvSpPr>
          <p:nvPr/>
        </p:nvSpPr>
        <p:spPr>
          <a:xfrm xmlns:a="http://schemas.openxmlformats.org/drawingml/2006/main">
            <a:off x="590550" y="4552950"/>
            <a:ext cx="5124450" cy="1104900"/>
          </a:xfrm>
          <a:prstGeom xmlns:a="http://schemas.openxmlformats.org/drawingml/2006/main" prst="roundRect">
            <a:avLst>
              <a:gd name="adj" fmla="val 10345"/>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5430AE51-C7DA-4968-BC57-44EF29BA4842}"/>
              </a:ext>
            </a:extLst>
          </p:cNvPr>
          <p:cNvSpPr>
            <a:spLocks xmlns:a="http://schemas.openxmlformats.org/drawingml/2006/main" noGrp="1"/>
          </p:cNvSpPr>
          <p:nvPr/>
        </p:nvSpPr>
        <p:spPr>
          <a:xfrm xmlns:a="http://schemas.openxmlformats.org/drawingml/2006/main">
            <a:off x="800100" y="47053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TESTS ESTABLISH</a:t>
            </a:r>
          </a:p>
        </p:txBody>
      </p:sp>
      <p:sp>
        <p:nvSpPr>
          <p:cNvPr id="13" name="Rectangle 12">
            <a:extLst xmlns:a="http://schemas.openxmlformats.org/drawingml/2006/main">
              <a:ext uri="{FF2B5EF4-FFF2-40B4-BE49-F238E27FC236}">
                <a16:creationId xmlns:a16="http://schemas.microsoft.com/office/drawing/2014/main" id="{4C8F0D5C-86C2-4729-8201-7A9073802D64}"/>
              </a:ext>
            </a:extLst>
          </p:cNvPr>
          <p:cNvSpPr>
            <a:spLocks xmlns:a="http://schemas.openxmlformats.org/drawingml/2006/main" noGrp="1"/>
          </p:cNvSpPr>
          <p:nvPr/>
        </p:nvSpPr>
        <p:spPr>
          <a:xfrm xmlns:a="http://schemas.openxmlformats.org/drawingml/2006/main">
            <a:off x="800100" y="5010150"/>
            <a:ext cx="4686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Deterministic logic, boundary handling, persistence behavior and safe rule generation</a:t>
            </a:r>
          </a:p>
        </p:txBody>
      </p:sp>
      <p:sp>
        <p:nvSpPr>
          <p:cNvPr id="14" name="Rectangle: Rounded Corners 13">
            <a:extLst xmlns:a="http://schemas.openxmlformats.org/drawingml/2006/main">
              <a:ext uri="{FF2B5EF4-FFF2-40B4-BE49-F238E27FC236}">
                <a16:creationId xmlns:a16="http://schemas.microsoft.com/office/drawing/2014/main" id="{E35505E8-9D45-42AE-969F-438C33A65D41}"/>
              </a:ext>
            </a:extLst>
          </p:cNvPr>
          <p:cNvSpPr>
            <a:spLocks xmlns:a="http://schemas.openxmlformats.org/drawingml/2006/main" noGrp="1"/>
          </p:cNvSpPr>
          <p:nvPr/>
        </p:nvSpPr>
        <p:spPr>
          <a:xfrm xmlns:a="http://schemas.openxmlformats.org/drawingml/2006/main">
            <a:off x="6019800" y="4552950"/>
            <a:ext cx="5238750" cy="1104900"/>
          </a:xfrm>
          <a:prstGeom xmlns:a="http://schemas.openxmlformats.org/drawingml/2006/main" prst="roundRect">
            <a:avLst>
              <a:gd name="adj" fmla="val 10345"/>
            </a:avLst>
          </a:prstGeom>
          <a:solidFill xmlns:a="http://schemas.openxmlformats.org/drawingml/2006/main">
            <a:srgbClr val="FBEDE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D383EF48-F3F3-47DE-8091-D97000236A21}"/>
              </a:ext>
            </a:extLst>
          </p:cNvPr>
          <p:cNvSpPr>
            <a:spLocks xmlns:a="http://schemas.openxmlformats.org/drawingml/2006/main" noGrp="1"/>
          </p:cNvSpPr>
          <p:nvPr/>
        </p:nvSpPr>
        <p:spPr>
          <a:xfrm xmlns:a="http://schemas.openxmlformats.org/drawingml/2006/main">
            <a:off x="6229350" y="47053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TESTS DO NOT ESTABLISH</a:t>
            </a:r>
          </a:p>
        </p:txBody>
      </p:sp>
      <p:sp>
        <p:nvSpPr>
          <p:cNvPr id="16" name="Rectangle 15">
            <a:extLst xmlns:a="http://schemas.openxmlformats.org/drawingml/2006/main">
              <a:ext uri="{FF2B5EF4-FFF2-40B4-BE49-F238E27FC236}">
                <a16:creationId xmlns:a16="http://schemas.microsoft.com/office/drawing/2014/main" id="{7AD8E256-BF4B-40F8-9191-CA858C7ABFCF}"/>
              </a:ext>
            </a:extLst>
          </p:cNvPr>
          <p:cNvSpPr>
            <a:spLocks xmlns:a="http://schemas.openxmlformats.org/drawingml/2006/main" noGrp="1"/>
          </p:cNvSpPr>
          <p:nvPr/>
        </p:nvSpPr>
        <p:spPr>
          <a:xfrm xmlns:a="http://schemas.openxmlformats.org/drawingml/2006/main">
            <a:off x="6229350" y="5010150"/>
            <a:ext cx="4819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Physical hardware behavior, sustained 20 Mbps delivery or eight completed live scenarios</a:t>
            </a:r>
          </a:p>
        </p:txBody>
      </p:sp>
      <p:sp>
        <p:nvSpPr>
          <p:cNvPr id="17" name="Rectangle 16">
            <a:extLst xmlns:a="http://schemas.openxmlformats.org/drawingml/2006/main">
              <a:ext uri="{FF2B5EF4-FFF2-40B4-BE49-F238E27FC236}">
                <a16:creationId xmlns:a16="http://schemas.microsoft.com/office/drawing/2014/main" id="{39550172-6C43-485C-93A5-9376729D6B2A}"/>
              </a:ext>
            </a:extLst>
          </p:cNvPr>
          <p:cNvSpPr>
            <a:spLocks xmlns:a="http://schemas.openxmlformats.org/drawingml/2006/main" noGrp="1"/>
          </p:cNvSpPr>
          <p:nvPr/>
        </p:nvSpPr>
        <p:spPr>
          <a:xfrm xmlns:a="http://schemas.openxmlformats.org/drawingml/2006/main">
            <a:off x="1143000" y="58864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248 automated tests; 1 complete live scenario. The numbers describe different evidence.</a:t>
            </a:r>
          </a:p>
        </p:txBody>
      </p:sp>
      <p:sp>
        <p:nvSpPr>
          <p:cNvPr id="21" name="Verified evidence 17">
            <a:extLst xmlns:a="http://schemas.openxmlformats.org/drawingml/2006/main">
              <a:ext uri="{FF2B5EF4-FFF2-40B4-BE49-F238E27FC236}">
                <a16:creationId xmlns:a16="http://schemas.microsoft.com/office/drawing/2014/main" id="{071EABB8-2F2B-406E-82B3-1B3339E5521C}"/>
              </a:ext>
            </a:extLst>
          </p:cNvPr>
          <p:cNvSpPr>
            <a:spLocks xmlns:a="http://schemas.openxmlformats.org/drawingml/2006/main" noGrp="1"/>
          </p:cNvSpPr>
          <p:nvPr/>
        </p:nvSpPr>
        <p:spPr>
          <a:xfrm xmlns:a="http://schemas.openxmlformats.org/drawingml/2006/main">
            <a:off x="613601" y="1657350"/>
            <a:ext cx="6640544" cy="2476500"/>
          </a:xfrm>
          <a:prstGeom xmlns:a="http://schemas.openxmlformats.org/drawingml/2006/main" prst="roundRect">
            <a:avLst>
              <a:gd name="adj" fmla="val 4615"/>
            </a:avLst>
          </a:prstGeom>
          <a:solidFill xmlns:a="http://schemas.openxmlformats.org/drawingml/2006/main">
            <a:srgbClr val="F7FAFC"/>
          </a:solidFill>
          <a:ln xmlns:a="http://schemas.openxmlformats.org/drawingml/2006/main" w="11430">
            <a:solidFill>
              <a:srgbClr val="8BA8BB"/>
            </a:solidFill>
            <a:prstDash val="solid"/>
          </a:ln>
        </p:spPr>
      </p:sp>
      <p:sp>
        <p:nvSpPr>
          <p:cNvPr id="22" name="Verified evidence header 17">
            <a:extLst xmlns:a="http://schemas.openxmlformats.org/drawingml/2006/main">
              <a:ext uri="{FF2B5EF4-FFF2-40B4-BE49-F238E27FC236}">
                <a16:creationId xmlns:a16="http://schemas.microsoft.com/office/drawing/2014/main" id="{D91AD023-3497-4A32-8BC5-E2E4BCBC5002}"/>
              </a:ext>
            </a:extLst>
          </p:cNvPr>
          <p:cNvSpPr>
            <a:spLocks xmlns:a="http://schemas.openxmlformats.org/drawingml/2006/main" noGrp="1"/>
          </p:cNvSpPr>
          <p:nvPr/>
        </p:nvSpPr>
        <p:spPr>
          <a:xfrm xmlns:a="http://schemas.openxmlformats.org/drawingml/2006/main">
            <a:off x="613601" y="1657350"/>
            <a:ext cx="6640544" cy="457200"/>
          </a:xfrm>
          <a:prstGeom xmlns:a="http://schemas.openxmlformats.org/drawingml/2006/main" prst="roundRect">
            <a:avLst>
              <a:gd name="adj" fmla="val 25000"/>
            </a:avLst>
          </a:prstGeom>
          <a:solidFill xmlns:a="http://schemas.openxmlformats.org/drawingml/2006/main">
            <a:srgbClr val="E6EFF4"/>
          </a:solidFill>
          <a:ln xmlns:a="http://schemas.openxmlformats.org/drawingml/2006/main" w="0">
            <a:noFill/>
          </a:ln>
        </p:spPr>
      </p:sp>
      <p:sp>
        <p:nvSpPr>
          <p:cNvPr id="23" name="Verified evidence title 17">
            <a:extLst xmlns:a="http://schemas.openxmlformats.org/drawingml/2006/main">
              <a:ext uri="{FF2B5EF4-FFF2-40B4-BE49-F238E27FC236}">
                <a16:creationId xmlns:a16="http://schemas.microsoft.com/office/drawing/2014/main" id="{2D8D80C9-AA1B-4DC1-8F6C-433AE1180A0E}"/>
              </a:ext>
            </a:extLst>
          </p:cNvPr>
          <p:cNvSpPr>
            <a:spLocks xmlns:a="http://schemas.openxmlformats.org/drawingml/2006/main" noGrp="1"/>
          </p:cNvSpPr>
          <p:nvPr/>
        </p:nvSpPr>
        <p:spPr>
          <a:xfrm xmlns:a="http://schemas.openxmlformats.org/drawingml/2006/main">
            <a:off x="785051" y="1733550"/>
            <a:ext cx="6297644"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defRPr sz="975" b="1">
                <a:solidFill>
                  <a:srgbClr val="075985"/>
                </a:solidFill>
                <a:latin typeface="Aptos"/>
                <a:ea typeface="Aptos"/>
                <a:cs typeface="Aptos"/>
              </a:defRPr>
            </a:pPr>
            <a:r>
              <a:rPr sz="975" b="1">
                <a:solidFill>
                  <a:srgbClr val="075985"/>
                </a:solidFill>
                <a:latin typeface="Aptos"/>
                <a:ea typeface="Aptos"/>
                <a:cs typeface="Aptos"/>
              </a:rPr>
              <a:t>VERBATIM CURRENT HOST VERIFICATION</a:t>
            </a:r>
          </a:p>
        </p:txBody>
      </p:sp>
      <p:sp>
        <p:nvSpPr>
          <p:cNvPr id="24" name="Verified evidence source 17">
            <a:extLst xmlns:a="http://schemas.openxmlformats.org/drawingml/2006/main">
              <a:ext uri="{FF2B5EF4-FFF2-40B4-BE49-F238E27FC236}">
                <a16:creationId xmlns:a16="http://schemas.microsoft.com/office/drawing/2014/main" id="{4D90DD98-E2F2-40D9-A2B4-8B2FBA34570C}"/>
              </a:ext>
            </a:extLst>
          </p:cNvPr>
          <p:cNvSpPr>
            <a:spLocks xmlns:a="http://schemas.openxmlformats.org/drawingml/2006/main" noGrp="1"/>
          </p:cNvSpPr>
          <p:nvPr/>
        </p:nvSpPr>
        <p:spPr>
          <a:xfrm xmlns:a="http://schemas.openxmlformats.org/drawingml/2006/main">
            <a:off x="785051" y="1905000"/>
            <a:ext cx="6297644"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101"/>
          </a:bodyPr>
          <a:lstStyle xmlns:a="http://schemas.openxmlformats.org/drawingml/2006/main"/>
          <a:p xmlns:a="http://schemas.openxmlformats.org/drawingml/2006/main">
            <a:pPr>
              <a:defRPr sz="713">
                <a:solidFill>
                  <a:srgbClr val="526579"/>
                </a:solidFill>
                <a:latin typeface="Aptos"/>
                <a:ea typeface="Aptos"/>
                <a:cs typeface="Aptos"/>
              </a:defRPr>
            </a:pPr>
            <a:r>
              <a:rPr sz="713">
                <a:solidFill>
                  <a:srgbClr val="526579"/>
                </a:solidFill>
                <a:latin typeface="Aptos"/>
                <a:ea typeface="Aptos"/>
                <a:cs typeface="Aptos"/>
              </a:rPr>
              <a:t>Windows Command Prompt audit run - 28 Sep 2026</a:t>
            </a:r>
          </a:p>
        </p:txBody>
      </p:sp>
      <p:sp>
        <p:nvSpPr>
          <p:cNvPr id="25" name="Verbatim output 17">
            <a:extLst xmlns:a="http://schemas.openxmlformats.org/drawingml/2006/main">
              <a:ext uri="{FF2B5EF4-FFF2-40B4-BE49-F238E27FC236}">
                <a16:creationId xmlns:a16="http://schemas.microsoft.com/office/drawing/2014/main" id="{734E0A17-0117-4D47-82FF-AD50EDE0AE2B}"/>
              </a:ext>
            </a:extLst>
          </p:cNvPr>
          <p:cNvSpPr>
            <a:spLocks xmlns:a="http://schemas.openxmlformats.org/drawingml/2006/main" noGrp="1"/>
          </p:cNvSpPr>
          <p:nvPr/>
        </p:nvSpPr>
        <p:spPr>
          <a:xfrm xmlns:a="http://schemas.openxmlformats.org/drawingml/2006/main">
            <a:off x="785051" y="2209800"/>
            <a:ext cx="6297644"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&gt; python -m pytest tests -q</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[ 29%]</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[ 58%]</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[ 87%]</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                                         [100%]</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248 passed, 2 warnings in 4.05s</a:t>
            </a:r>
          </a:p>
          <a:p xmlns:a="http://schemas.openxmlformats.org/drawingml/2006/main">
            <a:r>
              <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&gt; python -m ruff check src tests topology experiments</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&gt; echo RUFF_EXIT_CODE=%ERRORLEVEL%</a:t>
            </a:r>
          </a:p>
          <a:p xmlns:a="http://schemas.openxmlformats.org/drawingml/2006/main">
            <a:pPr>
              <a:defRPr sz="863">
                <a:solidFill>
                  <a:srgbClr val="172033"/>
                </a:solidFill>
                <a:latin typeface="Consolas"/>
                <a:ea typeface="Consolas"/>
                <a:cs typeface="Consolas"/>
              </a:defRPr>
            </a:pPr>
            <a:r>
              <a:rPr sz="863">
                <a:solidFill>
                  <a:srgbClr val="172033"/>
                </a:solidFill>
                <a:latin typeface="Consolas"/>
                <a:ea typeface="Consolas"/>
                <a:cs typeface="Consolas"/>
              </a:rPr>
              <a:t>RUFF_EXIT_CODE=0</a:t>
            </a:r>
          </a:p>
        </p:txBody>
      </p:sp>
    </p:spTree>
    <p:extLst>
      <p:ext uri="{BB962C8B-B14F-4D97-AF65-F5344CB8AC3E}">
        <p14:creationId xmlns:p14="http://schemas.microsoft.com/office/powerpoint/2010/main" val="1546967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26E704F5-33EE-46CF-BDA6-D90DF8F4148E}"/>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STATUS</a:t>
            </a:r>
          </a:p>
        </p:txBody>
      </p:sp>
      <p:sp>
        <p:nvSpPr>
          <p:cNvPr id="2" name="Rectangle 1">
            <a:extLst xmlns:a="http://schemas.openxmlformats.org/drawingml/2006/main">
              <a:ext uri="{FF2B5EF4-FFF2-40B4-BE49-F238E27FC236}">
                <a16:creationId xmlns:a16="http://schemas.microsoft.com/office/drawing/2014/main" id="{BD5E8CDF-54EE-41A6-9BFB-594C65CB071E}"/>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Subtask completion</a:t>
            </a:r>
          </a:p>
        </p:txBody>
      </p:sp>
      <p:sp>
        <p:nvSpPr>
          <p:cNvPr id="3" name="Rectangle 2">
            <a:extLst xmlns:a="http://schemas.openxmlformats.org/drawingml/2006/main">
              <a:ext uri="{FF2B5EF4-FFF2-40B4-BE49-F238E27FC236}">
                <a16:creationId xmlns:a16="http://schemas.microsoft.com/office/drawing/2014/main" id="{9E8422D2-C149-4DFF-ABE8-7C09052C4B5C}"/>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Six subtasks are complete; one has tested groundwork; seven remain unstarted</a:t>
            </a:r>
          </a:p>
        </p:txBody>
      </p:sp>
      <p:sp>
        <p:nvSpPr>
          <p:cNvPr id="4" name="Rectangle 3">
            <a:extLst xmlns:a="http://schemas.openxmlformats.org/drawingml/2006/main">
              <a:ext uri="{FF2B5EF4-FFF2-40B4-BE49-F238E27FC236}">
                <a16:creationId xmlns:a16="http://schemas.microsoft.com/office/drawing/2014/main" id="{FC8157E1-EE8D-42E6-B106-72CE0E29529E}"/>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62FDE851-9438-4D73-A38C-F46CF2BD80ED}"/>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5F9EEF0C-E37D-464A-AAAE-0072D6727047}"/>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CB8B199C-439E-46BE-A9BD-00AE3E215D58}"/>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18</a:t>
            </a:r>
          </a:p>
        </p:txBody>
      </p:sp>
      <p:sp>
        <p:nvSpPr>
          <p:cNvPr id="8" name="Rectangle 7">
            <a:extLst xmlns:a="http://schemas.openxmlformats.org/drawingml/2006/main">
              <a:ext uri="{FF2B5EF4-FFF2-40B4-BE49-F238E27FC236}">
                <a16:creationId xmlns:a16="http://schemas.microsoft.com/office/drawing/2014/main" id="{D0F8460F-2FBE-4A1B-8203-4FD11E6140A5}"/>
              </a:ext>
            </a:extLst>
          </p:cNvPr>
          <p:cNvSpPr>
            <a:spLocks xmlns:a="http://schemas.openxmlformats.org/drawingml/2006/main" noGrp="1"/>
          </p:cNvSpPr>
          <p:nvPr/>
        </p:nvSpPr>
        <p:spPr>
          <a:xfrm xmlns:a="http://schemas.openxmlformats.org/drawingml/2006/main">
            <a:off x="666750" y="1752600"/>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065A82"/>
                </a:solidFill>
                <a:latin typeface="Cambria"/>
                <a:ea typeface="Cambria"/>
                <a:cs typeface="Cambria"/>
              </a:defRPr>
            </a:pPr>
            <a:r>
              <a:rPr b="1">
                <a:solidFill>
                  <a:srgbClr val="065A82"/>
                </a:solidFill>
                <a:latin typeface="Cambria"/>
                <a:ea typeface="Cambria"/>
                <a:cs typeface="Cambria"/>
              </a:rPr>
              <a:t>43%</a:t>
            </a:r>
          </a:p>
        </p:txBody>
      </p:sp>
      <p:sp>
        <p:nvSpPr>
          <p:cNvPr id="9" name="Rectangle 8">
            <a:extLst xmlns:a="http://schemas.openxmlformats.org/drawingml/2006/main">
              <a:ext uri="{FF2B5EF4-FFF2-40B4-BE49-F238E27FC236}">
                <a16:creationId xmlns:a16="http://schemas.microsoft.com/office/drawing/2014/main" id="{B8C5416C-EDC8-4E05-AA85-B526DC83537F}"/>
              </a:ext>
            </a:extLst>
          </p:cNvPr>
          <p:cNvSpPr>
            <a:spLocks xmlns:a="http://schemas.openxmlformats.org/drawingml/2006/main" noGrp="1"/>
          </p:cNvSpPr>
          <p:nvPr/>
        </p:nvSpPr>
        <p:spPr>
          <a:xfrm xmlns:a="http://schemas.openxmlformats.org/drawingml/2006/main">
            <a:off x="666750" y="26479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6 of 14 subtasks</a:t>
            </a:r>
          </a:p>
        </p:txBody>
      </p:sp>
      <p:sp>
        <p:nvSpPr>
          <p:cNvPr id="10" name="Rectangle 9">
            <a:extLst xmlns:a="http://schemas.openxmlformats.org/drawingml/2006/main">
              <a:ext uri="{FF2B5EF4-FFF2-40B4-BE49-F238E27FC236}">
                <a16:creationId xmlns:a16="http://schemas.microsoft.com/office/drawing/2014/main" id="{2F741516-1AB6-4154-A03F-071D3ACDB791}"/>
              </a:ext>
            </a:extLst>
          </p:cNvPr>
          <p:cNvSpPr>
            <a:spLocks xmlns:a="http://schemas.openxmlformats.org/drawingml/2006/main" noGrp="1"/>
          </p:cNvSpPr>
          <p:nvPr/>
        </p:nvSpPr>
        <p:spPr>
          <a:xfrm xmlns:a="http://schemas.openxmlformats.org/drawingml/2006/main">
            <a:off x="666750" y="302895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194"/>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Count of subtasks, not effort or time remaining</a:t>
            </a:r>
          </a:p>
        </p:txBody>
      </p:sp>
      <p:graphicFrame>
        <p:nvGraphicFramePr>
          <p:cNvPr id="28" name="Table 25"/>
          <p:cNvGraphicFramePr/>
          <p:nvPr/>
        </p:nvGraphicFramePr>
        <p:xfrm>
          <a:off xmlns:a="http://schemas.openxmlformats.org/drawingml/2006/main" x="3562350" y="1733550"/>
          <a:ext xmlns:a="http://schemas.openxmlformats.org/drawingml/2006/main" cx="7867650" cy="4010296"/>
        </p:xfrm>
        <a:graphic xmlns:a="http://schemas.openxmlformats.org/drawingml/2006/main">
          <a:graphicData uri="http://schemas.openxmlformats.org/drawingml/2006/table">
            <a:tbl>
              <a:tblPr/>
              <a:tblGrid>
                <a:gridCol w="1333500"/>
                <a:gridCol w="1428750"/>
                <a:gridCol w="5105400"/>
              </a:tblGrid>
              <a:tr h="522514">
                <a:tc>
                  <a:txBody>
                    <a:bodyPr/>
                    <a:lstStyle/>
                    <a:p>
                      <a:r>
                        <a:rPr b="1">
                          <a:solidFill>
                            <a:srgbClr val="FFFFFF"/>
                          </a:solidFill>
                          <a:latin typeface="Calibri"/>
                          <a:ea typeface="Calibri"/>
                          <a:cs typeface="Calibri"/>
                        </a:rPr>
                        <a:t>Step</a:t>
                      </a:r>
                    </a:p>
                  </a:txBody>
                  <a:tcPr marL="91440" marR="91440" marT="45720" marB="45720">
                    <a:solidFill>
                      <a:srgbClr val="21295C"/>
                    </a:solidFill>
                  </a:tcPr>
                </a:tc>
                <a:tc>
                  <a:txBody>
                    <a:bodyPr/>
                    <a:lstStyle/>
                    <a:p>
                      <a:r>
                        <a:rPr b="1">
                          <a:solidFill>
                            <a:srgbClr val="FFFFFF"/>
                          </a:solidFill>
                          <a:latin typeface="Calibri"/>
                          <a:ea typeface="Calibri"/>
                          <a:cs typeface="Calibri"/>
                        </a:rPr>
                        <a:t>State</a:t>
                      </a:r>
                    </a:p>
                  </a:txBody>
                  <a:tcPr marL="91440" marR="91440" marT="45720" marB="45720">
                    <a:solidFill>
                      <a:srgbClr val="21295C"/>
                    </a:solidFill>
                  </a:tcPr>
                </a:tc>
                <a:tc>
                  <a:txBody>
                    <a:bodyPr/>
                    <a:lstStyle/>
                    <a:p>
                      <a:r>
                        <a:rPr b="1">
                          <a:solidFill>
                            <a:srgbClr val="FFFFFF"/>
                          </a:solidFill>
                          <a:latin typeface="Calibri"/>
                          <a:ea typeface="Calibri"/>
                          <a:cs typeface="Calibri"/>
                        </a:rPr>
                        <a:t>Scope</a:t>
                      </a:r>
                    </a:p>
                  </a:txBody>
                  <a:tcPr marL="91440" marR="91440" marT="45720" marB="45720">
                    <a:solidFill>
                      <a:srgbClr val="21295C"/>
                    </a:solidFill>
                  </a:tcPr>
                </a:tc>
              </a:tr>
              <a:tr h="522514">
                <a:tc>
                  <a:txBody>
                    <a:bodyPr/>
                    <a:lstStyle/>
                    <a:p>
                      <a:r>
                        <a:rPr b="1">
                          <a:solidFill>
                            <a:srgbClr val="172333"/>
                          </a:solidFill>
                          <a:latin typeface="Calibri"/>
                          <a:ea typeface="Calibri"/>
                          <a:cs typeface="Calibri"/>
                        </a:rPr>
                        <a:t>ST-1 to ST-6</a:t>
                      </a:r>
                    </a:p>
                  </a:txBody>
                  <a:tcPr marL="91440" marR="91440" marT="45720" marB="45720">
                    <a:solidFill>
                      <a:srgbClr val="FFFFFF"/>
                    </a:solidFill>
                  </a:tcPr>
                </a:tc>
                <a:tc>
                  <a:txBody>
                    <a:bodyPr/>
                    <a:lstStyle/>
                    <a:p>
                      <a:r>
                        <a:rPr b="0">
                          <a:solidFill>
                            <a:srgbClr val="172333"/>
                          </a:solidFill>
                          <a:latin typeface="Calibri"/>
                          <a:ea typeface="Calibri"/>
                          <a:cs typeface="Calibri"/>
                        </a:rPr>
                        <a:t>Complete</a:t>
                      </a:r>
                    </a:p>
                  </a:txBody>
                  <a:tcPr marL="91440" marR="91440" marT="45720" marB="45720">
                    <a:solidFill>
                      <a:srgbClr val="FFFFFF"/>
                    </a:solidFill>
                  </a:tcPr>
                </a:tc>
                <a:tc>
                  <a:txBody>
                    <a:bodyPr/>
                    <a:lstStyle/>
                    <a:p>
                      <a:r>
                        <a:rPr b="0">
                          <a:solidFill>
                            <a:srgbClr val="172333"/>
                          </a:solidFill>
                          <a:latin typeface="Calibri"/>
                          <a:ea typeface="Calibri"/>
                          <a:cs typeface="Calibri"/>
                        </a:rPr>
                        <a:t>Foundation, topology, interfaces, API, pathing, enforcement, telemetry</a:t>
                      </a:r>
                    </a:p>
                  </a:txBody>
                  <a:tcPr marL="91440" marR="91440" marT="45720" marB="45720">
                    <a:solidFill>
                      <a:srgbClr val="FFFFFF"/>
                    </a:solidFill>
                  </a:tcPr>
                </a:tc>
              </a:tr>
              <a:tr h="522514">
                <a:tc>
                  <a:txBody>
                    <a:bodyPr/>
                    <a:lstStyle/>
                    <a:p>
                      <a:r>
                        <a:rPr b="1">
                          <a:solidFill>
                            <a:srgbClr val="172333"/>
                          </a:solidFill>
                          <a:latin typeface="Calibri"/>
                          <a:ea typeface="Calibri"/>
                          <a:cs typeface="Calibri"/>
                        </a:rPr>
                        <a:t>ST-7</a:t>
                      </a:r>
                    </a:p>
                  </a:txBody>
                  <a:tcPr marL="91440" marR="91440" marT="45720" marB="45720">
                    <a:solidFill>
                      <a:srgbClr val="F4F7F9"/>
                    </a:solidFill>
                  </a:tcPr>
                </a:tc>
                <a:tc>
                  <a:txBody>
                    <a:bodyPr/>
                    <a:lstStyle/>
                    <a:p>
                      <a:r>
                        <a:rPr b="0">
                          <a:solidFill>
                            <a:srgbClr val="172333"/>
                          </a:solidFill>
                          <a:latin typeface="Calibri"/>
                          <a:ea typeface="Calibri"/>
                          <a:cs typeface="Calibri"/>
                        </a:rPr>
                        <a:t>Partial</a:t>
                      </a:r>
                    </a:p>
                  </a:txBody>
                  <a:tcPr marL="91440" marR="91440" marT="45720" marB="45720">
                    <a:solidFill>
                      <a:srgbClr val="F4F7F9"/>
                    </a:solidFill>
                  </a:tcPr>
                </a:tc>
                <a:tc>
                  <a:txBody>
                    <a:bodyPr/>
                    <a:lstStyle/>
                    <a:p>
                      <a:r>
                        <a:rPr b="0">
                          <a:solidFill>
                            <a:srgbClr val="172333"/>
                          </a:solidFill>
                          <a:latin typeface="Calibri"/>
                          <a:ea typeface="Calibri"/>
                          <a:cs typeface="Calibri"/>
                        </a:rPr>
                        <a:t>Control loop tested; live integration missing</a:t>
                      </a:r>
                    </a:p>
                  </a:txBody>
                  <a:tcPr marL="91440" marR="91440" marT="45720" marB="45720">
                    <a:solidFill>
                      <a:srgbClr val="F4F7F9"/>
                    </a:solidFill>
                  </a:tcPr>
                </a:tc>
              </a:tr>
              <a:tr h="522514">
                <a:tc>
                  <a:txBody>
                    <a:bodyPr/>
                    <a:lstStyle/>
                    <a:p>
                      <a:r>
                        <a:rPr b="1">
                          <a:solidFill>
                            <a:srgbClr val="172333"/>
                          </a:solidFill>
                          <a:latin typeface="Calibri"/>
                          <a:ea typeface="Calibri"/>
                          <a:cs typeface="Calibri"/>
                        </a:rPr>
                        <a:t>ST-8, ST-9</a:t>
                      </a:r>
                    </a:p>
                  </a:txBody>
                  <a:tcPr marL="91440" marR="91440" marT="45720" marB="45720">
                    <a:solidFill>
                      <a:srgbClr val="FFFFFF"/>
                    </a:solidFill>
                  </a:tcPr>
                </a:tc>
                <a:tc>
                  <a:txBody>
                    <a:bodyPr/>
                    <a:lstStyle/>
                    <a:p>
                      <a:r>
                        <a:rPr b="0">
                          <a:solidFill>
                            <a:srgbClr val="172333"/>
                          </a:solidFill>
                          <a:latin typeface="Calibri"/>
                          <a:ea typeface="Calibri"/>
                          <a:cs typeface="Calibri"/>
                        </a:rPr>
                        <a:t>Not started</a:t>
                      </a:r>
                    </a:p>
                  </a:txBody>
                  <a:tcPr marL="91440" marR="91440" marT="45720" marB="45720">
                    <a:solidFill>
                      <a:srgbClr val="FFFFFF"/>
                    </a:solidFill>
                  </a:tcPr>
                </a:tc>
                <a:tc>
                  <a:txBody>
                    <a:bodyPr/>
                    <a:lstStyle/>
                    <a:p>
                      <a:r>
                        <a:rPr b="0">
                          <a:solidFill>
                            <a:srgbClr val="172333"/>
                          </a:solidFill>
                          <a:latin typeface="Calibri"/>
                          <a:ea typeface="Calibri"/>
                          <a:cs typeface="Calibri"/>
                        </a:rPr>
                        <a:t>Admission and preemption placeholders</a:t>
                      </a:r>
                    </a:p>
                  </a:txBody>
                  <a:tcPr marL="91440" marR="91440" marT="45720" marB="45720">
                    <a:solidFill>
                      <a:srgbClr val="FFFFFF"/>
                    </a:solidFill>
                  </a:tcPr>
                </a:tc>
              </a:tr>
              <a:tr h="522514">
                <a:tc>
                  <a:txBody>
                    <a:bodyPr/>
                    <a:lstStyle/>
                    <a:p>
                      <a:r>
                        <a:rPr b="1">
                          <a:solidFill>
                            <a:srgbClr val="172333"/>
                          </a:solidFill>
                          <a:latin typeface="Calibri"/>
                          <a:ea typeface="Calibri"/>
                          <a:cs typeface="Calibri"/>
                        </a:rPr>
                        <a:t>ST-10, ST-11</a:t>
                      </a:r>
                    </a:p>
                  </a:txBody>
                  <a:tcPr marL="91440" marR="91440" marT="45720" marB="45720">
                    <a:solidFill>
                      <a:srgbClr val="F4F7F9"/>
                    </a:solidFill>
                  </a:tcPr>
                </a:tc>
                <a:tc>
                  <a:txBody>
                    <a:bodyPr/>
                    <a:lstStyle/>
                    <a:p>
                      <a:r>
                        <a:rPr b="0">
                          <a:solidFill>
                            <a:srgbClr val="172333"/>
                          </a:solidFill>
                          <a:latin typeface="Calibri"/>
                          <a:ea typeface="Calibri"/>
                          <a:cs typeface="Calibri"/>
                        </a:rPr>
                        <a:t>Not started</a:t>
                      </a:r>
                    </a:p>
                  </a:txBody>
                  <a:tcPr marL="91440" marR="91440" marT="45720" marB="45720">
                    <a:solidFill>
                      <a:srgbClr val="F4F7F9"/>
                    </a:solidFill>
                  </a:tcPr>
                </a:tc>
                <a:tc>
                  <a:txBody>
                    <a:bodyPr/>
                    <a:lstStyle/>
                    <a:p>
                      <a:r>
                        <a:rPr b="0">
                          <a:solidFill>
                            <a:srgbClr val="172333"/>
                          </a:solidFill>
                          <a:latin typeface="Calibri"/>
                          <a:ea typeface="Calibri"/>
                          <a:cs typeface="Calibri"/>
                        </a:rPr>
                        <a:t>Two-phase update and dashboard placeholders</a:t>
                      </a:r>
                    </a:p>
                  </a:txBody>
                  <a:tcPr marL="91440" marR="91440" marT="45720" marB="45720">
                    <a:solidFill>
                      <a:srgbClr val="F4F7F9"/>
                    </a:solidFill>
                  </a:tcPr>
                </a:tc>
              </a:tr>
              <a:tr h="522514">
                <a:tc>
                  <a:txBody>
                    <a:bodyPr/>
                    <a:lstStyle/>
                    <a:p>
                      <a:r>
                        <a:rPr b="1">
                          <a:solidFill>
                            <a:srgbClr val="172333"/>
                          </a:solidFill>
                          <a:latin typeface="Calibri"/>
                          <a:ea typeface="Calibri"/>
                          <a:cs typeface="Calibri"/>
                        </a:rPr>
                        <a:t>ST-12, ST-13</a:t>
                      </a:r>
                    </a:p>
                  </a:txBody>
                  <a:tcPr marL="91440" marR="91440" marT="45720" marB="45720">
                    <a:solidFill>
                      <a:srgbClr val="FFFFFF"/>
                    </a:solidFill>
                  </a:tcPr>
                </a:tc>
                <a:tc>
                  <a:txBody>
                    <a:bodyPr/>
                    <a:lstStyle/>
                    <a:p>
                      <a:r>
                        <a:rPr b="0">
                          <a:solidFill>
                            <a:srgbClr val="172333"/>
                          </a:solidFill>
                          <a:latin typeface="Calibri"/>
                          <a:ea typeface="Calibri"/>
                          <a:cs typeface="Calibri"/>
                        </a:rPr>
                        <a:t>Not started</a:t>
                      </a:r>
                    </a:p>
                  </a:txBody>
                  <a:tcPr marL="91440" marR="91440" marT="45720" marB="45720">
                    <a:solidFill>
                      <a:srgbClr val="FFFFFF"/>
                    </a:solidFill>
                  </a:tcPr>
                </a:tc>
                <a:tc>
                  <a:txBody>
                    <a:bodyPr/>
                    <a:lstStyle/>
                    <a:p>
                      <a:r>
                        <a:rPr b="0">
                          <a:solidFill>
                            <a:srgbClr val="172333"/>
                          </a:solidFill>
                          <a:latin typeface="Calibri"/>
                          <a:ea typeface="Calibri"/>
                          <a:cs typeface="Calibri"/>
                        </a:rPr>
                        <a:t>Repeated evaluation and figures</a:t>
                      </a:r>
                    </a:p>
                  </a:txBody>
                  <a:tcPr marL="91440" marR="91440" marT="45720" marB="45720">
                    <a:solidFill>
                      <a:srgbClr val="FFFFFF"/>
                    </a:solidFill>
                  </a:tcPr>
                </a:tc>
              </a:tr>
              <a:tr h="522514">
                <a:tc>
                  <a:txBody>
                    <a:bodyPr/>
                    <a:lstStyle/>
                    <a:p>
                      <a:r>
                        <a:rPr b="1">
                          <a:solidFill>
                            <a:srgbClr val="172333"/>
                          </a:solidFill>
                          <a:latin typeface="Calibri"/>
                          <a:ea typeface="Calibri"/>
                          <a:cs typeface="Calibri"/>
                        </a:rPr>
                        <a:t>ST-14</a:t>
                      </a:r>
                    </a:p>
                  </a:txBody>
                  <a:tcPr marL="91440" marR="91440" marT="45720" marB="45720">
                    <a:solidFill>
                      <a:srgbClr val="F4F7F9"/>
                    </a:solidFill>
                  </a:tcPr>
                </a:tc>
                <a:tc>
                  <a:txBody>
                    <a:bodyPr/>
                    <a:lstStyle/>
                    <a:p>
                      <a:r>
                        <a:rPr b="0">
                          <a:solidFill>
                            <a:srgbClr val="172333"/>
                          </a:solidFill>
                          <a:latin typeface="Calibri"/>
                          <a:ea typeface="Calibri"/>
                          <a:cs typeface="Calibri"/>
                        </a:rPr>
                        <a:t>Not started</a:t>
                      </a:r>
                    </a:p>
                  </a:txBody>
                  <a:tcPr marL="91440" marR="91440" marT="45720" marB="45720">
                    <a:solidFill>
                      <a:srgbClr val="F4F7F9"/>
                    </a:solidFill>
                  </a:tcPr>
                </a:tc>
                <a:tc>
                  <a:txBody>
                    <a:bodyPr/>
                    <a:lstStyle/>
                    <a:p>
                      <a:r>
                        <a:rPr b="0">
                          <a:solidFill>
                            <a:srgbClr val="172333"/>
                          </a:solidFill>
                          <a:latin typeface="Calibri"/>
                          <a:ea typeface="Calibri"/>
                          <a:cs typeface="Calibri"/>
                        </a:rPr>
                        <a:t>Final report and demonstration</a:t>
                      </a:r>
                    </a:p>
                  </a:txBody>
                  <a:tcPr marL="91440" marR="91440" marT="45720" marB="45720">
                    <a:solidFill>
                      <a:srgbClr val="F4F7F9"/>
                    </a:solidFill>
                  </a:tcPr>
                </a:tc>
              </a:tr>
            </a:tbl>
          </a:graphicData>
        </a:graphic>
      </p:graphicFrame>
      <p:sp>
        <p:nvSpPr>
          <p:cNvPr id="12" name="Rectangle: Rounded Corners 11">
            <a:extLst xmlns:a="http://schemas.openxmlformats.org/drawingml/2006/main">
              <a:ext uri="{FF2B5EF4-FFF2-40B4-BE49-F238E27FC236}">
                <a16:creationId xmlns:a16="http://schemas.microsoft.com/office/drawing/2014/main" id="{8FDDFCCA-B46C-4ED7-ADFF-A525F5835F1C}"/>
              </a:ext>
            </a:extLst>
          </p:cNvPr>
          <p:cNvSpPr>
            <a:spLocks xmlns:a="http://schemas.openxmlformats.org/drawingml/2006/main" noGrp="1"/>
          </p:cNvSpPr>
          <p:nvPr/>
        </p:nvSpPr>
        <p:spPr>
          <a:xfrm xmlns:a="http://schemas.openxmlformats.org/drawingml/2006/main">
            <a:off x="666750" y="3810000"/>
            <a:ext cx="2476500" cy="1200150"/>
          </a:xfrm>
          <a:prstGeom xmlns:a="http://schemas.openxmlformats.org/drawingml/2006/main" prst="roundRect">
            <a:avLst>
              <a:gd name="adj" fmla="val 9524"/>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6B8A6210-7E96-434A-AA14-374FD721828A}"/>
              </a:ext>
            </a:extLst>
          </p:cNvPr>
          <p:cNvSpPr>
            <a:spLocks xmlns:a="http://schemas.openxmlformats.org/drawingml/2006/main" noGrp="1"/>
          </p:cNvSpPr>
          <p:nvPr/>
        </p:nvSpPr>
        <p:spPr>
          <a:xfrm xmlns:a="http://schemas.openxmlformats.org/drawingml/2006/main">
            <a:off x="895350" y="400050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417"/>
          </a:bodyPr>
          <a:lstStyle xmlns:a="http://schemas.openxmlformats.org/drawingml/2006/main"/>
          <a:p xmlns:a="http://schemas.openxmlformats.org/drawingml/2006/main">
            <a:pPr>
              <a:buNone/>
              <a:defRPr b="1">
                <a:solidFill>
                  <a:srgbClr val="267A5E"/>
                </a:solidFill>
                <a:latin typeface="Calibri"/>
                <a:ea typeface="Calibri"/>
                <a:cs typeface="Calibri"/>
              </a:defRPr>
            </a:pPr>
            <a:r>
              <a:rPr b="1">
                <a:solidFill>
                  <a:srgbClr val="267A5E"/>
                </a:solidFill>
                <a:latin typeface="Calibri"/>
                <a:ea typeface="Calibri"/>
                <a:cs typeface="Calibri"/>
              </a:rPr>
              <a:t>6 complete</a:t>
            </a:r>
          </a:p>
        </p:txBody>
      </p:sp>
      <p:sp>
        <p:nvSpPr>
          <p:cNvPr id="14" name="Rectangle 13">
            <a:extLst xmlns:a="http://schemas.openxmlformats.org/drawingml/2006/main">
              <a:ext uri="{FF2B5EF4-FFF2-40B4-BE49-F238E27FC236}">
                <a16:creationId xmlns:a16="http://schemas.microsoft.com/office/drawing/2014/main" id="{5BE4B75B-9EC5-4ECC-AEA5-1679802585C2}"/>
              </a:ext>
            </a:extLst>
          </p:cNvPr>
          <p:cNvSpPr>
            <a:spLocks xmlns:a="http://schemas.openxmlformats.org/drawingml/2006/main" noGrp="1"/>
          </p:cNvSpPr>
          <p:nvPr/>
        </p:nvSpPr>
        <p:spPr>
          <a:xfrm xmlns:a="http://schemas.openxmlformats.org/drawingml/2006/main">
            <a:off x="895350" y="436245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417"/>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1 partial</a:t>
            </a:r>
          </a:p>
        </p:txBody>
      </p:sp>
      <p:sp>
        <p:nvSpPr>
          <p:cNvPr id="15" name="Rectangle 14">
            <a:extLst xmlns:a="http://schemas.openxmlformats.org/drawingml/2006/main">
              <a:ext uri="{FF2B5EF4-FFF2-40B4-BE49-F238E27FC236}">
                <a16:creationId xmlns:a16="http://schemas.microsoft.com/office/drawing/2014/main" id="{7AB9651A-3D79-4AD8-BDBE-9408B8EFC137}"/>
              </a:ext>
            </a:extLst>
          </p:cNvPr>
          <p:cNvSpPr>
            <a:spLocks xmlns:a="http://schemas.openxmlformats.org/drawingml/2006/main" noGrp="1"/>
          </p:cNvSpPr>
          <p:nvPr/>
        </p:nvSpPr>
        <p:spPr>
          <a:xfrm xmlns:a="http://schemas.openxmlformats.org/drawingml/2006/main">
            <a:off x="895350" y="4724400"/>
            <a:ext cx="2019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417"/>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7 not started</a:t>
            </a:r>
          </a:p>
        </p:txBody>
      </p:sp>
    </p:spTree>
    <p:extLst>
      <p:ext uri="{BB962C8B-B14F-4D97-AF65-F5344CB8AC3E}">
        <p14:creationId xmlns:p14="http://schemas.microsoft.com/office/powerpoint/2010/main" val="1932061867"/>
      </p:ext>
    </p:extLst>
  </p:cSld>
</p:sld>
</file>

<file path=ppt/slides/slide19.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1C27A7C8-5D40-4629-BA25-5227FB78FB77}"/>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75D7D0"/>
                </a:solidFill>
                <a:latin typeface="Calibri"/>
                <a:ea typeface="Calibri"/>
                <a:cs typeface="Calibri"/>
              </a:defRPr>
            </a:pPr>
            <a:r>
              <a:rPr b="1">
                <a:solidFill>
                  <a:srgbClr val="75D7D0"/>
                </a:solidFill>
                <a:latin typeface="Calibri"/>
                <a:ea typeface="Calibri"/>
                <a:cs typeface="Calibri"/>
              </a:rPr>
              <a:t>OUTSTANDING WORK</a:t>
            </a:r>
          </a:p>
        </p:txBody>
      </p:sp>
      <p:sp>
        <p:nvSpPr>
          <p:cNvPr id="2" name="Rectangle 1">
            <a:extLst xmlns:a="http://schemas.openxmlformats.org/drawingml/2006/main">
              <a:ext uri="{FF2B5EF4-FFF2-40B4-BE49-F238E27FC236}">
                <a16:creationId xmlns:a16="http://schemas.microsoft.com/office/drawing/2014/main" id="{77C7CFBA-C32A-4D36-88A3-559179A11ACD}"/>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FFFFFF"/>
                </a:solidFill>
                <a:latin typeface="Cambria"/>
                <a:ea typeface="Cambria"/>
                <a:cs typeface="Cambria"/>
              </a:defRPr>
            </a:pPr>
            <a:r>
              <a:rPr b="1">
                <a:solidFill>
                  <a:srgbClr val="FFFFFF"/>
                </a:solidFill>
                <a:latin typeface="Cambria"/>
                <a:ea typeface="Cambria"/>
                <a:cs typeface="Cambria"/>
              </a:rPr>
              <a:t>Incomplete event propagation</a:t>
            </a:r>
          </a:p>
        </p:txBody>
      </p:sp>
      <p:sp>
        <p:nvSpPr>
          <p:cNvPr id="3" name="Rectangle 2">
            <a:extLst xmlns:a="http://schemas.openxmlformats.org/drawingml/2006/main">
              <a:ext uri="{FF2B5EF4-FFF2-40B4-BE49-F238E27FC236}">
                <a16:creationId xmlns:a16="http://schemas.microsoft.com/office/drawing/2014/main" id="{98213834-6EE8-457C-B87C-0F2BD2AC1387}"/>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CBD6E2"/>
                </a:solidFill>
                <a:latin typeface="Calibri"/>
                <a:ea typeface="Calibri"/>
                <a:cs typeface="Calibri"/>
              </a:defRPr>
            </a:pPr>
            <a:r>
              <a:rPr b="0">
                <a:solidFill>
                  <a:srgbClr val="CBD6E2"/>
                </a:solidFill>
                <a:latin typeface="Calibri"/>
                <a:ea typeface="Calibri"/>
                <a:cs typeface="Calibri"/>
              </a:rPr>
              <a:t>All components exist independently; the live process does not connect them</a:t>
            </a:r>
          </a:p>
        </p:txBody>
      </p:sp>
      <p:sp>
        <p:nvSpPr>
          <p:cNvPr id="4" name="Rectangle 3">
            <a:extLst xmlns:a="http://schemas.openxmlformats.org/drawingml/2006/main">
              <a:ext uri="{FF2B5EF4-FFF2-40B4-BE49-F238E27FC236}">
                <a16:creationId xmlns:a16="http://schemas.microsoft.com/office/drawing/2014/main" id="{68588625-33FF-4EDA-8AD6-FF501DCB9236}"/>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44517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4D66C6E6-B639-468F-B826-F2E1BC3059F5}"/>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44517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C64EB6B-E05A-4AA2-B52B-1700C35FFCD4}"/>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AFC1D5"/>
                </a:solidFill>
                <a:latin typeface="Calibri"/>
                <a:ea typeface="Calibri"/>
                <a:cs typeface="Calibri"/>
              </a:defRPr>
            </a:pPr>
            <a:r>
              <a:rPr b="0">
                <a:solidFill>
                  <a:srgbClr val="AFC1D5"/>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5AD06E20-D1F2-45EE-8AED-4B0A01FBAE69}"/>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AFC1D5"/>
                </a:solidFill>
                <a:latin typeface="Calibri"/>
                <a:ea typeface="Calibri"/>
                <a:cs typeface="Calibri"/>
              </a:defRPr>
            </a:pPr>
            <a:r>
              <a:rPr b="1">
                <a:solidFill>
                  <a:srgbClr val="AFC1D5"/>
                </a:solidFill>
                <a:latin typeface="Calibri"/>
                <a:ea typeface="Calibri"/>
                <a:cs typeface="Calibri"/>
              </a:rPr>
              <a:t>19</a:t>
            </a:r>
          </a:p>
        </p:txBody>
      </p:sp>
      <p:sp>
        <p:nvSpPr>
          <p:cNvPr id="8" name="Rectangle: Rounded Corners 7">
            <a:extLst xmlns:a="http://schemas.openxmlformats.org/drawingml/2006/main">
              <a:ext uri="{FF2B5EF4-FFF2-40B4-BE49-F238E27FC236}">
                <a16:creationId xmlns:a16="http://schemas.microsoft.com/office/drawing/2014/main" id="{4F5B17BC-7FE6-4CA4-9018-4BD51073F7A3}"/>
              </a:ext>
            </a:extLst>
          </p:cNvPr>
          <p:cNvSpPr>
            <a:spLocks xmlns:a="http://schemas.openxmlformats.org/drawingml/2006/main" noGrp="1"/>
          </p:cNvSpPr>
          <p:nvPr/>
        </p:nvSpPr>
        <p:spPr>
          <a:xfrm xmlns:a="http://schemas.openxmlformats.org/drawingml/2006/main">
            <a:off x="590550" y="1905000"/>
            <a:ext cx="2381250" cy="857250"/>
          </a:xfrm>
          <a:prstGeom xmlns:a="http://schemas.openxmlformats.org/drawingml/2006/main" prst="roundRect">
            <a:avLst>
              <a:gd name="adj" fmla="val 13333"/>
            </a:avLst>
          </a:prstGeom>
          <a:solidFill xmlns:a="http://schemas.openxmlformats.org/drawingml/2006/main">
            <a:srgbClr val="303B69"/>
          </a:solidFill>
          <a:ln xmlns:a="http://schemas.openxmlformats.org/drawingml/2006/main" w="9525">
            <a:solidFill>
              <a:srgbClr val="52618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3039667B-DEA1-45F7-8C6E-E5177E142E54}"/>
              </a:ext>
            </a:extLst>
          </p:cNvPr>
          <p:cNvSpPr>
            <a:spLocks xmlns:a="http://schemas.openxmlformats.org/drawingml/2006/main" noGrp="1"/>
          </p:cNvSpPr>
          <p:nvPr/>
        </p:nvSpPr>
        <p:spPr>
          <a:xfrm xmlns:a="http://schemas.openxmlformats.org/drawingml/2006/main">
            <a:off x="762000" y="2076450"/>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Detector</a:t>
            </a:r>
          </a:p>
        </p:txBody>
      </p:sp>
      <p:sp>
        <p:nvSpPr>
          <p:cNvPr id="10" name="Rectangle 9">
            <a:extLst xmlns:a="http://schemas.openxmlformats.org/drawingml/2006/main">
              <a:ext uri="{FF2B5EF4-FFF2-40B4-BE49-F238E27FC236}">
                <a16:creationId xmlns:a16="http://schemas.microsoft.com/office/drawing/2014/main" id="{A4019135-94EB-4939-942E-35FC646FD73D}"/>
              </a:ext>
            </a:extLst>
          </p:cNvPr>
          <p:cNvSpPr>
            <a:spLocks xmlns:a="http://schemas.openxmlformats.org/drawingml/2006/main" noGrp="1"/>
          </p:cNvSpPr>
          <p:nvPr/>
        </p:nvSpPr>
        <p:spPr>
          <a:xfrm xmlns:a="http://schemas.openxmlformats.org/drawingml/2006/main">
            <a:off x="762000" y="24003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0">
                <a:solidFill>
                  <a:srgbClr val="C6D2E1"/>
                </a:solidFill>
                <a:latin typeface="Calibri"/>
                <a:ea typeface="Calibri"/>
                <a:cs typeface="Calibri"/>
              </a:defRPr>
            </a:pPr>
            <a:r>
              <a:rPr b="0">
                <a:solidFill>
                  <a:srgbClr val="C6D2E1"/>
                </a:solidFill>
                <a:latin typeface="Calibri"/>
                <a:ea typeface="Calibri"/>
                <a:cs typeface="Calibri"/>
              </a:rPr>
              <a:t>creates correct event</a:t>
            </a:r>
          </a:p>
        </p:txBody>
      </p:sp>
      <p:sp>
        <p:nvSpPr>
          <p:cNvPr id="11" name="Rectangle 10">
            <a:extLst xmlns:a="http://schemas.openxmlformats.org/drawingml/2006/main">
              <a:ext uri="{FF2B5EF4-FFF2-40B4-BE49-F238E27FC236}">
                <a16:creationId xmlns:a16="http://schemas.microsoft.com/office/drawing/2014/main" id="{B0D7ACA2-7131-4C18-B8BF-AA92100A0CAC}"/>
              </a:ext>
            </a:extLst>
          </p:cNvPr>
          <p:cNvSpPr>
            <a:spLocks xmlns:a="http://schemas.openxmlformats.org/drawingml/2006/main" noGrp="1"/>
          </p:cNvSpPr>
          <p:nvPr/>
        </p:nvSpPr>
        <p:spPr>
          <a:xfrm xmlns:a="http://schemas.openxmlformats.org/drawingml/2006/main">
            <a:off x="3028950" y="21526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FF9E7B"/>
                </a:solidFill>
                <a:latin typeface="Calibri"/>
                <a:ea typeface="Calibri"/>
                <a:cs typeface="Calibri"/>
              </a:defRPr>
            </a:pPr>
            <a:r>
              <a:rPr b="1">
                <a:solidFill>
                  <a:srgbClr val="FF9E7B"/>
                </a:solidFill>
                <a:latin typeface="Calibri"/>
                <a:ea typeface="Calibri"/>
                <a:cs typeface="Calibri"/>
              </a:rPr>
              <a:t>×</a:t>
            </a:r>
          </a:p>
        </p:txBody>
      </p:sp>
      <p:sp>
        <p:nvSpPr>
          <p:cNvPr id="12" name="Rectangle: Rounded Corners 11">
            <a:extLst xmlns:a="http://schemas.openxmlformats.org/drawingml/2006/main">
              <a:ext uri="{FF2B5EF4-FFF2-40B4-BE49-F238E27FC236}">
                <a16:creationId xmlns:a16="http://schemas.microsoft.com/office/drawing/2014/main" id="{7742017C-3559-4E87-B9B6-D71EE95E51AE}"/>
              </a:ext>
            </a:extLst>
          </p:cNvPr>
          <p:cNvSpPr>
            <a:spLocks xmlns:a="http://schemas.openxmlformats.org/drawingml/2006/main" noGrp="1"/>
          </p:cNvSpPr>
          <p:nvPr/>
        </p:nvSpPr>
        <p:spPr>
          <a:xfrm xmlns:a="http://schemas.openxmlformats.org/drawingml/2006/main">
            <a:off x="3400425" y="1905000"/>
            <a:ext cx="2381250" cy="857250"/>
          </a:xfrm>
          <a:prstGeom xmlns:a="http://schemas.openxmlformats.org/drawingml/2006/main" prst="roundRect">
            <a:avLst>
              <a:gd name="adj" fmla="val 13333"/>
            </a:avLst>
          </a:prstGeom>
          <a:solidFill xmlns:a="http://schemas.openxmlformats.org/drawingml/2006/main">
            <a:srgbClr val="303B69"/>
          </a:solidFill>
          <a:ln xmlns:a="http://schemas.openxmlformats.org/drawingml/2006/main" w="9525">
            <a:solidFill>
              <a:srgbClr val="52618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DC075DE3-1DA7-4C50-A165-A2814EB2AF08}"/>
              </a:ext>
            </a:extLst>
          </p:cNvPr>
          <p:cNvSpPr>
            <a:spLocks xmlns:a="http://schemas.openxmlformats.org/drawingml/2006/main" noGrp="1"/>
          </p:cNvSpPr>
          <p:nvPr/>
        </p:nvSpPr>
        <p:spPr>
          <a:xfrm xmlns:a="http://schemas.openxmlformats.org/drawingml/2006/main">
            <a:off x="3571875" y="2076450"/>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Event bus</a:t>
            </a:r>
          </a:p>
        </p:txBody>
      </p:sp>
      <p:sp>
        <p:nvSpPr>
          <p:cNvPr id="14" name="Rectangle 13">
            <a:extLst xmlns:a="http://schemas.openxmlformats.org/drawingml/2006/main">
              <a:ext uri="{FF2B5EF4-FFF2-40B4-BE49-F238E27FC236}">
                <a16:creationId xmlns:a16="http://schemas.microsoft.com/office/drawing/2014/main" id="{A625236B-1946-4D47-B33D-CD8053AD2631}"/>
              </a:ext>
            </a:extLst>
          </p:cNvPr>
          <p:cNvSpPr>
            <a:spLocks xmlns:a="http://schemas.openxmlformats.org/drawingml/2006/main" noGrp="1"/>
          </p:cNvSpPr>
          <p:nvPr/>
        </p:nvSpPr>
        <p:spPr>
          <a:xfrm xmlns:a="http://schemas.openxmlformats.org/drawingml/2006/main">
            <a:off x="3571875" y="24003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0">
                <a:solidFill>
                  <a:srgbClr val="C6D2E1"/>
                </a:solidFill>
                <a:latin typeface="Calibri"/>
                <a:ea typeface="Calibri"/>
                <a:cs typeface="Calibri"/>
              </a:defRPr>
            </a:pPr>
            <a:r>
              <a:rPr b="0">
                <a:solidFill>
                  <a:srgbClr val="C6D2E1"/>
                </a:solidFill>
                <a:latin typeface="Calibri"/>
                <a:ea typeface="Calibri"/>
                <a:cs typeface="Calibri"/>
              </a:rPr>
              <a:t>can deliver event</a:t>
            </a:r>
          </a:p>
        </p:txBody>
      </p:sp>
      <p:sp>
        <p:nvSpPr>
          <p:cNvPr id="15" name="Rectangle 14">
            <a:extLst xmlns:a="http://schemas.openxmlformats.org/drawingml/2006/main">
              <a:ext uri="{FF2B5EF4-FFF2-40B4-BE49-F238E27FC236}">
                <a16:creationId xmlns:a16="http://schemas.microsoft.com/office/drawing/2014/main" id="{31B725C3-863C-4109-86EF-233B1108A24E}"/>
              </a:ext>
            </a:extLst>
          </p:cNvPr>
          <p:cNvSpPr>
            <a:spLocks xmlns:a="http://schemas.openxmlformats.org/drawingml/2006/main" noGrp="1"/>
          </p:cNvSpPr>
          <p:nvPr/>
        </p:nvSpPr>
        <p:spPr>
          <a:xfrm xmlns:a="http://schemas.openxmlformats.org/drawingml/2006/main">
            <a:off x="5838825" y="21526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FF9E7B"/>
                </a:solidFill>
                <a:latin typeface="Calibri"/>
                <a:ea typeface="Calibri"/>
                <a:cs typeface="Calibri"/>
              </a:defRPr>
            </a:pPr>
            <a:r>
              <a:rPr b="1">
                <a:solidFill>
                  <a:srgbClr val="FF9E7B"/>
                </a:solidFill>
                <a:latin typeface="Calibri"/>
                <a:ea typeface="Calibri"/>
                <a:cs typeface="Calibri"/>
              </a:rPr>
              <a:t>×</a:t>
            </a:r>
          </a:p>
        </p:txBody>
      </p:sp>
      <p:sp>
        <p:nvSpPr>
          <p:cNvPr id="16" name="Rectangle: Rounded Corners 15">
            <a:extLst xmlns:a="http://schemas.openxmlformats.org/drawingml/2006/main">
              <a:ext uri="{FF2B5EF4-FFF2-40B4-BE49-F238E27FC236}">
                <a16:creationId xmlns:a16="http://schemas.microsoft.com/office/drawing/2014/main" id="{8CE48DA3-1739-4683-8CC2-6DCC6253039E}"/>
              </a:ext>
            </a:extLst>
          </p:cNvPr>
          <p:cNvSpPr>
            <a:spLocks xmlns:a="http://schemas.openxmlformats.org/drawingml/2006/main" noGrp="1"/>
          </p:cNvSpPr>
          <p:nvPr/>
        </p:nvSpPr>
        <p:spPr>
          <a:xfrm xmlns:a="http://schemas.openxmlformats.org/drawingml/2006/main">
            <a:off x="6210300" y="1905000"/>
            <a:ext cx="2381250" cy="857250"/>
          </a:xfrm>
          <a:prstGeom xmlns:a="http://schemas.openxmlformats.org/drawingml/2006/main" prst="roundRect">
            <a:avLst>
              <a:gd name="adj" fmla="val 13333"/>
            </a:avLst>
          </a:prstGeom>
          <a:solidFill xmlns:a="http://schemas.openxmlformats.org/drawingml/2006/main">
            <a:srgbClr val="303B69"/>
          </a:solidFill>
          <a:ln xmlns:a="http://schemas.openxmlformats.org/drawingml/2006/main" w="9525">
            <a:solidFill>
              <a:srgbClr val="52618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251A41F9-B03C-460A-9935-B61881F525B4}"/>
              </a:ext>
            </a:extLst>
          </p:cNvPr>
          <p:cNvSpPr>
            <a:spLocks xmlns:a="http://schemas.openxmlformats.org/drawingml/2006/main" noGrp="1"/>
          </p:cNvSpPr>
          <p:nvPr/>
        </p:nvSpPr>
        <p:spPr>
          <a:xfrm xmlns:a="http://schemas.openxmlformats.org/drawingml/2006/main">
            <a:off x="6381750" y="2076450"/>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Database</a:t>
            </a:r>
          </a:p>
        </p:txBody>
      </p:sp>
      <p:sp>
        <p:nvSpPr>
          <p:cNvPr id="18" name="Rectangle 17">
            <a:extLst xmlns:a="http://schemas.openxmlformats.org/drawingml/2006/main">
              <a:ext uri="{FF2B5EF4-FFF2-40B4-BE49-F238E27FC236}">
                <a16:creationId xmlns:a16="http://schemas.microsoft.com/office/drawing/2014/main" id="{37C1C1FD-D65C-43D1-8851-A857018591BE}"/>
              </a:ext>
            </a:extLst>
          </p:cNvPr>
          <p:cNvSpPr>
            <a:spLocks xmlns:a="http://schemas.openxmlformats.org/drawingml/2006/main" noGrp="1"/>
          </p:cNvSpPr>
          <p:nvPr/>
        </p:nvSpPr>
        <p:spPr>
          <a:xfrm xmlns:a="http://schemas.openxmlformats.org/drawingml/2006/main">
            <a:off x="6381750" y="24003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0">
                <a:solidFill>
                  <a:srgbClr val="C6D2E1"/>
                </a:solidFill>
                <a:latin typeface="Calibri"/>
                <a:ea typeface="Calibri"/>
                <a:cs typeface="Calibri"/>
              </a:defRPr>
            </a:pPr>
            <a:r>
              <a:rPr b="0">
                <a:solidFill>
                  <a:srgbClr val="C6D2E1"/>
                </a:solidFill>
                <a:latin typeface="Calibri"/>
                <a:ea typeface="Calibri"/>
                <a:cs typeface="Calibri"/>
              </a:rPr>
              <a:t>can persist event</a:t>
            </a:r>
          </a:p>
        </p:txBody>
      </p:sp>
      <p:sp>
        <p:nvSpPr>
          <p:cNvPr id="19" name="Rectangle 18">
            <a:extLst xmlns:a="http://schemas.openxmlformats.org/drawingml/2006/main">
              <a:ext uri="{FF2B5EF4-FFF2-40B4-BE49-F238E27FC236}">
                <a16:creationId xmlns:a16="http://schemas.microsoft.com/office/drawing/2014/main" id="{B2551B3C-3526-4472-9CAC-D72D928F232B}"/>
              </a:ext>
            </a:extLst>
          </p:cNvPr>
          <p:cNvSpPr>
            <a:spLocks xmlns:a="http://schemas.openxmlformats.org/drawingml/2006/main" noGrp="1"/>
          </p:cNvSpPr>
          <p:nvPr/>
        </p:nvSpPr>
        <p:spPr>
          <a:xfrm xmlns:a="http://schemas.openxmlformats.org/drawingml/2006/main">
            <a:off x="8648700" y="21526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FF9E7B"/>
                </a:solidFill>
                <a:latin typeface="Calibri"/>
                <a:ea typeface="Calibri"/>
                <a:cs typeface="Calibri"/>
              </a:defRPr>
            </a:pPr>
            <a:r>
              <a:rPr b="1">
                <a:solidFill>
                  <a:srgbClr val="FF9E7B"/>
                </a:solidFill>
                <a:latin typeface="Calibri"/>
                <a:ea typeface="Calibri"/>
                <a:cs typeface="Calibri"/>
              </a:rPr>
              <a:t>×</a:t>
            </a:r>
          </a:p>
        </p:txBody>
      </p:sp>
      <p:sp>
        <p:nvSpPr>
          <p:cNvPr id="20" name="Rectangle: Rounded Corners 19">
            <a:extLst xmlns:a="http://schemas.openxmlformats.org/drawingml/2006/main">
              <a:ext uri="{FF2B5EF4-FFF2-40B4-BE49-F238E27FC236}">
                <a16:creationId xmlns:a16="http://schemas.microsoft.com/office/drawing/2014/main" id="{63F85E44-6208-4BDC-A2FD-964947D8BF1F}"/>
              </a:ext>
            </a:extLst>
          </p:cNvPr>
          <p:cNvSpPr>
            <a:spLocks xmlns:a="http://schemas.openxmlformats.org/drawingml/2006/main" noGrp="1"/>
          </p:cNvSpPr>
          <p:nvPr/>
        </p:nvSpPr>
        <p:spPr>
          <a:xfrm xmlns:a="http://schemas.openxmlformats.org/drawingml/2006/main">
            <a:off x="9020175" y="1905000"/>
            <a:ext cx="2381250" cy="857250"/>
          </a:xfrm>
          <a:prstGeom xmlns:a="http://schemas.openxmlformats.org/drawingml/2006/main" prst="roundRect">
            <a:avLst>
              <a:gd name="adj" fmla="val 13333"/>
            </a:avLst>
          </a:prstGeom>
          <a:solidFill xmlns:a="http://schemas.openxmlformats.org/drawingml/2006/main">
            <a:srgbClr val="303B69"/>
          </a:solidFill>
          <a:ln xmlns:a="http://schemas.openxmlformats.org/drawingml/2006/main" w="9525">
            <a:solidFill>
              <a:srgbClr val="52618F"/>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6C4EBEC0-64EE-46DD-AD61-B7F786498B8E}"/>
              </a:ext>
            </a:extLst>
          </p:cNvPr>
          <p:cNvSpPr>
            <a:spLocks xmlns:a="http://schemas.openxmlformats.org/drawingml/2006/main" noGrp="1"/>
          </p:cNvSpPr>
          <p:nvPr/>
        </p:nvSpPr>
        <p:spPr>
          <a:xfrm xmlns:a="http://schemas.openxmlformats.org/drawingml/2006/main">
            <a:off x="9191625" y="2076450"/>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472"/>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ControlLoop</a:t>
            </a:r>
          </a:p>
        </p:txBody>
      </p:sp>
      <p:sp>
        <p:nvSpPr>
          <p:cNvPr id="22" name="Rectangle 21">
            <a:extLst xmlns:a="http://schemas.openxmlformats.org/drawingml/2006/main">
              <a:ext uri="{FF2B5EF4-FFF2-40B4-BE49-F238E27FC236}">
                <a16:creationId xmlns:a16="http://schemas.microsoft.com/office/drawing/2014/main" id="{A5CD02CE-B8D4-41D3-8042-C673E994AF51}"/>
              </a:ext>
            </a:extLst>
          </p:cNvPr>
          <p:cNvSpPr>
            <a:spLocks xmlns:a="http://schemas.openxmlformats.org/drawingml/2006/main" noGrp="1"/>
          </p:cNvSpPr>
          <p:nvPr/>
        </p:nvSpPr>
        <p:spPr>
          <a:xfrm xmlns:a="http://schemas.openxmlformats.org/drawingml/2006/main">
            <a:off x="9191625" y="240030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0">
                <a:solidFill>
                  <a:srgbClr val="C6D2E1"/>
                </a:solidFill>
                <a:latin typeface="Calibri"/>
                <a:ea typeface="Calibri"/>
                <a:cs typeface="Calibri"/>
              </a:defRPr>
            </a:pPr>
            <a:r>
              <a:rPr b="0">
                <a:solidFill>
                  <a:srgbClr val="C6D2E1"/>
                </a:solidFill>
                <a:latin typeface="Calibri"/>
                <a:ea typeface="Calibri"/>
                <a:cs typeface="Calibri"/>
              </a:rPr>
              <a:t>can reroute</a:t>
            </a:r>
          </a:p>
        </p:txBody>
      </p:sp>
      <p:sp>
        <p:nvSpPr>
          <p:cNvPr id="23" name="Rectangle 22">
            <a:extLst xmlns:a="http://schemas.openxmlformats.org/drawingml/2006/main">
              <a:ext uri="{FF2B5EF4-FFF2-40B4-BE49-F238E27FC236}">
                <a16:creationId xmlns:a16="http://schemas.microsoft.com/office/drawing/2014/main" id="{71EC0AC7-DB01-4E34-9B81-1815CB9851CD}"/>
              </a:ext>
            </a:extLst>
          </p:cNvPr>
          <p:cNvSpPr>
            <a:spLocks xmlns:a="http://schemas.openxmlformats.org/drawingml/2006/main" noGrp="1"/>
          </p:cNvSpPr>
          <p:nvPr/>
        </p:nvSpPr>
        <p:spPr>
          <a:xfrm xmlns:a="http://schemas.openxmlformats.org/drawingml/2006/main">
            <a:off x="590550" y="32575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75D7D0"/>
                </a:solidFill>
                <a:latin typeface="Calibri"/>
                <a:ea typeface="Calibri"/>
                <a:cs typeface="Calibri"/>
              </a:defRPr>
            </a:pPr>
            <a:r>
              <a:rPr b="1">
                <a:solidFill>
                  <a:srgbClr val="75D7D0"/>
                </a:solidFill>
                <a:latin typeface="Calibri"/>
                <a:ea typeface="Calibri"/>
                <a:cs typeface="Calibri"/>
              </a:rPr>
              <a:t>THREE MISSING CALLS</a:t>
            </a:r>
          </a:p>
        </p:txBody>
      </p:sp>
      <p:sp>
        <p:nvSpPr>
          <p:cNvPr id="24" name="Rectangle 23">
            <a:extLst xmlns:a="http://schemas.openxmlformats.org/drawingml/2006/main">
              <a:ext uri="{FF2B5EF4-FFF2-40B4-BE49-F238E27FC236}">
                <a16:creationId xmlns:a16="http://schemas.microsoft.com/office/drawing/2014/main" id="{9C392B35-12E4-455A-8988-68F09D35DF83}"/>
              </a:ext>
            </a:extLst>
          </p:cNvPr>
          <p:cNvSpPr>
            <a:spLocks xmlns:a="http://schemas.openxmlformats.org/drawingml/2006/main" noGrp="1"/>
          </p:cNvSpPr>
          <p:nvPr/>
        </p:nvSpPr>
        <p:spPr>
          <a:xfrm xmlns:a="http://schemas.openxmlformats.org/drawingml/2006/main">
            <a:off x="723900" y="36004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FFBEA8"/>
                </a:solidFill>
                <a:latin typeface="Courier New"/>
                <a:ea typeface="Courier New"/>
                <a:cs typeface="Courier New"/>
              </a:defRPr>
            </a:pPr>
            <a:r>
              <a:rPr b="1">
                <a:solidFill>
                  <a:srgbClr val="FFBEA8"/>
                </a:solidFill>
                <a:latin typeface="Courier New"/>
                <a:ea typeface="Courier New"/>
                <a:cs typeface="Courier New"/>
              </a:rPr>
              <a:t>db.save_event(...)</a:t>
            </a:r>
          </a:p>
        </p:txBody>
      </p:sp>
      <p:sp>
        <p:nvSpPr>
          <p:cNvPr id="25" name="Rectangle 24">
            <a:extLst xmlns:a="http://schemas.openxmlformats.org/drawingml/2006/main">
              <a:ext uri="{FF2B5EF4-FFF2-40B4-BE49-F238E27FC236}">
                <a16:creationId xmlns:a16="http://schemas.microsoft.com/office/drawing/2014/main" id="{C2AB644E-80F3-4329-A778-66FA1C92A313}"/>
              </a:ext>
            </a:extLst>
          </p:cNvPr>
          <p:cNvSpPr>
            <a:spLocks xmlns:a="http://schemas.openxmlformats.org/drawingml/2006/main" noGrp="1"/>
          </p:cNvSpPr>
          <p:nvPr/>
        </p:nvSpPr>
        <p:spPr>
          <a:xfrm xmlns:a="http://schemas.openxmlformats.org/drawingml/2006/main">
            <a:off x="3619500" y="36004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FFFFFF"/>
                </a:solidFill>
                <a:latin typeface="Calibri"/>
                <a:ea typeface="Calibri"/>
                <a:cs typeface="Calibri"/>
              </a:defRPr>
            </a:pPr>
            <a:r>
              <a:rPr b="0">
                <a:solidFill>
                  <a:srgbClr val="FFFFFF"/>
                </a:solidFill>
                <a:latin typeface="Calibri"/>
                <a:ea typeface="Calibri"/>
                <a:cs typeface="Calibri"/>
              </a:rPr>
              <a:t>event never reaches SQLite</a:t>
            </a:r>
          </a:p>
        </p:txBody>
      </p:sp>
      <p:sp>
        <p:nvSpPr>
          <p:cNvPr id="26" name="Rectangle 25">
            <a:extLst xmlns:a="http://schemas.openxmlformats.org/drawingml/2006/main">
              <a:ext uri="{FF2B5EF4-FFF2-40B4-BE49-F238E27FC236}">
                <a16:creationId xmlns:a16="http://schemas.microsoft.com/office/drawing/2014/main" id="{F0BA409D-8062-43F5-8E31-399F2173C611}"/>
              </a:ext>
            </a:extLst>
          </p:cNvPr>
          <p:cNvSpPr>
            <a:spLocks xmlns:a="http://schemas.openxmlformats.org/drawingml/2006/main" noGrp="1"/>
          </p:cNvSpPr>
          <p:nvPr/>
        </p:nvSpPr>
        <p:spPr>
          <a:xfrm xmlns:a="http://schemas.openxmlformats.org/drawingml/2006/main">
            <a:off x="723900" y="41719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FFBEA8"/>
                </a:solidFill>
                <a:latin typeface="Courier New"/>
                <a:ea typeface="Courier New"/>
                <a:cs typeface="Courier New"/>
              </a:defRPr>
            </a:pPr>
            <a:r>
              <a:rPr b="1">
                <a:solidFill>
                  <a:srgbClr val="FFBEA8"/>
                </a:solidFill>
                <a:latin typeface="Courier New"/>
                <a:ea typeface="Courier New"/>
                <a:cs typeface="Courier New"/>
              </a:rPr>
              <a:t>EventBus.publish(...)</a:t>
            </a:r>
          </a:p>
        </p:txBody>
      </p:sp>
      <p:sp>
        <p:nvSpPr>
          <p:cNvPr id="27" name="Rectangle 26">
            <a:extLst xmlns:a="http://schemas.openxmlformats.org/drawingml/2006/main">
              <a:ext uri="{FF2B5EF4-FFF2-40B4-BE49-F238E27FC236}">
                <a16:creationId xmlns:a16="http://schemas.microsoft.com/office/drawing/2014/main" id="{8A57BB9E-1936-4B2C-96EA-773565291CC3}"/>
              </a:ext>
            </a:extLst>
          </p:cNvPr>
          <p:cNvSpPr>
            <a:spLocks xmlns:a="http://schemas.openxmlformats.org/drawingml/2006/main" noGrp="1"/>
          </p:cNvSpPr>
          <p:nvPr/>
        </p:nvSpPr>
        <p:spPr>
          <a:xfrm xmlns:a="http://schemas.openxmlformats.org/drawingml/2006/main">
            <a:off x="3619500" y="41719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FFFFFF"/>
                </a:solidFill>
                <a:latin typeface="Calibri"/>
                <a:ea typeface="Calibri"/>
                <a:cs typeface="Calibri"/>
              </a:defRPr>
            </a:pPr>
            <a:r>
              <a:rPr b="0">
                <a:solidFill>
                  <a:srgbClr val="FFFFFF"/>
                </a:solidFill>
                <a:latin typeface="Calibri"/>
                <a:ea typeface="Calibri"/>
                <a:cs typeface="Calibri"/>
              </a:rPr>
              <a:t>subscriber never receives it</a:t>
            </a:r>
          </a:p>
        </p:txBody>
      </p:sp>
      <p:sp>
        <p:nvSpPr>
          <p:cNvPr id="28" name="Rectangle 27">
            <a:extLst xmlns:a="http://schemas.openxmlformats.org/drawingml/2006/main">
              <a:ext uri="{FF2B5EF4-FFF2-40B4-BE49-F238E27FC236}">
                <a16:creationId xmlns:a16="http://schemas.microsoft.com/office/drawing/2014/main" id="{0DA965E0-9648-4F85-9F23-651C20D454D8}"/>
              </a:ext>
            </a:extLst>
          </p:cNvPr>
          <p:cNvSpPr>
            <a:spLocks xmlns:a="http://schemas.openxmlformats.org/drawingml/2006/main" noGrp="1"/>
          </p:cNvSpPr>
          <p:nvPr/>
        </p:nvSpPr>
        <p:spPr>
          <a:xfrm xmlns:a="http://schemas.openxmlformats.org/drawingml/2006/main">
            <a:off x="723900" y="47434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FFBEA8"/>
                </a:solidFill>
                <a:latin typeface="Courier New"/>
                <a:ea typeface="Courier New"/>
                <a:cs typeface="Courier New"/>
              </a:defRPr>
            </a:pPr>
            <a:r>
              <a:rPr b="1">
                <a:solidFill>
                  <a:srgbClr val="FFBEA8"/>
                </a:solidFill>
                <a:latin typeface="Courier New"/>
                <a:ea typeface="Courier New"/>
                <a:cs typeface="Courier New"/>
              </a:rPr>
              <a:t>ControlLoop(...)</a:t>
            </a:r>
          </a:p>
        </p:txBody>
      </p:sp>
      <p:sp>
        <p:nvSpPr>
          <p:cNvPr id="29" name="Rectangle 28">
            <a:extLst xmlns:a="http://schemas.openxmlformats.org/drawingml/2006/main">
              <a:ext uri="{FF2B5EF4-FFF2-40B4-BE49-F238E27FC236}">
                <a16:creationId xmlns:a16="http://schemas.microsoft.com/office/drawing/2014/main" id="{E942BD86-065E-49F2-8C6F-69117F8D1AEA}"/>
              </a:ext>
            </a:extLst>
          </p:cNvPr>
          <p:cNvSpPr>
            <a:spLocks xmlns:a="http://schemas.openxmlformats.org/drawingml/2006/main" noGrp="1"/>
          </p:cNvSpPr>
          <p:nvPr/>
        </p:nvSpPr>
        <p:spPr>
          <a:xfrm xmlns:a="http://schemas.openxmlformats.org/drawingml/2006/main">
            <a:off x="3619500" y="47434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0">
                <a:solidFill>
                  <a:srgbClr val="FFFFFF"/>
                </a:solidFill>
                <a:latin typeface="Calibri"/>
                <a:ea typeface="Calibri"/>
                <a:cs typeface="Calibri"/>
              </a:defRPr>
            </a:pPr>
            <a:r>
              <a:rPr b="0">
                <a:solidFill>
                  <a:srgbClr val="FFFFFF"/>
                </a:solidFill>
                <a:latin typeface="Calibri"/>
                <a:ea typeface="Calibri"/>
                <a:cs typeface="Calibri"/>
              </a:rPr>
              <a:t>rerouting object never exists live</a:t>
            </a:r>
          </a:p>
        </p:txBody>
      </p:sp>
      <p:sp>
        <p:nvSpPr>
          <p:cNvPr id="30" name="Rectangle: Rounded Corners 29">
            <a:extLst xmlns:a="http://schemas.openxmlformats.org/drawingml/2006/main">
              <a:ext uri="{FF2B5EF4-FFF2-40B4-BE49-F238E27FC236}">
                <a16:creationId xmlns:a16="http://schemas.microsoft.com/office/drawing/2014/main" id="{D7B6BDD9-D2A5-42A4-A008-6D54E5054735}"/>
              </a:ext>
            </a:extLst>
          </p:cNvPr>
          <p:cNvSpPr>
            <a:spLocks xmlns:a="http://schemas.openxmlformats.org/drawingml/2006/main" noGrp="1"/>
          </p:cNvSpPr>
          <p:nvPr/>
        </p:nvSpPr>
        <p:spPr>
          <a:xfrm xmlns:a="http://schemas.openxmlformats.org/drawingml/2006/main">
            <a:off x="8362950" y="3390900"/>
            <a:ext cx="3048000" cy="1752600"/>
          </a:xfrm>
          <a:prstGeom xmlns:a="http://schemas.openxmlformats.org/drawingml/2006/main" prst="roundRect">
            <a:avLst>
              <a:gd name="adj" fmla="val 6522"/>
            </a:avLst>
          </a:prstGeom>
          <a:solidFill xmlns:a="http://schemas.openxmlformats.org/drawingml/2006/main">
            <a:srgbClr val="C1440E"/>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54585357-88AD-4FC1-B635-01810D88DC56}"/>
              </a:ext>
            </a:extLst>
          </p:cNvPr>
          <p:cNvSpPr>
            <a:spLocks xmlns:a="http://schemas.openxmlformats.org/drawingml/2006/main" noGrp="1"/>
          </p:cNvSpPr>
          <p:nvPr/>
        </p:nvSpPr>
        <p:spPr>
          <a:xfrm xmlns:a="http://schemas.openxmlformats.org/drawingml/2006/main">
            <a:off x="8572500" y="3581400"/>
            <a:ext cx="2628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LIVE EVIDENCE</a:t>
            </a:r>
          </a:p>
        </p:txBody>
      </p:sp>
      <p:sp>
        <p:nvSpPr>
          <p:cNvPr id="32" name="Rectangle 31">
            <a:extLst xmlns:a="http://schemas.openxmlformats.org/drawingml/2006/main">
              <a:ext uri="{FF2B5EF4-FFF2-40B4-BE49-F238E27FC236}">
                <a16:creationId xmlns:a16="http://schemas.microsoft.com/office/drawing/2014/main" id="{352F75C7-6706-464F-8AF5-3642445C577F}"/>
              </a:ext>
            </a:extLst>
          </p:cNvPr>
          <p:cNvSpPr>
            <a:spLocks xmlns:a="http://schemas.openxmlformats.org/drawingml/2006/main" noGrp="1"/>
          </p:cNvSpPr>
          <p:nvPr/>
        </p:nvSpPr>
        <p:spPr>
          <a:xfrm xmlns:a="http://schemas.openxmlformats.org/drawingml/2006/main">
            <a:off x="8572500" y="3905250"/>
            <a:ext cx="1162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FFFFFF"/>
                </a:solidFill>
                <a:latin typeface="Cambria"/>
                <a:ea typeface="Cambria"/>
                <a:cs typeface="Cambria"/>
              </a:defRPr>
            </a:pPr>
            <a:r>
              <a:rPr b="1">
                <a:solidFill>
                  <a:srgbClr val="FFFFFF"/>
                </a:solidFill>
                <a:latin typeface="Cambria"/>
                <a:ea typeface="Cambria"/>
                <a:cs typeface="Cambria"/>
              </a:rPr>
              <a:t>5</a:t>
            </a:r>
          </a:p>
        </p:txBody>
      </p:sp>
      <p:sp>
        <p:nvSpPr>
          <p:cNvPr id="33" name="Rectangle 32">
            <a:extLst xmlns:a="http://schemas.openxmlformats.org/drawingml/2006/main">
              <a:ext uri="{FF2B5EF4-FFF2-40B4-BE49-F238E27FC236}">
                <a16:creationId xmlns:a16="http://schemas.microsoft.com/office/drawing/2014/main" id="{38B88EA9-2716-4201-86C8-09EBD8734445}"/>
              </a:ext>
            </a:extLst>
          </p:cNvPr>
          <p:cNvSpPr>
            <a:spLocks xmlns:a="http://schemas.openxmlformats.org/drawingml/2006/main" noGrp="1"/>
          </p:cNvSpPr>
          <p:nvPr/>
        </p:nvSpPr>
        <p:spPr>
          <a:xfrm xmlns:a="http://schemas.openxmlformats.org/drawingml/2006/main">
            <a:off x="8572500" y="445770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0">
                <a:solidFill>
                  <a:srgbClr val="FFFFFF"/>
                </a:solidFill>
                <a:latin typeface="Calibri"/>
                <a:ea typeface="Calibri"/>
                <a:cs typeface="Calibri"/>
              </a:defRPr>
            </a:pPr>
            <a:r>
              <a:rPr b="0">
                <a:solidFill>
                  <a:srgbClr val="FFFFFF"/>
                </a:solidFill>
                <a:latin typeface="Calibri"/>
                <a:ea typeface="Calibri"/>
                <a:cs typeface="Calibri"/>
              </a:rPr>
              <a:t>measurements</a:t>
            </a:r>
          </a:p>
        </p:txBody>
      </p:sp>
      <p:sp>
        <p:nvSpPr>
          <p:cNvPr id="34" name="Rectangle 33">
            <a:extLst xmlns:a="http://schemas.openxmlformats.org/drawingml/2006/main">
              <a:ext uri="{FF2B5EF4-FFF2-40B4-BE49-F238E27FC236}">
                <a16:creationId xmlns:a16="http://schemas.microsoft.com/office/drawing/2014/main" id="{5F40E7E1-C74B-4580-87F0-296176279637}"/>
              </a:ext>
            </a:extLst>
          </p:cNvPr>
          <p:cNvSpPr>
            <a:spLocks xmlns:a="http://schemas.openxmlformats.org/drawingml/2006/main" noGrp="1"/>
          </p:cNvSpPr>
          <p:nvPr/>
        </p:nvSpPr>
        <p:spPr>
          <a:xfrm xmlns:a="http://schemas.openxmlformats.org/drawingml/2006/main">
            <a:off x="9963150" y="3905250"/>
            <a:ext cx="1162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FFFFFF"/>
                </a:solidFill>
                <a:latin typeface="Cambria"/>
                <a:ea typeface="Cambria"/>
                <a:cs typeface="Cambria"/>
              </a:defRPr>
            </a:pPr>
            <a:r>
              <a:rPr b="1">
                <a:solidFill>
                  <a:srgbClr val="FFFFFF"/>
                </a:solidFill>
                <a:latin typeface="Cambria"/>
                <a:ea typeface="Cambria"/>
                <a:cs typeface="Cambria"/>
              </a:rPr>
              <a:t>0</a:t>
            </a:r>
          </a:p>
        </p:txBody>
      </p:sp>
      <p:sp>
        <p:nvSpPr>
          <p:cNvPr id="35" name="Rectangle 34">
            <a:extLst xmlns:a="http://schemas.openxmlformats.org/drawingml/2006/main">
              <a:ext uri="{FF2B5EF4-FFF2-40B4-BE49-F238E27FC236}">
                <a16:creationId xmlns:a16="http://schemas.microsoft.com/office/drawing/2014/main" id="{5AA8EABA-7002-4CE9-BE30-6B24D4F67FD6}"/>
              </a:ext>
            </a:extLst>
          </p:cNvPr>
          <p:cNvSpPr>
            <a:spLocks xmlns:a="http://schemas.openxmlformats.org/drawingml/2006/main" noGrp="1"/>
          </p:cNvSpPr>
          <p:nvPr/>
        </p:nvSpPr>
        <p:spPr>
          <a:xfrm xmlns:a="http://schemas.openxmlformats.org/drawingml/2006/main">
            <a:off x="9963150" y="445770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0">
                <a:solidFill>
                  <a:srgbClr val="FFFFFF"/>
                </a:solidFill>
                <a:latin typeface="Calibri"/>
                <a:ea typeface="Calibri"/>
                <a:cs typeface="Calibri"/>
              </a:defRPr>
            </a:pPr>
            <a:r>
              <a:rPr b="0">
                <a:solidFill>
                  <a:srgbClr val="FFFFFF"/>
                </a:solidFill>
                <a:latin typeface="Calibri"/>
                <a:ea typeface="Calibri"/>
                <a:cs typeface="Calibri"/>
              </a:rPr>
              <a:t>events</a:t>
            </a:r>
          </a:p>
        </p:txBody>
      </p:sp>
      <p:sp>
        <p:nvSpPr>
          <p:cNvPr id="36" name="Rectangle 35">
            <a:extLst xmlns:a="http://schemas.openxmlformats.org/drawingml/2006/main">
              <a:ext uri="{FF2B5EF4-FFF2-40B4-BE49-F238E27FC236}">
                <a16:creationId xmlns:a16="http://schemas.microsoft.com/office/drawing/2014/main" id="{0F5D81CC-C232-460D-8389-E140CE3BFEE0}"/>
              </a:ext>
            </a:extLst>
          </p:cNvPr>
          <p:cNvSpPr>
            <a:spLocks xmlns:a="http://schemas.openxmlformats.org/drawingml/2006/main" noGrp="1"/>
          </p:cNvSpPr>
          <p:nvPr/>
        </p:nvSpPr>
        <p:spPr>
          <a:xfrm xmlns:a="http://schemas.openxmlformats.org/drawingml/2006/main">
            <a:off x="1047750" y="56197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This blocks automatic rerouting, event-backed audit history and violation-driven evaluation scenarios.</a:t>
            </a:r>
          </a:p>
        </p:txBody>
      </p:sp>
    </p:spTree>
    <p:extLst>
      <p:ext uri="{BB962C8B-B14F-4D97-AF65-F5344CB8AC3E}">
        <p14:creationId xmlns:p14="http://schemas.microsoft.com/office/powerpoint/2010/main" val="7127586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A6342B08-350C-42AE-AEEA-16E1174B2ABC}"/>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ROADMAP</a:t>
            </a:r>
          </a:p>
        </p:txBody>
      </p:sp>
      <p:sp>
        <p:nvSpPr>
          <p:cNvPr id="2" name="Rectangle 1">
            <a:extLst xmlns:a="http://schemas.openxmlformats.org/drawingml/2006/main">
              <a:ext uri="{FF2B5EF4-FFF2-40B4-BE49-F238E27FC236}">
                <a16:creationId xmlns:a16="http://schemas.microsoft.com/office/drawing/2014/main" id="{A9BD992F-6915-4620-BDEC-B1005F021BAE}"/>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Remaining work in priority order</a:t>
            </a:r>
          </a:p>
        </p:txBody>
      </p:sp>
      <p:sp>
        <p:nvSpPr>
          <p:cNvPr id="3" name="Rectangle 2">
            <a:extLst xmlns:a="http://schemas.openxmlformats.org/drawingml/2006/main">
              <a:ext uri="{FF2B5EF4-FFF2-40B4-BE49-F238E27FC236}">
                <a16:creationId xmlns:a16="http://schemas.microsoft.com/office/drawing/2014/main" id="{E539617D-E7C5-4D45-98AD-32D44DF4B8A2}"/>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The sequence protects the control loop and evaluation evidence before optional presentation features</a:t>
            </a:r>
          </a:p>
        </p:txBody>
      </p:sp>
      <p:sp>
        <p:nvSpPr>
          <p:cNvPr id="4" name="Rectangle 3">
            <a:extLst xmlns:a="http://schemas.openxmlformats.org/drawingml/2006/main">
              <a:ext uri="{FF2B5EF4-FFF2-40B4-BE49-F238E27FC236}">
                <a16:creationId xmlns:a16="http://schemas.microsoft.com/office/drawing/2014/main" id="{333B44F9-801B-412A-84B4-17DDC06869F1}"/>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C20D89F2-1590-413E-9072-996BB17DBA24}"/>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5107AC9E-B91D-4375-8077-0D1A63E2C2B5}"/>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5E493CFE-CBEC-4268-BBC3-C3A1A456C156}"/>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20</a:t>
            </a:r>
          </a:p>
        </p:txBody>
      </p:sp>
      <p:sp>
        <p:nvSpPr>
          <p:cNvPr id="8" name="Rectangle: Rounded Corners 7">
            <a:extLst xmlns:a="http://schemas.openxmlformats.org/drawingml/2006/main">
              <a:ext uri="{FF2B5EF4-FFF2-40B4-BE49-F238E27FC236}">
                <a16:creationId xmlns:a16="http://schemas.microsoft.com/office/drawing/2014/main" id="{1543F915-A3B2-4E84-8155-55C46156D573}"/>
              </a:ext>
            </a:extLst>
          </p:cNvPr>
          <p:cNvSpPr>
            <a:spLocks xmlns:a="http://schemas.openxmlformats.org/drawingml/2006/main" noGrp="1"/>
          </p:cNvSpPr>
          <p:nvPr/>
        </p:nvSpPr>
        <p:spPr>
          <a:xfrm xmlns:a="http://schemas.openxmlformats.org/drawingml/2006/main">
            <a:off x="666750" y="1657350"/>
            <a:ext cx="10668000" cy="647700"/>
          </a:xfrm>
          <a:prstGeom xmlns:a="http://schemas.openxmlformats.org/drawingml/2006/main" prst="roundRect">
            <a:avLst>
              <a:gd name="adj" fmla="val 17647"/>
            </a:avLst>
          </a:prstGeom>
          <a:solidFill xmlns:a="http://schemas.openxmlformats.org/drawingml/2006/main">
            <a:srgbClr val="FBEDE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76F2428B-E6AC-492E-8DB5-7C15C882BAB9}"/>
              </a:ext>
            </a:extLst>
          </p:cNvPr>
          <p:cNvSpPr>
            <a:spLocks xmlns:a="http://schemas.openxmlformats.org/drawingml/2006/main" noGrp="1"/>
          </p:cNvSpPr>
          <p:nvPr/>
        </p:nvSpPr>
        <p:spPr>
          <a:xfrm xmlns:a="http://schemas.openxmlformats.org/drawingml/2006/main">
            <a:off x="838200" y="18002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1</a:t>
            </a:r>
          </a:p>
        </p:txBody>
      </p:sp>
      <p:sp>
        <p:nvSpPr>
          <p:cNvPr id="10" name="Rectangle 9">
            <a:extLst xmlns:a="http://schemas.openxmlformats.org/drawingml/2006/main">
              <a:ext uri="{FF2B5EF4-FFF2-40B4-BE49-F238E27FC236}">
                <a16:creationId xmlns:a16="http://schemas.microsoft.com/office/drawing/2014/main" id="{2FA2B3E0-6170-4603-AA87-B6C53EF077C2}"/>
              </a:ext>
            </a:extLst>
          </p:cNvPr>
          <p:cNvSpPr>
            <a:spLocks xmlns:a="http://schemas.openxmlformats.org/drawingml/2006/main" noGrp="1"/>
          </p:cNvSpPr>
          <p:nvPr/>
        </p:nvSpPr>
        <p:spPr>
          <a:xfrm xmlns:a="http://schemas.openxmlformats.org/drawingml/2006/main">
            <a:off x="1524000" y="17526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Connect ST-7</a:t>
            </a:r>
          </a:p>
        </p:txBody>
      </p:sp>
      <p:sp>
        <p:nvSpPr>
          <p:cNvPr id="11" name="Rectangle 10">
            <a:extLst xmlns:a="http://schemas.openxmlformats.org/drawingml/2006/main">
              <a:ext uri="{FF2B5EF4-FFF2-40B4-BE49-F238E27FC236}">
                <a16:creationId xmlns:a16="http://schemas.microsoft.com/office/drawing/2014/main" id="{DEC8817F-86CC-435D-9B29-C8954F0B990B}"/>
              </a:ext>
            </a:extLst>
          </p:cNvPr>
          <p:cNvSpPr>
            <a:spLocks xmlns:a="http://schemas.openxmlformats.org/drawingml/2006/main" noGrp="1"/>
          </p:cNvSpPr>
          <p:nvPr/>
        </p:nvSpPr>
        <p:spPr>
          <a:xfrm xmlns:a="http://schemas.openxmlformats.org/drawingml/2006/main">
            <a:off x="4095750" y="178117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Persist and publish violations; run a live reroute</a:t>
            </a:r>
          </a:p>
        </p:txBody>
      </p:sp>
      <p:sp>
        <p:nvSpPr>
          <p:cNvPr id="12" name="Rectangle: Rounded Corners 11">
            <a:extLst xmlns:a="http://schemas.openxmlformats.org/drawingml/2006/main">
              <a:ext uri="{FF2B5EF4-FFF2-40B4-BE49-F238E27FC236}">
                <a16:creationId xmlns:a16="http://schemas.microsoft.com/office/drawing/2014/main" id="{3DA652AB-3C67-4091-9A03-E2575D936427}"/>
              </a:ext>
            </a:extLst>
          </p:cNvPr>
          <p:cNvSpPr>
            <a:spLocks xmlns:a="http://schemas.openxmlformats.org/drawingml/2006/main" noGrp="1"/>
          </p:cNvSpPr>
          <p:nvPr/>
        </p:nvSpPr>
        <p:spPr>
          <a:xfrm xmlns:a="http://schemas.openxmlformats.org/drawingml/2006/main">
            <a:off x="666750" y="2476500"/>
            <a:ext cx="10668000" cy="647700"/>
          </a:xfrm>
          <a:prstGeom xmlns:a="http://schemas.openxmlformats.org/drawingml/2006/main" prst="roundRect">
            <a:avLst>
              <a:gd name="adj" fmla="val 1764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E3D28C5E-51CE-4DB6-ADF4-AD6CB44314A8}"/>
              </a:ext>
            </a:extLst>
          </p:cNvPr>
          <p:cNvSpPr>
            <a:spLocks xmlns:a="http://schemas.openxmlformats.org/drawingml/2006/main" noGrp="1"/>
          </p:cNvSpPr>
          <p:nvPr/>
        </p:nvSpPr>
        <p:spPr>
          <a:xfrm xmlns:a="http://schemas.openxmlformats.org/drawingml/2006/main">
            <a:off x="838200" y="2619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2</a:t>
            </a:r>
          </a:p>
        </p:txBody>
      </p:sp>
      <p:sp>
        <p:nvSpPr>
          <p:cNvPr id="14" name="Rectangle 13">
            <a:extLst xmlns:a="http://schemas.openxmlformats.org/drawingml/2006/main">
              <a:ext uri="{FF2B5EF4-FFF2-40B4-BE49-F238E27FC236}">
                <a16:creationId xmlns:a16="http://schemas.microsoft.com/office/drawing/2014/main" id="{103C8F2E-D162-4DF8-9DFE-2999D4482B79}"/>
              </a:ext>
            </a:extLst>
          </p:cNvPr>
          <p:cNvSpPr>
            <a:spLocks xmlns:a="http://schemas.openxmlformats.org/drawingml/2006/main" noGrp="1"/>
          </p:cNvSpPr>
          <p:nvPr/>
        </p:nvSpPr>
        <p:spPr>
          <a:xfrm xmlns:a="http://schemas.openxmlformats.org/drawingml/2006/main">
            <a:off x="1524000" y="25717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Start evaluation</a:t>
            </a:r>
          </a:p>
        </p:txBody>
      </p:sp>
      <p:sp>
        <p:nvSpPr>
          <p:cNvPr id="15" name="Rectangle 14">
            <a:extLst xmlns:a="http://schemas.openxmlformats.org/drawingml/2006/main">
              <a:ext uri="{FF2B5EF4-FFF2-40B4-BE49-F238E27FC236}">
                <a16:creationId xmlns:a16="http://schemas.microsoft.com/office/drawing/2014/main" id="{34A8B008-180E-4667-838B-D2BBD2550CDF}"/>
              </a:ext>
            </a:extLst>
          </p:cNvPr>
          <p:cNvSpPr>
            <a:spLocks xmlns:a="http://schemas.openxmlformats.org/drawingml/2006/main" noGrp="1"/>
          </p:cNvSpPr>
          <p:nvPr/>
        </p:nvSpPr>
        <p:spPr>
          <a:xfrm xmlns:a="http://schemas.openxmlformats.org/drawingml/2006/main">
            <a:off x="4095750" y="260032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Automate repeated runs and capture raw results</a:t>
            </a:r>
          </a:p>
        </p:txBody>
      </p:sp>
      <p:sp>
        <p:nvSpPr>
          <p:cNvPr id="16" name="Rectangle: Rounded Corners 15">
            <a:extLst xmlns:a="http://schemas.openxmlformats.org/drawingml/2006/main">
              <a:ext uri="{FF2B5EF4-FFF2-40B4-BE49-F238E27FC236}">
                <a16:creationId xmlns:a16="http://schemas.microsoft.com/office/drawing/2014/main" id="{46463A1B-3501-49DD-AA40-123A6C2C90CA}"/>
              </a:ext>
            </a:extLst>
          </p:cNvPr>
          <p:cNvSpPr>
            <a:spLocks xmlns:a="http://schemas.openxmlformats.org/drawingml/2006/main" noGrp="1"/>
          </p:cNvSpPr>
          <p:nvPr/>
        </p:nvSpPr>
        <p:spPr>
          <a:xfrm xmlns:a="http://schemas.openxmlformats.org/drawingml/2006/main">
            <a:off x="666750" y="3295650"/>
            <a:ext cx="10668000" cy="647700"/>
          </a:xfrm>
          <a:prstGeom xmlns:a="http://schemas.openxmlformats.org/drawingml/2006/main" prst="roundRect">
            <a:avLst>
              <a:gd name="adj" fmla="val 1764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C92DC62C-AAC1-4CD5-863D-EAFD53F1848F}"/>
              </a:ext>
            </a:extLst>
          </p:cNvPr>
          <p:cNvSpPr>
            <a:spLocks xmlns:a="http://schemas.openxmlformats.org/drawingml/2006/main" noGrp="1"/>
          </p:cNvSpPr>
          <p:nvPr/>
        </p:nvSpPr>
        <p:spPr>
          <a:xfrm xmlns:a="http://schemas.openxmlformats.org/drawingml/2006/main">
            <a:off x="838200" y="34385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3</a:t>
            </a:r>
          </a:p>
        </p:txBody>
      </p:sp>
      <p:sp>
        <p:nvSpPr>
          <p:cNvPr id="18" name="Rectangle 17">
            <a:extLst xmlns:a="http://schemas.openxmlformats.org/drawingml/2006/main">
              <a:ext uri="{FF2B5EF4-FFF2-40B4-BE49-F238E27FC236}">
                <a16:creationId xmlns:a16="http://schemas.microsoft.com/office/drawing/2014/main" id="{A361803D-4C37-4B9F-BA42-0CB6DF6ED36F}"/>
              </a:ext>
            </a:extLst>
          </p:cNvPr>
          <p:cNvSpPr>
            <a:spLocks xmlns:a="http://schemas.openxmlformats.org/drawingml/2006/main" noGrp="1"/>
          </p:cNvSpPr>
          <p:nvPr/>
        </p:nvSpPr>
        <p:spPr>
          <a:xfrm xmlns:a="http://schemas.openxmlformats.org/drawingml/2006/main">
            <a:off x="1524000" y="33909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Add admission</a:t>
            </a:r>
          </a:p>
        </p:txBody>
      </p:sp>
      <p:sp>
        <p:nvSpPr>
          <p:cNvPr id="19" name="Rectangle 18">
            <a:extLst xmlns:a="http://schemas.openxmlformats.org/drawingml/2006/main">
              <a:ext uri="{FF2B5EF4-FFF2-40B4-BE49-F238E27FC236}">
                <a16:creationId xmlns:a16="http://schemas.microsoft.com/office/drawing/2014/main" id="{D1AEE7C7-718F-46D3-A53D-CD8FB5C58E5D}"/>
              </a:ext>
            </a:extLst>
          </p:cNvPr>
          <p:cNvSpPr>
            <a:spLocks xmlns:a="http://schemas.openxmlformats.org/drawingml/2006/main" noGrp="1"/>
          </p:cNvSpPr>
          <p:nvPr/>
        </p:nvSpPr>
        <p:spPr>
          <a:xfrm xmlns:a="http://schemas.openxmlformats.org/drawingml/2006/main">
            <a:off x="4095750" y="341947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Stop accepting promises the network cannot support</a:t>
            </a:r>
          </a:p>
        </p:txBody>
      </p:sp>
      <p:sp>
        <p:nvSpPr>
          <p:cNvPr id="20" name="Rectangle: Rounded Corners 19">
            <a:extLst xmlns:a="http://schemas.openxmlformats.org/drawingml/2006/main">
              <a:ext uri="{FF2B5EF4-FFF2-40B4-BE49-F238E27FC236}">
                <a16:creationId xmlns:a16="http://schemas.microsoft.com/office/drawing/2014/main" id="{56A42981-F881-4E86-B15C-5C2B80F8B649}"/>
              </a:ext>
            </a:extLst>
          </p:cNvPr>
          <p:cNvSpPr>
            <a:spLocks xmlns:a="http://schemas.openxmlformats.org/drawingml/2006/main" noGrp="1"/>
          </p:cNvSpPr>
          <p:nvPr/>
        </p:nvSpPr>
        <p:spPr>
          <a:xfrm xmlns:a="http://schemas.openxmlformats.org/drawingml/2006/main">
            <a:off x="666750" y="4114800"/>
            <a:ext cx="10668000" cy="647700"/>
          </a:xfrm>
          <a:prstGeom xmlns:a="http://schemas.openxmlformats.org/drawingml/2006/main" prst="roundRect">
            <a:avLst>
              <a:gd name="adj" fmla="val 1764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3F94F160-1205-48F3-A83A-329D21D8DC90}"/>
              </a:ext>
            </a:extLst>
          </p:cNvPr>
          <p:cNvSpPr>
            <a:spLocks xmlns:a="http://schemas.openxmlformats.org/drawingml/2006/main" noGrp="1"/>
          </p:cNvSpPr>
          <p:nvPr/>
        </p:nvSpPr>
        <p:spPr>
          <a:xfrm xmlns:a="http://schemas.openxmlformats.org/drawingml/2006/main">
            <a:off x="838200" y="42576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4</a:t>
            </a:r>
          </a:p>
        </p:txBody>
      </p:sp>
      <p:sp>
        <p:nvSpPr>
          <p:cNvPr id="22" name="Rectangle 21">
            <a:extLst xmlns:a="http://schemas.openxmlformats.org/drawingml/2006/main">
              <a:ext uri="{FF2B5EF4-FFF2-40B4-BE49-F238E27FC236}">
                <a16:creationId xmlns:a16="http://schemas.microsoft.com/office/drawing/2014/main" id="{03709D92-4C3F-41AC-8C29-C47F36637DA6}"/>
              </a:ext>
            </a:extLst>
          </p:cNvPr>
          <p:cNvSpPr>
            <a:spLocks xmlns:a="http://schemas.openxmlformats.org/drawingml/2006/main" noGrp="1"/>
          </p:cNvSpPr>
          <p:nvPr/>
        </p:nvSpPr>
        <p:spPr>
          <a:xfrm xmlns:a="http://schemas.openxmlformats.org/drawingml/2006/main">
            <a:off x="1524000" y="42100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Test real load</a:t>
            </a:r>
          </a:p>
        </p:txBody>
      </p:sp>
      <p:sp>
        <p:nvSpPr>
          <p:cNvPr id="23" name="Rectangle 22">
            <a:extLst xmlns:a="http://schemas.openxmlformats.org/drawingml/2006/main">
              <a:ext uri="{FF2B5EF4-FFF2-40B4-BE49-F238E27FC236}">
                <a16:creationId xmlns:a16="http://schemas.microsoft.com/office/drawing/2014/main" id="{9494587D-D2B8-4856-8CFE-6A4219F30C8A}"/>
              </a:ext>
            </a:extLst>
          </p:cNvPr>
          <p:cNvSpPr>
            <a:spLocks xmlns:a="http://schemas.openxmlformats.org/drawingml/2006/main" noGrp="1"/>
          </p:cNvSpPr>
          <p:nvPr/>
        </p:nvSpPr>
        <p:spPr>
          <a:xfrm xmlns:a="http://schemas.openxmlformats.org/drawingml/2006/main">
            <a:off x="4095750" y="423862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Bind SET_QUEUE and drive sustained iperf3 traffic</a:t>
            </a:r>
          </a:p>
        </p:txBody>
      </p:sp>
      <p:sp>
        <p:nvSpPr>
          <p:cNvPr id="24" name="Rectangle: Rounded Corners 23">
            <a:extLst xmlns:a="http://schemas.openxmlformats.org/drawingml/2006/main">
              <a:ext uri="{FF2B5EF4-FFF2-40B4-BE49-F238E27FC236}">
                <a16:creationId xmlns:a16="http://schemas.microsoft.com/office/drawing/2014/main" id="{64C31F8B-3742-4EEF-B7E1-1F9AB3571333}"/>
              </a:ext>
            </a:extLst>
          </p:cNvPr>
          <p:cNvSpPr>
            <a:spLocks xmlns:a="http://schemas.openxmlformats.org/drawingml/2006/main" noGrp="1"/>
          </p:cNvSpPr>
          <p:nvPr/>
        </p:nvSpPr>
        <p:spPr>
          <a:xfrm xmlns:a="http://schemas.openxmlformats.org/drawingml/2006/main">
            <a:off x="666750" y="4933950"/>
            <a:ext cx="10668000" cy="647700"/>
          </a:xfrm>
          <a:prstGeom xmlns:a="http://schemas.openxmlformats.org/drawingml/2006/main" prst="roundRect">
            <a:avLst>
              <a:gd name="adj" fmla="val 17647"/>
            </a:avLst>
          </a:prstGeom>
          <a:solidFill xmlns:a="http://schemas.openxmlformats.org/drawingml/2006/main">
            <a:srgbClr val="F4F7F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C9FC3E7C-8F2E-41E7-A1D2-CFDDD22E01B2}"/>
              </a:ext>
            </a:extLst>
          </p:cNvPr>
          <p:cNvSpPr>
            <a:spLocks xmlns:a="http://schemas.openxmlformats.org/drawingml/2006/main" noGrp="1"/>
          </p:cNvSpPr>
          <p:nvPr/>
        </p:nvSpPr>
        <p:spPr>
          <a:xfrm xmlns:a="http://schemas.openxmlformats.org/drawingml/2006/main">
            <a:off x="838200" y="50768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5</a:t>
            </a:r>
          </a:p>
        </p:txBody>
      </p:sp>
      <p:sp>
        <p:nvSpPr>
          <p:cNvPr id="26" name="Rectangle 25">
            <a:extLst xmlns:a="http://schemas.openxmlformats.org/drawingml/2006/main">
              <a:ext uri="{FF2B5EF4-FFF2-40B4-BE49-F238E27FC236}">
                <a16:creationId xmlns:a16="http://schemas.microsoft.com/office/drawing/2014/main" id="{6FA68C3E-6BB1-4944-8728-AA6689790822}"/>
              </a:ext>
            </a:extLst>
          </p:cNvPr>
          <p:cNvSpPr>
            <a:spLocks xmlns:a="http://schemas.openxmlformats.org/drawingml/2006/main" noGrp="1"/>
          </p:cNvSpPr>
          <p:nvPr/>
        </p:nvSpPr>
        <p:spPr>
          <a:xfrm xmlns:a="http://schemas.openxmlformats.org/drawingml/2006/main">
            <a:off x="1524000" y="50292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Complete policies</a:t>
            </a:r>
          </a:p>
        </p:txBody>
      </p:sp>
      <p:sp>
        <p:nvSpPr>
          <p:cNvPr id="27" name="Rectangle 26">
            <a:extLst xmlns:a="http://schemas.openxmlformats.org/drawingml/2006/main">
              <a:ext uri="{FF2B5EF4-FFF2-40B4-BE49-F238E27FC236}">
                <a16:creationId xmlns:a16="http://schemas.microsoft.com/office/drawing/2014/main" id="{92682205-ECDB-4F4B-ADB1-A8628B8E1AC2}"/>
              </a:ext>
            </a:extLst>
          </p:cNvPr>
          <p:cNvSpPr>
            <a:spLocks xmlns:a="http://schemas.openxmlformats.org/drawingml/2006/main" noGrp="1"/>
          </p:cNvSpPr>
          <p:nvPr/>
        </p:nvSpPr>
        <p:spPr>
          <a:xfrm xmlns:a="http://schemas.openxmlformats.org/drawingml/2006/main">
            <a:off x="4095750" y="5057775"/>
            <a:ext cx="695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Preemption, two-phase update, then dashboard</a:t>
            </a:r>
          </a:p>
        </p:txBody>
      </p:sp>
      <p:sp>
        <p:nvSpPr>
          <p:cNvPr id="28" name="Rectangle: Rounded Corners 27">
            <a:extLst xmlns:a="http://schemas.openxmlformats.org/drawingml/2006/main">
              <a:ext uri="{FF2B5EF4-FFF2-40B4-BE49-F238E27FC236}">
                <a16:creationId xmlns:a16="http://schemas.microsoft.com/office/drawing/2014/main" id="{A016BF0C-E2A2-411E-8E22-39930B97F419}"/>
              </a:ext>
            </a:extLst>
          </p:cNvPr>
          <p:cNvSpPr>
            <a:spLocks xmlns:a="http://schemas.openxmlformats.org/drawingml/2006/main" noGrp="1"/>
          </p:cNvSpPr>
          <p:nvPr/>
        </p:nvSpPr>
        <p:spPr>
          <a:xfrm xmlns:a="http://schemas.openxmlformats.org/drawingml/2006/main">
            <a:off x="2190750" y="5867400"/>
            <a:ext cx="7810500" cy="323850"/>
          </a:xfrm>
          <a:prstGeom xmlns:a="http://schemas.openxmlformats.org/drawingml/2006/main" prst="roundRect">
            <a:avLst>
              <a:gd name="adj" fmla="val 23529"/>
            </a:avLst>
          </a:prstGeom>
          <a:solidFill xmlns:a="http://schemas.openxmlformats.org/drawingml/2006/main">
            <a:srgbClr val="2129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E6596EE1-8447-4469-97E8-36508DE4EDEE}"/>
              </a:ext>
            </a:extLst>
          </p:cNvPr>
          <p:cNvSpPr>
            <a:spLocks xmlns:a="http://schemas.openxmlformats.org/drawingml/2006/main" noGrp="1"/>
          </p:cNvSpPr>
          <p:nvPr/>
        </p:nvSpPr>
        <p:spPr>
          <a:xfrm xmlns:a="http://schemas.openxmlformats.org/drawingml/2006/main">
            <a:off x="2362200" y="5934075"/>
            <a:ext cx="746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FFFFFF"/>
                </a:solidFill>
                <a:latin typeface="Calibri"/>
                <a:ea typeface="Calibri"/>
                <a:cs typeface="Calibri"/>
              </a:defRPr>
            </a:pPr>
            <a:r>
              <a:rPr b="1">
                <a:solidFill>
                  <a:srgbClr val="FFFFFF"/>
                </a:solidFill>
                <a:latin typeface="Calibri"/>
                <a:ea typeface="Calibri"/>
                <a:cs typeface="Calibri"/>
              </a:rPr>
              <a:t>If time contracts, protect measurement work and defer the dashboard.</a:t>
            </a:r>
          </a:p>
        </p:txBody>
      </p:sp>
    </p:spTree>
    <p:extLst>
      <p:ext uri="{BB962C8B-B14F-4D97-AF65-F5344CB8AC3E}">
        <p14:creationId xmlns:p14="http://schemas.microsoft.com/office/powerpoint/2010/main" val="9255436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824D2FA4-06E2-4915-A586-7012B0954D8B}"/>
              </a:ext>
            </a:extLst>
          </p:cNvPr>
          <p:cNvSpPr>
            <a:spLocks xmlns:a="http://schemas.openxmlformats.org/drawingml/2006/main" noGrp="1"/>
          </p:cNvSpPr>
          <p:nvPr/>
        </p:nvSpPr>
        <p:spPr>
          <a:xfrm xmlns:a="http://schemas.openxmlformats.org/drawingml/2006/main">
            <a:off x="590550" y="3238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3056"/>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DEMONSTRATION</a:t>
            </a:r>
          </a:p>
        </p:txBody>
      </p:sp>
      <p:sp>
        <p:nvSpPr>
          <p:cNvPr id="2" name="Rectangle 1">
            <a:extLst xmlns:a="http://schemas.openxmlformats.org/drawingml/2006/main">
              <a:ext uri="{FF2B5EF4-FFF2-40B4-BE49-F238E27FC236}">
                <a16:creationId xmlns:a16="http://schemas.microsoft.com/office/drawing/2014/main" id="{5F8B841C-33ED-4CA4-9506-5298B7C202B3}"/>
              </a:ext>
            </a:extLst>
          </p:cNvPr>
          <p:cNvSpPr>
            <a:spLocks xmlns:a="http://schemas.openxmlformats.org/drawingml/2006/main" noGrp="1"/>
          </p:cNvSpPr>
          <p:nvPr/>
        </p:nvSpPr>
        <p:spPr>
          <a:xfrm xmlns:a="http://schemas.openxmlformats.org/drawingml/2006/main">
            <a:off x="590550" y="5524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21295C"/>
                </a:solidFill>
                <a:latin typeface="Cambria"/>
                <a:ea typeface="Cambria"/>
                <a:cs typeface="Cambria"/>
              </a:defRPr>
            </a:pPr>
            <a:r>
              <a:rPr b="1">
                <a:solidFill>
                  <a:srgbClr val="21295C"/>
                </a:solidFill>
                <a:latin typeface="Cambria"/>
                <a:ea typeface="Cambria"/>
                <a:cs typeface="Cambria"/>
              </a:rPr>
              <a:t>Demonstration</a:t>
            </a:r>
          </a:p>
        </p:txBody>
      </p:sp>
      <p:sp>
        <p:nvSpPr>
          <p:cNvPr id="3" name="Rectangle 2">
            <a:extLst xmlns:a="http://schemas.openxmlformats.org/drawingml/2006/main">
              <a:ext uri="{FF2B5EF4-FFF2-40B4-BE49-F238E27FC236}">
                <a16:creationId xmlns:a16="http://schemas.microsoft.com/office/drawing/2014/main" id="{035D842E-E87F-4D46-B55F-B7FA5508A596}"/>
              </a:ext>
            </a:extLst>
          </p:cNvPr>
          <p:cNvSpPr>
            <a:spLocks xmlns:a="http://schemas.openxmlformats.org/drawingml/2006/main" noGrp="1"/>
          </p:cNvSpPr>
          <p:nvPr/>
        </p:nvSpPr>
        <p:spPr>
          <a:xfrm xmlns:a="http://schemas.openxmlformats.org/drawingml/2006/main">
            <a:off x="590550" y="10096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Three commands show deterministic decisions, live enforcement and the persistence gap</a:t>
            </a:r>
          </a:p>
        </p:txBody>
      </p:sp>
      <p:sp>
        <p:nvSpPr>
          <p:cNvPr id="4" name="Rectangle 3">
            <a:extLst xmlns:a="http://schemas.openxmlformats.org/drawingml/2006/main">
              <a:ext uri="{FF2B5EF4-FFF2-40B4-BE49-F238E27FC236}">
                <a16:creationId xmlns:a16="http://schemas.microsoft.com/office/drawing/2014/main" id="{B2B98CE2-E96F-4BD3-B76F-0DE6898F33E1}"/>
              </a:ext>
            </a:extLst>
          </p:cNvPr>
          <p:cNvSpPr>
            <a:spLocks xmlns:a="http://schemas.openxmlformats.org/drawingml/2006/main" noGrp="1"/>
          </p:cNvSpPr>
          <p:nvPr/>
        </p:nvSpPr>
        <p:spPr>
          <a:xfrm xmlns:a="http://schemas.openxmlformats.org/drawingml/2006/main">
            <a:off x="590550" y="1343025"/>
            <a:ext cx="11010900" cy="19050"/>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56907B94-13DF-49D8-B14A-CE71ACE41908}"/>
              </a:ext>
            </a:extLst>
          </p:cNvPr>
          <p:cNvSpPr>
            <a:spLocks xmlns:a="http://schemas.openxmlformats.org/drawingml/2006/main" noGrp="1"/>
          </p:cNvSpPr>
          <p:nvPr/>
        </p:nvSpPr>
        <p:spPr>
          <a:xfrm xmlns:a="http://schemas.openxmlformats.org/drawingml/2006/main">
            <a:off x="590550" y="6457950"/>
            <a:ext cx="11010900" cy="9525"/>
          </a:xfrm>
          <a:prstGeom xmlns:a="http://schemas.openxmlformats.org/drawingml/2006/main" prst="rect">
            <a:avLst/>
          </a:prstGeom>
          <a:solidFill xmlns:a="http://schemas.openxmlformats.org/drawingml/2006/main">
            <a:srgbClr val="CDD7D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16485C04-3020-43D5-BAB8-9D9B11CCF3C0}"/>
              </a:ext>
            </a:extLst>
          </p:cNvPr>
          <p:cNvSpPr>
            <a:spLocks xmlns:a="http://schemas.openxmlformats.org/drawingml/2006/main" noGrp="1"/>
          </p:cNvSpPr>
          <p:nvPr/>
        </p:nvSpPr>
        <p:spPr>
          <a:xfrm xmlns:a="http://schemas.openxmlformats.org/drawingml/2006/main">
            <a:off x="590550"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0">
                <a:solidFill>
                  <a:srgbClr val="667281"/>
                </a:solidFill>
                <a:latin typeface="Calibri"/>
                <a:ea typeface="Calibri"/>
                <a:cs typeface="Calibri"/>
              </a:defRPr>
            </a:pPr>
            <a:r>
              <a:rPr b="0">
                <a:solidFill>
                  <a:srgbClr val="667281"/>
                </a:solidFill>
                <a:latin typeface="Calibri"/>
                <a:ea typeface="Calibri"/>
                <a:cs typeface="Calibri"/>
              </a:rPr>
              <a:t>Intent-Based SDN for 5G SLA Enforcement</a:t>
            </a:r>
          </a:p>
        </p:txBody>
      </p:sp>
      <p:sp>
        <p:nvSpPr>
          <p:cNvPr id="7" name="Rectangle 6">
            <a:extLst xmlns:a="http://schemas.openxmlformats.org/drawingml/2006/main">
              <a:ext uri="{FF2B5EF4-FFF2-40B4-BE49-F238E27FC236}">
                <a16:creationId xmlns:a16="http://schemas.microsoft.com/office/drawing/2014/main" id="{22D1FA55-2C51-43CC-822B-DEF0CD3245CA}"/>
              </a:ext>
            </a:extLst>
          </p:cNvPr>
          <p:cNvSpPr>
            <a:spLocks xmlns:a="http://schemas.openxmlformats.org/drawingml/2006/main" noGrp="1"/>
          </p:cNvSpPr>
          <p:nvPr/>
        </p:nvSpPr>
        <p:spPr>
          <a:xfrm xmlns:a="http://schemas.openxmlformats.org/drawingml/2006/main">
            <a:off x="11144250" y="65341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36111"/>
          </a:bodyPr>
          <a:lstStyle xmlns:a="http://schemas.openxmlformats.org/drawingml/2006/main"/>
          <a:p xmlns:a="http://schemas.openxmlformats.org/drawingml/2006/main">
            <a:pPr>
              <a:buNone/>
              <a:defRPr b="1">
                <a:solidFill>
                  <a:srgbClr val="667281"/>
                </a:solidFill>
                <a:latin typeface="Calibri"/>
                <a:ea typeface="Calibri"/>
                <a:cs typeface="Calibri"/>
              </a:defRPr>
            </a:pPr>
            <a:r>
              <a:rPr b="1">
                <a:solidFill>
                  <a:srgbClr val="667281"/>
                </a:solidFill>
                <a:latin typeface="Calibri"/>
                <a:ea typeface="Calibri"/>
                <a:cs typeface="Calibri"/>
              </a:rPr>
              <a:t>21</a:t>
            </a:r>
          </a:p>
        </p:txBody>
      </p:sp>
      <p:sp>
        <p:nvSpPr>
          <p:cNvPr id="8" name="Rectangle: Rounded Corners 7">
            <a:extLst xmlns:a="http://schemas.openxmlformats.org/drawingml/2006/main">
              <a:ext uri="{FF2B5EF4-FFF2-40B4-BE49-F238E27FC236}">
                <a16:creationId xmlns:a16="http://schemas.microsoft.com/office/drawing/2014/main" id="{156FF78E-C7EE-4DD2-9DA5-F6FEEC755690}"/>
              </a:ext>
            </a:extLst>
          </p:cNvPr>
          <p:cNvSpPr>
            <a:spLocks xmlns:a="http://schemas.openxmlformats.org/drawingml/2006/main" noGrp="1"/>
          </p:cNvSpPr>
          <p:nvPr/>
        </p:nvSpPr>
        <p:spPr>
          <a:xfrm xmlns:a="http://schemas.openxmlformats.org/drawingml/2006/main">
            <a:off x="666750" y="1809750"/>
            <a:ext cx="10668000" cy="1009650"/>
          </a:xfrm>
          <a:prstGeom xmlns:a="http://schemas.openxmlformats.org/drawingml/2006/main" prst="roundRect">
            <a:avLst>
              <a:gd name="adj" fmla="val 13208"/>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58DBE503-1EF3-4A27-92B2-3FAE382CB7F4}"/>
              </a:ext>
            </a:extLst>
          </p:cNvPr>
          <p:cNvSpPr>
            <a:spLocks xmlns:a="http://schemas.openxmlformats.org/drawingml/2006/main" noGrp="1"/>
          </p:cNvSpPr>
          <p:nvPr/>
        </p:nvSpPr>
        <p:spPr>
          <a:xfrm xmlns:a="http://schemas.openxmlformats.org/drawingml/2006/main">
            <a:off x="857250" y="204787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1</a:t>
            </a:r>
          </a:p>
        </p:txBody>
      </p:sp>
      <p:sp>
        <p:nvSpPr>
          <p:cNvPr id="10" name="Rectangle 9">
            <a:extLst xmlns:a="http://schemas.openxmlformats.org/drawingml/2006/main">
              <a:ext uri="{FF2B5EF4-FFF2-40B4-BE49-F238E27FC236}">
                <a16:creationId xmlns:a16="http://schemas.microsoft.com/office/drawing/2014/main" id="{5CE39E1A-B9FB-4339-B2EB-F5AD8EF2D8B4}"/>
              </a:ext>
            </a:extLst>
          </p:cNvPr>
          <p:cNvSpPr>
            <a:spLocks xmlns:a="http://schemas.openxmlformats.org/drawingml/2006/main" noGrp="1"/>
          </p:cNvSpPr>
          <p:nvPr/>
        </p:nvSpPr>
        <p:spPr>
          <a:xfrm xmlns:a="http://schemas.openxmlformats.org/drawingml/2006/main">
            <a:off x="1676400" y="19716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Software pipeline</a:t>
            </a:r>
          </a:p>
        </p:txBody>
      </p:sp>
      <p:sp>
        <p:nvSpPr>
          <p:cNvPr id="11" name="Rectangle 10">
            <a:extLst xmlns:a="http://schemas.openxmlformats.org/drawingml/2006/main">
              <a:ext uri="{FF2B5EF4-FFF2-40B4-BE49-F238E27FC236}">
                <a16:creationId xmlns:a16="http://schemas.microsoft.com/office/drawing/2014/main" id="{66C87C27-489E-48DE-8C30-25E87E3C174D}"/>
              </a:ext>
            </a:extLst>
          </p:cNvPr>
          <p:cNvSpPr>
            <a:spLocks xmlns:a="http://schemas.openxmlformats.org/drawingml/2006/main" noGrp="1"/>
          </p:cNvSpPr>
          <p:nvPr/>
        </p:nvSpPr>
        <p:spPr>
          <a:xfrm xmlns:a="http://schemas.openxmlformats.org/drawingml/2006/main">
            <a:off x="4533900" y="19812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065A82"/>
                </a:solidFill>
                <a:latin typeface="Courier New"/>
                <a:ea typeface="Courier New"/>
                <a:cs typeface="Courier New"/>
              </a:defRPr>
            </a:pPr>
            <a:r>
              <a:rPr b="1">
                <a:solidFill>
                  <a:srgbClr val="065A82"/>
                </a:solidFill>
                <a:latin typeface="Courier New"/>
                <a:ea typeface="Courier New"/>
                <a:cs typeface="Courier New"/>
              </a:rPr>
              <a:t>python demo_st4.py</a:t>
            </a:r>
          </a:p>
        </p:txBody>
      </p:sp>
      <p:sp>
        <p:nvSpPr>
          <p:cNvPr id="12" name="Rectangle 11">
            <a:extLst xmlns:a="http://schemas.openxmlformats.org/drawingml/2006/main">
              <a:ext uri="{FF2B5EF4-FFF2-40B4-BE49-F238E27FC236}">
                <a16:creationId xmlns:a16="http://schemas.microsoft.com/office/drawing/2014/main" id="{2DE54E98-22E0-41B3-8740-DE6213F84E67}"/>
              </a:ext>
            </a:extLst>
          </p:cNvPr>
          <p:cNvSpPr>
            <a:spLocks xmlns:a="http://schemas.openxmlformats.org/drawingml/2006/main" noGrp="1"/>
          </p:cNvSpPr>
          <p:nvPr/>
        </p:nvSpPr>
        <p:spPr>
          <a:xfrm xmlns:a="http://schemas.openxmlformats.org/drawingml/2006/main">
            <a:off x="4533900" y="23241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Validation, route selection and refusal with reasons</a:t>
            </a:r>
          </a:p>
        </p:txBody>
      </p:sp>
      <p:sp>
        <p:nvSpPr>
          <p:cNvPr id="13" name="Rectangle: Rounded Corners 12">
            <a:extLst xmlns:a="http://schemas.openxmlformats.org/drawingml/2006/main">
              <a:ext uri="{FF2B5EF4-FFF2-40B4-BE49-F238E27FC236}">
                <a16:creationId xmlns:a16="http://schemas.microsoft.com/office/drawing/2014/main" id="{4BA4AFC7-3F2B-47B1-BBF0-62109AF3A8E3}"/>
              </a:ext>
            </a:extLst>
          </p:cNvPr>
          <p:cNvSpPr>
            <a:spLocks xmlns:a="http://schemas.openxmlformats.org/drawingml/2006/main" noGrp="1"/>
          </p:cNvSpPr>
          <p:nvPr/>
        </p:nvSpPr>
        <p:spPr>
          <a:xfrm xmlns:a="http://schemas.openxmlformats.org/drawingml/2006/main">
            <a:off x="666750" y="3067050"/>
            <a:ext cx="10668000" cy="1009650"/>
          </a:xfrm>
          <a:prstGeom xmlns:a="http://schemas.openxmlformats.org/drawingml/2006/main" prst="roundRect">
            <a:avLst>
              <a:gd name="adj" fmla="val 13208"/>
            </a:avLst>
          </a:prstGeom>
          <a:solidFill xmlns:a="http://schemas.openxmlformats.org/drawingml/2006/main">
            <a:srgbClr val="E8EFF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CC76FFCE-CA0E-49B2-A51D-3B71BBF07929}"/>
              </a:ext>
            </a:extLst>
          </p:cNvPr>
          <p:cNvSpPr>
            <a:spLocks xmlns:a="http://schemas.openxmlformats.org/drawingml/2006/main" noGrp="1"/>
          </p:cNvSpPr>
          <p:nvPr/>
        </p:nvSpPr>
        <p:spPr>
          <a:xfrm xmlns:a="http://schemas.openxmlformats.org/drawingml/2006/main">
            <a:off x="857250" y="330517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1C7293"/>
                </a:solidFill>
                <a:latin typeface="Calibri"/>
                <a:ea typeface="Calibri"/>
                <a:cs typeface="Calibri"/>
              </a:defRPr>
            </a:pPr>
            <a:r>
              <a:rPr b="1">
                <a:solidFill>
                  <a:srgbClr val="1C7293"/>
                </a:solidFill>
                <a:latin typeface="Calibri"/>
                <a:ea typeface="Calibri"/>
                <a:cs typeface="Calibri"/>
              </a:rPr>
              <a:t>2</a:t>
            </a:r>
          </a:p>
        </p:txBody>
      </p:sp>
      <p:sp>
        <p:nvSpPr>
          <p:cNvPr id="15" name="Rectangle 14">
            <a:extLst xmlns:a="http://schemas.openxmlformats.org/drawingml/2006/main">
              <a:ext uri="{FF2B5EF4-FFF2-40B4-BE49-F238E27FC236}">
                <a16:creationId xmlns:a16="http://schemas.microsoft.com/office/drawing/2014/main" id="{38E23A4F-1833-4AEE-95A4-DF9B61E4DB83}"/>
              </a:ext>
            </a:extLst>
          </p:cNvPr>
          <p:cNvSpPr>
            <a:spLocks xmlns:a="http://schemas.openxmlformats.org/drawingml/2006/main" noGrp="1"/>
          </p:cNvSpPr>
          <p:nvPr/>
        </p:nvSpPr>
        <p:spPr>
          <a:xfrm xmlns:a="http://schemas.openxmlformats.org/drawingml/2006/main">
            <a:off x="1676400" y="32289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Live virtual network</a:t>
            </a:r>
          </a:p>
        </p:txBody>
      </p:sp>
      <p:sp>
        <p:nvSpPr>
          <p:cNvPr id="16" name="Rectangle 15">
            <a:extLst xmlns:a="http://schemas.openxmlformats.org/drawingml/2006/main">
              <a:ext uri="{FF2B5EF4-FFF2-40B4-BE49-F238E27FC236}">
                <a16:creationId xmlns:a16="http://schemas.microsoft.com/office/drawing/2014/main" id="{98938835-B48B-4B23-9953-3BF889F5F997}"/>
              </a:ext>
            </a:extLst>
          </p:cNvPr>
          <p:cNvSpPr>
            <a:spLocks xmlns:a="http://schemas.openxmlformats.org/drawingml/2006/main" noGrp="1"/>
          </p:cNvSpPr>
          <p:nvPr/>
        </p:nvSpPr>
        <p:spPr>
          <a:xfrm xmlns:a="http://schemas.openxmlformats.org/drawingml/2006/main">
            <a:off x="4533900" y="32385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065A82"/>
                </a:solidFill>
                <a:latin typeface="Courier New"/>
                <a:ea typeface="Courier New"/>
                <a:cs typeface="Courier New"/>
              </a:defRPr>
            </a:pPr>
            <a:r>
              <a:rPr b="1">
                <a:solidFill>
                  <a:srgbClr val="065A82"/>
                </a:solidFill>
                <a:latin typeface="Courier New"/>
                <a:ea typeface="Courier New"/>
                <a:cs typeface="Courier New"/>
              </a:rPr>
              <a:t>docker compose exec -T sdn bash experiments/scenarios/s1_single_intent.sh</a:t>
            </a:r>
          </a:p>
        </p:txBody>
      </p:sp>
      <p:sp>
        <p:nvSpPr>
          <p:cNvPr id="17" name="Rectangle 16">
            <a:extLst xmlns:a="http://schemas.openxmlformats.org/drawingml/2006/main">
              <a:ext uri="{FF2B5EF4-FFF2-40B4-BE49-F238E27FC236}">
                <a16:creationId xmlns:a16="http://schemas.microsoft.com/office/drawing/2014/main" id="{AE0E684B-0513-446D-AE52-6F12282B56F6}"/>
              </a:ext>
            </a:extLst>
          </p:cNvPr>
          <p:cNvSpPr>
            <a:spLocks xmlns:a="http://schemas.openxmlformats.org/drawingml/2006/main" noGrp="1"/>
          </p:cNvSpPr>
          <p:nvPr/>
        </p:nvSpPr>
        <p:spPr>
          <a:xfrm xmlns:a="http://schemas.openxmlformats.org/drawingml/2006/main">
            <a:off x="4533900" y="35814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Ryu, Mininet, OVS, flow rules, queue and telemetry</a:t>
            </a:r>
          </a:p>
        </p:txBody>
      </p:sp>
      <p:sp>
        <p:nvSpPr>
          <p:cNvPr id="18" name="Rectangle: Rounded Corners 17">
            <a:extLst xmlns:a="http://schemas.openxmlformats.org/drawingml/2006/main">
              <a:ext uri="{FF2B5EF4-FFF2-40B4-BE49-F238E27FC236}">
                <a16:creationId xmlns:a16="http://schemas.microsoft.com/office/drawing/2014/main" id="{32FBD3C8-3BDE-4824-961A-4DF4E9C44F0A}"/>
              </a:ext>
            </a:extLst>
          </p:cNvPr>
          <p:cNvSpPr>
            <a:spLocks xmlns:a="http://schemas.openxmlformats.org/drawingml/2006/main" noGrp="1"/>
          </p:cNvSpPr>
          <p:nvPr/>
        </p:nvSpPr>
        <p:spPr>
          <a:xfrm xmlns:a="http://schemas.openxmlformats.org/drawingml/2006/main">
            <a:off x="666750" y="4324350"/>
            <a:ext cx="10668000" cy="1009650"/>
          </a:xfrm>
          <a:prstGeom xmlns:a="http://schemas.openxmlformats.org/drawingml/2006/main" prst="roundRect">
            <a:avLst>
              <a:gd name="adj" fmla="val 13208"/>
            </a:avLst>
          </a:prstGeom>
          <a:solidFill xmlns:a="http://schemas.openxmlformats.org/drawingml/2006/main">
            <a:srgbClr val="FBEDE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C79AD918-90B4-4F88-A742-DDDC9896D26A}"/>
              </a:ext>
            </a:extLst>
          </p:cNvPr>
          <p:cNvSpPr>
            <a:spLocks xmlns:a="http://schemas.openxmlformats.org/drawingml/2006/main" noGrp="1"/>
          </p:cNvSpPr>
          <p:nvPr/>
        </p:nvSpPr>
        <p:spPr>
          <a:xfrm xmlns:a="http://schemas.openxmlformats.org/drawingml/2006/main">
            <a:off x="857250" y="456247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b="1">
                <a:solidFill>
                  <a:srgbClr val="C1440E"/>
                </a:solidFill>
                <a:latin typeface="Calibri"/>
                <a:ea typeface="Calibri"/>
                <a:cs typeface="Calibri"/>
              </a:defRPr>
            </a:pPr>
            <a:r>
              <a:rPr b="1">
                <a:solidFill>
                  <a:srgbClr val="C1440E"/>
                </a:solidFill>
                <a:latin typeface="Calibri"/>
                <a:ea typeface="Calibri"/>
                <a:cs typeface="Calibri"/>
              </a:rPr>
              <a:t>3</a:t>
            </a:r>
          </a:p>
        </p:txBody>
      </p:sp>
      <p:sp>
        <p:nvSpPr>
          <p:cNvPr id="20" name="Rectangle 19">
            <a:extLst xmlns:a="http://schemas.openxmlformats.org/drawingml/2006/main">
              <a:ext uri="{FF2B5EF4-FFF2-40B4-BE49-F238E27FC236}">
                <a16:creationId xmlns:a16="http://schemas.microsoft.com/office/drawing/2014/main" id="{92E7E7C4-C36A-4245-A7FF-AE90ADF3CA3F}"/>
              </a:ext>
            </a:extLst>
          </p:cNvPr>
          <p:cNvSpPr>
            <a:spLocks xmlns:a="http://schemas.openxmlformats.org/drawingml/2006/main" noGrp="1"/>
          </p:cNvSpPr>
          <p:nvPr/>
        </p:nvSpPr>
        <p:spPr>
          <a:xfrm xmlns:a="http://schemas.openxmlformats.org/drawingml/2006/main">
            <a:off x="1676400" y="44862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889"/>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Persisted evidence</a:t>
            </a:r>
          </a:p>
        </p:txBody>
      </p:sp>
      <p:sp>
        <p:nvSpPr>
          <p:cNvPr id="21" name="Rectangle 20">
            <a:extLst xmlns:a="http://schemas.openxmlformats.org/drawingml/2006/main">
              <a:ext uri="{FF2B5EF4-FFF2-40B4-BE49-F238E27FC236}">
                <a16:creationId xmlns:a16="http://schemas.microsoft.com/office/drawing/2014/main" id="{B989D433-0685-4625-8A88-1BF3A6024007}"/>
              </a:ext>
            </a:extLst>
          </p:cNvPr>
          <p:cNvSpPr>
            <a:spLocks xmlns:a="http://schemas.openxmlformats.org/drawingml/2006/main" noGrp="1"/>
          </p:cNvSpPr>
          <p:nvPr/>
        </p:nvSpPr>
        <p:spPr>
          <a:xfrm xmlns:a="http://schemas.openxmlformats.org/drawingml/2006/main">
            <a:off x="4533900" y="44958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6944"/>
          </a:bodyPr>
          <a:lstStyle xmlns:a="http://schemas.openxmlformats.org/drawingml/2006/main"/>
          <a:p xmlns:a="http://schemas.openxmlformats.org/drawingml/2006/main">
            <a:pPr>
              <a:buNone/>
              <a:defRPr b="1">
                <a:solidFill>
                  <a:srgbClr val="C1440E"/>
                </a:solidFill>
                <a:latin typeface="Courier New"/>
                <a:ea typeface="Courier New"/>
                <a:cs typeface="Courier New"/>
              </a:defRPr>
            </a:pPr>
            <a:r>
              <a:rPr b="1">
                <a:solidFill>
                  <a:srgbClr val="C1440E"/>
                </a:solidFill>
                <a:latin typeface="Courier New"/>
                <a:ea typeface="Courier New"/>
                <a:cs typeface="Courier New"/>
              </a:rPr>
              <a:t>python -c "import sqlite3; ... query experiments/results/state.db"</a:t>
            </a:r>
          </a:p>
        </p:txBody>
      </p:sp>
      <p:sp>
        <p:nvSpPr>
          <p:cNvPr id="22" name="Rectangle 21">
            <a:extLst xmlns:a="http://schemas.openxmlformats.org/drawingml/2006/main">
              <a:ext uri="{FF2B5EF4-FFF2-40B4-BE49-F238E27FC236}">
                <a16:creationId xmlns:a16="http://schemas.microsoft.com/office/drawing/2014/main" id="{E543124D-7336-41D1-9A82-994AC0737D82}"/>
              </a:ext>
            </a:extLst>
          </p:cNvPr>
          <p:cNvSpPr>
            <a:spLocks xmlns:a="http://schemas.openxmlformats.org/drawingml/2006/main" noGrp="1"/>
          </p:cNvSpPr>
          <p:nvPr/>
        </p:nvSpPr>
        <p:spPr>
          <a:xfrm xmlns:a="http://schemas.openxmlformats.org/drawingml/2006/main">
            <a:off x="4533900" y="48387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833"/>
          </a:bodyPr>
          <a:lstStyle xmlns:a="http://schemas.openxmlformats.org/drawingml/2006/main"/>
          <a:p xmlns:a="http://schemas.openxmlformats.org/drawingml/2006/main">
            <a:pPr>
              <a:buNone/>
              <a:defRPr b="0">
                <a:solidFill>
                  <a:srgbClr val="172333"/>
                </a:solidFill>
                <a:latin typeface="Calibri"/>
                <a:ea typeface="Calibri"/>
                <a:cs typeface="Calibri"/>
              </a:defRPr>
            </a:pPr>
            <a:r>
              <a:rPr b="0">
                <a:solidFill>
                  <a:srgbClr val="172333"/>
                </a:solidFill>
                <a:latin typeface="Calibri"/>
                <a:ea typeface="Calibri"/>
                <a:cs typeface="Calibri"/>
              </a:rPr>
              <a:t>Measurements present; events absent</a:t>
            </a:r>
          </a:p>
        </p:txBody>
      </p:sp>
      <p:sp>
        <p:nvSpPr>
          <p:cNvPr id="23" name="Rectangle 22">
            <a:extLst xmlns:a="http://schemas.openxmlformats.org/drawingml/2006/main">
              <a:ext uri="{FF2B5EF4-FFF2-40B4-BE49-F238E27FC236}">
                <a16:creationId xmlns:a16="http://schemas.microsoft.com/office/drawing/2014/main" id="{6F5BC9DE-EB01-45CA-88C0-74826DD4AEE0}"/>
              </a:ext>
            </a:extLst>
          </p:cNvPr>
          <p:cNvSpPr>
            <a:spLocks xmlns:a="http://schemas.openxmlformats.org/drawingml/2006/main" noGrp="1"/>
          </p:cNvSpPr>
          <p:nvPr/>
        </p:nvSpPr>
        <p:spPr>
          <a:xfrm xmlns:a="http://schemas.openxmlformats.org/drawingml/2006/main">
            <a:off x="2000250" y="5791200"/>
            <a:ext cx="819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b="1">
                <a:solidFill>
                  <a:srgbClr val="21295C"/>
                </a:solidFill>
                <a:latin typeface="Calibri"/>
                <a:ea typeface="Calibri"/>
                <a:cs typeface="Calibri"/>
              </a:defRPr>
            </a:pPr>
            <a:r>
              <a:rPr b="1">
                <a:solidFill>
                  <a:srgbClr val="21295C"/>
                </a:solidFill>
                <a:latin typeface="Calibri"/>
                <a:ea typeface="Calibri"/>
                <a:cs typeface="Calibri"/>
              </a:rPr>
              <a:t>Public repository: github.com/platynom/intent-sdn-sla</a:t>
            </a:r>
          </a:p>
        </p:txBody>
      </p:sp>
    </p:spTree>
    <p:extLst>
      <p:ext uri="{BB962C8B-B14F-4D97-AF65-F5344CB8AC3E}">
        <p14:creationId xmlns:p14="http://schemas.microsoft.com/office/powerpoint/2010/main" val="1688507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2026-09-27T22:26:02.6770000Z</dcterms:created>
  <dcterms:modified xsi:type="dcterms:W3CDTF">2026-09-27T22:26:02.6770000Z</dcterms:modified>
</coreProperties>
</file>